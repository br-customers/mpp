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learn the die cast screen at the press. It keeps track of every basket we make. Part 1 is for everyone. Part 2 is for team leads.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 Honda supplier. They can ask us to trace one part back to the press, the die and the shift that made it. The old paper sheets did this job. The screen does it now. A basket with no ticket scanned is a gap we cannot fill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 real die and a real basket while you go through these. Most people know the things, not the words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you use most. Each row is one cavity of the die. Rows are grouped by the part they make. Orange words mean the cavity has no basket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 tells the screen who is working. It is not a password. Everything you do is saved under your name until someone else signs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Re-type is the big button on purpose. One wrong digit would make a second copy of you. Only register if you are new, or you were given a new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terminal can run more than one machine. The screen remembers the last machine used, so always check it. If the die is wrong, every basket goes against the wrong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tap, the row shows the ticket number, and a green line says Basket opened. Scanned the wrong ticket? Tap Clear to empty the boxes and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after a die change, when every cavity is empty. Scan every ticket first. Then open them all with one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count going in, or type the press counter number and the count fills in by itself. You never subtract anything. The screen does it. Did you swap the basket earlier? Use the number you wrote down then, not the number now. Cannot see Release basket? Scroll down inside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only when the press counter number is wrong. For example, the counter was set back to zero, or a wrong number was typed before. Type what the counter really shows. Then finish the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a ticket was opened by mistake and no parts went in. The ticket is scrapped and the cavity is free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at the end of your shift, before you hand over. It settles the numbers for your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shows the current shift and the two before it, so you can still enter a shift that just ended. Compute fills in the table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lost shot costs one part on every cavity. So type the number of shots. The screen multiplies by the cavities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starts from the press counter, minus scrap. Once you type your own number, it stays. Lines that count baskets type a number here. Lines that read the counter can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scrap button shows the total. The number in brackets is how many reasons you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Amber means shots, good and scrap do not add up. That is not an error. It just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reasons ask for a note. A short note, like found the cavity empty at 2:40, helps a lot later. Once you send it, the entry cannot be changed at the terminal. If you made a mistake, call your team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the counter was zeroed, or a wrong number went in earlier. Pieces already in the baskets do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stop needs a reason. The list shows the stops for this shift. Log them as soon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keep working under someone else's PIN. The screen saves every basket under the person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one slide and keep it at the press. It is the whole day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Operators can stay for this part, but these jobs need a team lead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sign-in covers the protected job you are doing. After five minutes it ends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screen shows the wrong die, every basket is saved against the wrong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steps, and when not to use it, are added with the screen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only reads numbers. It never changes anything. Good parts come from the shift entries operators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entry that was never sent is the one to catch. The numbers cannot be fixed at the terminal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Die Cast Terminal Training</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operators and team leads - September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WHY WE DO THIS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ticket follows the parts</a:t>
            </a:r>
            <a:endParaRPr lang="en-US" sz="3200" dirty="0"/>
          </a:p>
        </p:txBody>
      </p:sp>
      <p:sp>
        <p:nvSpPr>
          <p:cNvPr id="4" name="Shape 2"/>
          <p:cNvSpPr/>
          <p:nvPr/>
        </p:nvSpPr>
        <p:spPr>
          <a:xfrm>
            <a:off x="731520" y="1508760"/>
            <a:ext cx="548640" cy="548640"/>
          </a:xfrm>
          <a:prstGeom prst="ellipse">
            <a:avLst/>
          </a:prstGeom>
          <a:solidFill>
            <a:srgbClr val="FFB400"/>
          </a:solidFill>
          <a:ln w="9525">
            <a:solidFill>
              <a:srgbClr val="111111"/>
            </a:solidFill>
            <a:prstDash val="solid"/>
          </a:ln>
        </p:spPr>
      </p:sp>
      <p:sp>
        <p:nvSpPr>
          <p:cNvPr id="5" name="Text 3"/>
          <p:cNvSpPr txBox="1"/>
          <p:nvPr/>
        </p:nvSpPr>
        <p:spPr>
          <a:xfrm>
            <a:off x="731520" y="150876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554480" y="146304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Every basket gets a ticket with a barcode.</a:t>
            </a:r>
            <a:endParaRPr lang="en-US" sz="2400" dirty="0"/>
          </a:p>
        </p:txBody>
      </p:sp>
      <p:sp>
        <p:nvSpPr>
          <p:cNvPr id="7" name="Shape 5"/>
          <p:cNvSpPr/>
          <p:nvPr/>
        </p:nvSpPr>
        <p:spPr>
          <a:xfrm>
            <a:off x="731520" y="2971800"/>
            <a:ext cx="548640" cy="548640"/>
          </a:xfrm>
          <a:prstGeom prst="ellipse">
            <a:avLst/>
          </a:prstGeom>
          <a:solidFill>
            <a:srgbClr val="FFB400"/>
          </a:solidFill>
          <a:ln w="9525">
            <a:solidFill>
              <a:srgbClr val="111111"/>
            </a:solidFill>
            <a:prstDash val="solid"/>
          </a:ln>
        </p:spPr>
      </p:sp>
      <p:sp>
        <p:nvSpPr>
          <p:cNvPr id="8" name="Text 6"/>
          <p:cNvSpPr txBox="1"/>
          <p:nvPr/>
        </p:nvSpPr>
        <p:spPr>
          <a:xfrm>
            <a:off x="731520" y="297180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554480" y="292608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You scan that ticket into the screen when the basket starts.</a:t>
            </a:r>
            <a:endParaRPr lang="en-US" sz="2400" dirty="0"/>
          </a:p>
        </p:txBody>
      </p:sp>
      <p:sp>
        <p:nvSpPr>
          <p:cNvPr id="10" name="Shape 8"/>
          <p:cNvSpPr/>
          <p:nvPr/>
        </p:nvSpPr>
        <p:spPr>
          <a:xfrm>
            <a:off x="731520" y="4434840"/>
            <a:ext cx="548640" cy="548640"/>
          </a:xfrm>
          <a:prstGeom prst="ellipse">
            <a:avLst/>
          </a:prstGeom>
          <a:solidFill>
            <a:srgbClr val="FFB400"/>
          </a:solidFill>
          <a:ln w="9525">
            <a:solidFill>
              <a:srgbClr val="111111"/>
            </a:solidFill>
            <a:prstDash val="solid"/>
          </a:ln>
        </p:spPr>
      </p:sp>
      <p:sp>
        <p:nvSpPr>
          <p:cNvPr id="11" name="Text 9"/>
          <p:cNvSpPr txBox="1"/>
          <p:nvPr/>
        </p:nvSpPr>
        <p:spPr>
          <a:xfrm>
            <a:off x="731520" y="443484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554480" y="438912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Honda can ask where one part came from. The ticket is how we answer.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Words you will see</a:t>
            </a:r>
            <a:endParaRPr lang="en-US" sz="3200" dirty="0"/>
          </a:p>
        </p:txBody>
      </p:sp>
      <p:sp>
        <p:nvSpPr>
          <p:cNvPr id="4" name="Shape 2"/>
          <p:cNvSpPr/>
          <p:nvPr/>
        </p:nvSpPr>
        <p:spPr>
          <a:xfrm>
            <a:off x="411480" y="1280160"/>
            <a:ext cx="5486400" cy="1051560"/>
          </a:xfrm>
          <a:prstGeom prst="roundRect">
            <a:avLst>
              <a:gd name="adj" fmla="val 6957"/>
            </a:avLst>
          </a:prstGeom>
          <a:solidFill>
            <a:srgbClr val="EEF2F7"/>
          </a:solidFill>
          <a:ln w="12700">
            <a:solidFill>
              <a:srgbClr val="EEF2F7"/>
            </a:solidFill>
            <a:prstDash val="solid"/>
          </a:ln>
        </p:spPr>
      </p:sp>
      <p:sp>
        <p:nvSpPr>
          <p:cNvPr id="5" name="Text 3"/>
          <p:cNvSpPr txBox="1"/>
          <p:nvPr/>
        </p:nvSpPr>
        <p:spPr>
          <a:xfrm>
            <a:off x="64008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Die</a:t>
            </a:r>
            <a:endParaRPr lang="en-US" sz="2000" dirty="0"/>
          </a:p>
        </p:txBody>
      </p:sp>
      <p:sp>
        <p:nvSpPr>
          <p:cNvPr id="6" name="Text 4"/>
          <p:cNvSpPr txBox="1"/>
          <p:nvPr/>
        </p:nvSpPr>
        <p:spPr>
          <a:xfrm>
            <a:off x="64008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mold in the press.</a:t>
            </a:r>
            <a:endParaRPr lang="en-US" sz="1600" dirty="0"/>
          </a:p>
        </p:txBody>
      </p:sp>
      <p:sp>
        <p:nvSpPr>
          <p:cNvPr id="7" name="Shape 5"/>
          <p:cNvSpPr/>
          <p:nvPr/>
        </p:nvSpPr>
        <p:spPr>
          <a:xfrm>
            <a:off x="411480" y="2514600"/>
            <a:ext cx="5486400" cy="1051560"/>
          </a:xfrm>
          <a:prstGeom prst="roundRect">
            <a:avLst>
              <a:gd name="adj" fmla="val 6957"/>
            </a:avLst>
          </a:prstGeom>
          <a:solidFill>
            <a:srgbClr val="EEF2F7"/>
          </a:solidFill>
          <a:ln w="12700">
            <a:solidFill>
              <a:srgbClr val="EEF2F7"/>
            </a:solidFill>
            <a:prstDash val="solid"/>
          </a:ln>
        </p:spPr>
      </p:sp>
      <p:sp>
        <p:nvSpPr>
          <p:cNvPr id="8" name="Text 6"/>
          <p:cNvSpPr txBox="1"/>
          <p:nvPr/>
        </p:nvSpPr>
        <p:spPr>
          <a:xfrm>
            <a:off x="64008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Cavity</a:t>
            </a:r>
            <a:endParaRPr lang="en-US" sz="2000" dirty="0"/>
          </a:p>
        </p:txBody>
      </p:sp>
      <p:sp>
        <p:nvSpPr>
          <p:cNvPr id="9" name="Text 7"/>
          <p:cNvSpPr txBox="1"/>
          <p:nvPr/>
        </p:nvSpPr>
        <p:spPr>
          <a:xfrm>
            <a:off x="64008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One spot in the die. Each one makes a part.</a:t>
            </a:r>
            <a:endParaRPr lang="en-US" sz="1600" dirty="0"/>
          </a:p>
        </p:txBody>
      </p:sp>
      <p:sp>
        <p:nvSpPr>
          <p:cNvPr id="10" name="Shape 8"/>
          <p:cNvSpPr/>
          <p:nvPr/>
        </p:nvSpPr>
        <p:spPr>
          <a:xfrm>
            <a:off x="411480" y="3749040"/>
            <a:ext cx="5486400" cy="1051560"/>
          </a:xfrm>
          <a:prstGeom prst="roundRect">
            <a:avLst>
              <a:gd name="adj" fmla="val 6957"/>
            </a:avLst>
          </a:prstGeom>
          <a:solidFill>
            <a:srgbClr val="EEF2F7"/>
          </a:solidFill>
          <a:ln w="12700">
            <a:solidFill>
              <a:srgbClr val="EEF2F7"/>
            </a:solidFill>
            <a:prstDash val="solid"/>
          </a:ln>
        </p:spPr>
      </p:sp>
      <p:sp>
        <p:nvSpPr>
          <p:cNvPr id="11" name="Text 9"/>
          <p:cNvSpPr txBox="1"/>
          <p:nvPr/>
        </p:nvSpPr>
        <p:spPr>
          <a:xfrm>
            <a:off x="64008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Basket</a:t>
            </a:r>
            <a:endParaRPr lang="en-US" sz="2000" dirty="0"/>
          </a:p>
        </p:txBody>
      </p:sp>
      <p:sp>
        <p:nvSpPr>
          <p:cNvPr id="12" name="Text 10"/>
          <p:cNvSpPr txBox="1"/>
          <p:nvPr/>
        </p:nvSpPr>
        <p:spPr>
          <a:xfrm>
            <a:off x="64008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bin the parts drop into.</a:t>
            </a:r>
            <a:endParaRPr lang="en-US" sz="1600" dirty="0"/>
          </a:p>
        </p:txBody>
      </p:sp>
      <p:sp>
        <p:nvSpPr>
          <p:cNvPr id="13" name="Shape 11"/>
          <p:cNvSpPr/>
          <p:nvPr/>
        </p:nvSpPr>
        <p:spPr>
          <a:xfrm>
            <a:off x="411480" y="4983480"/>
            <a:ext cx="5486400" cy="1051560"/>
          </a:xfrm>
          <a:prstGeom prst="roundRect">
            <a:avLst>
              <a:gd name="adj" fmla="val 6957"/>
            </a:avLst>
          </a:prstGeom>
          <a:solidFill>
            <a:srgbClr val="EEF2F7"/>
          </a:solidFill>
          <a:ln w="12700">
            <a:solidFill>
              <a:srgbClr val="EEF2F7"/>
            </a:solidFill>
            <a:prstDash val="solid"/>
          </a:ln>
        </p:spPr>
      </p:sp>
      <p:sp>
        <p:nvSpPr>
          <p:cNvPr id="14" name="Text 12"/>
          <p:cNvSpPr txBox="1"/>
          <p:nvPr/>
        </p:nvSpPr>
        <p:spPr>
          <a:xfrm>
            <a:off x="64008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Ticket (LTT)</a:t>
            </a:r>
            <a:endParaRPr lang="en-US" sz="2000" dirty="0"/>
          </a:p>
        </p:txBody>
      </p:sp>
      <p:sp>
        <p:nvSpPr>
          <p:cNvPr id="15" name="Text 13"/>
          <p:cNvSpPr txBox="1"/>
          <p:nvPr/>
        </p:nvSpPr>
        <p:spPr>
          <a:xfrm>
            <a:off x="64008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barcode tag on the basket.</a:t>
            </a:r>
            <a:endParaRPr lang="en-US" sz="1600" dirty="0"/>
          </a:p>
        </p:txBody>
      </p:sp>
      <p:sp>
        <p:nvSpPr>
          <p:cNvPr id="16" name="Shape 14"/>
          <p:cNvSpPr/>
          <p:nvPr/>
        </p:nvSpPr>
        <p:spPr>
          <a:xfrm>
            <a:off x="6172200" y="1280160"/>
            <a:ext cx="5486400" cy="1051560"/>
          </a:xfrm>
          <a:prstGeom prst="roundRect">
            <a:avLst>
              <a:gd name="adj" fmla="val 6957"/>
            </a:avLst>
          </a:prstGeom>
          <a:solidFill>
            <a:srgbClr val="EEF2F7"/>
          </a:solidFill>
          <a:ln w="12700">
            <a:solidFill>
              <a:srgbClr val="EEF2F7"/>
            </a:solidFill>
            <a:prstDash val="solid"/>
          </a:ln>
        </p:spPr>
      </p:sp>
      <p:sp>
        <p:nvSpPr>
          <p:cNvPr id="17" name="Text 15"/>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Press counter</a:t>
            </a:r>
            <a:endParaRPr lang="en-US" sz="2000" dirty="0"/>
          </a:p>
        </p:txBody>
      </p:sp>
      <p:sp>
        <p:nvSpPr>
          <p:cNvPr id="18" name="Text 16"/>
          <p:cNvSpPr txBox="1"/>
          <p:nvPr/>
        </p:nvSpPr>
        <p:spPr>
          <a:xfrm>
            <a:off x="640080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shot number on the press.</a:t>
            </a:r>
            <a:endParaRPr lang="en-US" sz="1600" dirty="0"/>
          </a:p>
        </p:txBody>
      </p:sp>
      <p:sp>
        <p:nvSpPr>
          <p:cNvPr id="19" name="Shape 17"/>
          <p:cNvSpPr/>
          <p:nvPr/>
        </p:nvSpPr>
        <p:spPr>
          <a:xfrm>
            <a:off x="6172200" y="2514600"/>
            <a:ext cx="5486400" cy="1051560"/>
          </a:xfrm>
          <a:prstGeom prst="roundRect">
            <a:avLst>
              <a:gd name="adj" fmla="val 6957"/>
            </a:avLst>
          </a:prstGeom>
          <a:solidFill>
            <a:srgbClr val="EEF2F7"/>
          </a:solidFill>
          <a:ln w="12700">
            <a:solidFill>
              <a:srgbClr val="EEF2F7"/>
            </a:solidFill>
            <a:prstDash val="solid"/>
          </a:ln>
        </p:spPr>
      </p:sp>
      <p:sp>
        <p:nvSpPr>
          <p:cNvPr id="20" name="Text 18"/>
          <p:cNvSpPr txBox="1"/>
          <p:nvPr/>
        </p:nvSpPr>
        <p:spPr>
          <a:xfrm>
            <a:off x="640080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Shift</a:t>
            </a:r>
            <a:endParaRPr lang="en-US" sz="2000" dirty="0"/>
          </a:p>
        </p:txBody>
      </p:sp>
      <p:sp>
        <p:nvSpPr>
          <p:cNvPr id="21" name="Text 19"/>
          <p:cNvSpPr txBox="1"/>
          <p:nvPr/>
        </p:nvSpPr>
        <p:spPr>
          <a:xfrm>
            <a:off x="640080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Your work time, such as Second Shift.</a:t>
            </a:r>
            <a:endParaRPr lang="en-US" sz="1600" dirty="0"/>
          </a:p>
        </p:txBody>
      </p:sp>
      <p:sp>
        <p:nvSpPr>
          <p:cNvPr id="22" name="Shape 20"/>
          <p:cNvSpPr/>
          <p:nvPr/>
        </p:nvSpPr>
        <p:spPr>
          <a:xfrm>
            <a:off x="6172200" y="3749040"/>
            <a:ext cx="5486400" cy="1051560"/>
          </a:xfrm>
          <a:prstGeom prst="roundRect">
            <a:avLst>
              <a:gd name="adj" fmla="val 6957"/>
            </a:avLst>
          </a:prstGeom>
          <a:solidFill>
            <a:srgbClr val="EEF2F7"/>
          </a:solidFill>
          <a:ln w="12700">
            <a:solidFill>
              <a:srgbClr val="EEF2F7"/>
            </a:solidFill>
            <a:prstDash val="solid"/>
          </a:ln>
        </p:spPr>
      </p:sp>
      <p:sp>
        <p:nvSpPr>
          <p:cNvPr id="23" name="Text 21"/>
          <p:cNvSpPr txBox="1"/>
          <p:nvPr/>
        </p:nvSpPr>
        <p:spPr>
          <a:xfrm>
            <a:off x="640080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Scrap</a:t>
            </a:r>
            <a:endParaRPr lang="en-US" sz="2000" dirty="0"/>
          </a:p>
        </p:txBody>
      </p:sp>
      <p:sp>
        <p:nvSpPr>
          <p:cNvPr id="24" name="Text 22"/>
          <p:cNvSpPr txBox="1"/>
          <p:nvPr/>
        </p:nvSpPr>
        <p:spPr>
          <a:xfrm>
            <a:off x="640080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Parts we cannot use.</a:t>
            </a:r>
            <a:endParaRPr lang="en-US" sz="1600" dirty="0"/>
          </a:p>
        </p:txBody>
      </p:sp>
      <p:sp>
        <p:nvSpPr>
          <p:cNvPr id="25" name="Shape 23"/>
          <p:cNvSpPr/>
          <p:nvPr/>
        </p:nvSpPr>
        <p:spPr>
          <a:xfrm>
            <a:off x="6172200" y="4983480"/>
            <a:ext cx="5486400" cy="1051560"/>
          </a:xfrm>
          <a:prstGeom prst="roundRect">
            <a:avLst>
              <a:gd name="adj" fmla="val 6957"/>
            </a:avLst>
          </a:prstGeom>
          <a:solidFill>
            <a:srgbClr val="EEF2F7"/>
          </a:solidFill>
          <a:ln w="12700">
            <a:solidFill>
              <a:srgbClr val="EEF2F7"/>
            </a:solidFill>
            <a:prstDash val="solid"/>
          </a:ln>
        </p:spPr>
      </p:sp>
      <p:sp>
        <p:nvSpPr>
          <p:cNvPr id="26" name="Text 24"/>
          <p:cNvSpPr txBox="1"/>
          <p:nvPr/>
        </p:nvSpPr>
        <p:spPr>
          <a:xfrm>
            <a:off x="640080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Reconcile</a:t>
            </a:r>
            <a:endParaRPr lang="en-US" sz="2000" dirty="0"/>
          </a:p>
        </p:txBody>
      </p:sp>
      <p:sp>
        <p:nvSpPr>
          <p:cNvPr id="27" name="Text 25"/>
          <p:cNvSpPr txBox="1"/>
          <p:nvPr/>
        </p:nvSpPr>
        <p:spPr>
          <a:xfrm>
            <a:off x="640080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Settle up the numbers at the end of the shift.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Lot Management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830275" y="1211580"/>
            <a:ext cx="7299655" cy="280721"/>
          </a:xfrm>
          <a:prstGeom prst="rect">
            <a:avLst/>
          </a:prstGeom>
          <a:ln w="31750">
            <a:solidFill>
              <a:srgbClr val="000000">
                <a:alpha val="55000"/>
              </a:srgbClr>
            </a:solidFill>
            <a:prstDash val="solid"/>
          </a:ln>
        </p:spPr>
      </p:sp>
      <p:sp>
        <p:nvSpPr>
          <p:cNvPr id="6" name="Shape 3"/>
          <p:cNvSpPr/>
          <p:nvPr/>
        </p:nvSpPr>
        <p:spPr>
          <a:xfrm>
            <a:off x="839419" y="1220724"/>
            <a:ext cx="7281367" cy="262433"/>
          </a:xfrm>
          <a:prstGeom prst="rect">
            <a:avLst/>
          </a:prstGeom>
          <a:ln w="19050">
            <a:solidFill>
              <a:srgbClr val="2E86DE"/>
            </a:solidFill>
            <a:prstDash val="solid"/>
          </a:ln>
        </p:spPr>
      </p:sp>
      <p:sp>
        <p:nvSpPr>
          <p:cNvPr id="7" name="Shape 4"/>
          <p:cNvSpPr/>
          <p:nvPr/>
        </p:nvSpPr>
        <p:spPr>
          <a:xfrm>
            <a:off x="2553919" y="1634033"/>
            <a:ext cx="1505102" cy="213055"/>
          </a:xfrm>
          <a:prstGeom prst="rect">
            <a:avLst/>
          </a:prstGeom>
          <a:ln w="31750">
            <a:solidFill>
              <a:srgbClr val="000000">
                <a:alpha val="55000"/>
              </a:srgbClr>
            </a:solidFill>
            <a:prstDash val="solid"/>
          </a:ln>
        </p:spPr>
      </p:sp>
      <p:sp>
        <p:nvSpPr>
          <p:cNvPr id="8" name="Shape 5"/>
          <p:cNvSpPr/>
          <p:nvPr/>
        </p:nvSpPr>
        <p:spPr>
          <a:xfrm>
            <a:off x="2563063" y="1643177"/>
            <a:ext cx="1486814" cy="194767"/>
          </a:xfrm>
          <a:prstGeom prst="rect">
            <a:avLst/>
          </a:prstGeom>
          <a:ln w="19050">
            <a:solidFill>
              <a:srgbClr val="E67E22"/>
            </a:solidFill>
            <a:prstDash val="solid"/>
          </a:ln>
        </p:spPr>
      </p:sp>
      <p:sp>
        <p:nvSpPr>
          <p:cNvPr id="9" name="Shape 6"/>
          <p:cNvSpPr/>
          <p:nvPr/>
        </p:nvSpPr>
        <p:spPr>
          <a:xfrm>
            <a:off x="427025" y="1858061"/>
            <a:ext cx="2087575" cy="217627"/>
          </a:xfrm>
          <a:prstGeom prst="rect">
            <a:avLst/>
          </a:prstGeom>
          <a:ln w="31750">
            <a:solidFill>
              <a:srgbClr val="000000">
                <a:alpha val="55000"/>
              </a:srgbClr>
            </a:solidFill>
            <a:prstDash val="solid"/>
          </a:ln>
        </p:spPr>
      </p:sp>
      <p:sp>
        <p:nvSpPr>
          <p:cNvPr id="10" name="Shape 7"/>
          <p:cNvSpPr/>
          <p:nvPr/>
        </p:nvSpPr>
        <p:spPr>
          <a:xfrm>
            <a:off x="436169" y="1867205"/>
            <a:ext cx="2069287" cy="199339"/>
          </a:xfrm>
          <a:prstGeom prst="rect">
            <a:avLst/>
          </a:prstGeom>
          <a:ln w="19050">
            <a:solidFill>
              <a:srgbClr val="8E44AD"/>
            </a:solidFill>
            <a:prstDash val="solid"/>
          </a:ln>
        </p:spPr>
      </p:sp>
      <p:sp>
        <p:nvSpPr>
          <p:cNvPr id="11" name="Shape 8"/>
          <p:cNvSpPr/>
          <p:nvPr/>
        </p:nvSpPr>
        <p:spPr>
          <a:xfrm>
            <a:off x="543154" y="2144268"/>
            <a:ext cx="7509053" cy="213055"/>
          </a:xfrm>
          <a:prstGeom prst="rect">
            <a:avLst/>
          </a:prstGeom>
          <a:ln w="31750">
            <a:solidFill>
              <a:srgbClr val="000000">
                <a:alpha val="55000"/>
              </a:srgbClr>
            </a:solidFill>
            <a:prstDash val="solid"/>
          </a:ln>
        </p:spPr>
      </p:sp>
      <p:sp>
        <p:nvSpPr>
          <p:cNvPr id="12" name="Shape 9"/>
          <p:cNvSpPr/>
          <p:nvPr/>
        </p:nvSpPr>
        <p:spPr>
          <a:xfrm>
            <a:off x="552298" y="2153412"/>
            <a:ext cx="7490765" cy="194767"/>
          </a:xfrm>
          <a:prstGeom prst="rect">
            <a:avLst/>
          </a:prstGeom>
          <a:ln w="19050">
            <a:solidFill>
              <a:srgbClr val="16A085"/>
            </a:solidFill>
            <a:prstDash val="solid"/>
          </a:ln>
        </p:spPr>
      </p:sp>
      <p:sp>
        <p:nvSpPr>
          <p:cNvPr id="13" name="Shape 10"/>
          <p:cNvSpPr/>
          <p:nvPr/>
        </p:nvSpPr>
        <p:spPr>
          <a:xfrm>
            <a:off x="543154" y="2557577"/>
            <a:ext cx="7460590" cy="2904134"/>
          </a:xfrm>
          <a:prstGeom prst="rect">
            <a:avLst/>
          </a:prstGeom>
          <a:ln w="31750">
            <a:solidFill>
              <a:srgbClr val="000000">
                <a:alpha val="55000"/>
              </a:srgbClr>
            </a:solidFill>
            <a:prstDash val="solid"/>
          </a:ln>
        </p:spPr>
      </p:sp>
      <p:sp>
        <p:nvSpPr>
          <p:cNvPr id="14" name="Shape 11"/>
          <p:cNvSpPr/>
          <p:nvPr/>
        </p:nvSpPr>
        <p:spPr>
          <a:xfrm>
            <a:off x="552298" y="2566721"/>
            <a:ext cx="7442302" cy="2885846"/>
          </a:xfrm>
          <a:prstGeom prst="rect">
            <a:avLst/>
          </a:prstGeom>
          <a:ln w="19050">
            <a:solidFill>
              <a:srgbClr val="C0392B"/>
            </a:solidFill>
            <a:prstDash val="solid"/>
          </a:ln>
        </p:spPr>
      </p:sp>
      <p:sp>
        <p:nvSpPr>
          <p:cNvPr id="15" name="Shape 12"/>
          <p:cNvSpPr/>
          <p:nvPr/>
        </p:nvSpPr>
        <p:spPr>
          <a:xfrm>
            <a:off x="543154" y="5550408"/>
            <a:ext cx="3224174" cy="319126"/>
          </a:xfrm>
          <a:prstGeom prst="rect">
            <a:avLst/>
          </a:prstGeom>
          <a:ln w="31750">
            <a:solidFill>
              <a:srgbClr val="000000">
                <a:alpha val="55000"/>
              </a:srgbClr>
            </a:solidFill>
            <a:prstDash val="solid"/>
          </a:ln>
        </p:spPr>
      </p:sp>
      <p:sp>
        <p:nvSpPr>
          <p:cNvPr id="16" name="Shape 13"/>
          <p:cNvSpPr/>
          <p:nvPr/>
        </p:nvSpPr>
        <p:spPr>
          <a:xfrm>
            <a:off x="552298" y="5559552"/>
            <a:ext cx="3205886" cy="300838"/>
          </a:xfrm>
          <a:prstGeom prst="rect">
            <a:avLst/>
          </a:prstGeom>
          <a:ln w="19050">
            <a:solidFill>
              <a:srgbClr val="B7950B"/>
            </a:solidFill>
            <a:prstDash val="solid"/>
          </a:ln>
        </p:spPr>
      </p:sp>
      <p:sp>
        <p:nvSpPr>
          <p:cNvPr id="17" name="Shape 14"/>
          <p:cNvSpPr/>
          <p:nvPr/>
        </p:nvSpPr>
        <p:spPr>
          <a:xfrm>
            <a:off x="555955" y="1233068"/>
            <a:ext cx="237744" cy="237744"/>
          </a:xfrm>
          <a:prstGeom prst="roundRect">
            <a:avLst>
              <a:gd name="adj" fmla="val 15385"/>
            </a:avLst>
          </a:prstGeom>
          <a:solidFill>
            <a:srgbClr val="2E86DE"/>
          </a:solidFill>
          <a:ln w="9525">
            <a:solidFill>
              <a:srgbClr val="FFFFFF"/>
            </a:solidFill>
            <a:prstDash val="solid"/>
          </a:ln>
        </p:spPr>
      </p:sp>
      <p:sp>
        <p:nvSpPr>
          <p:cNvPr id="18" name="Text 15"/>
          <p:cNvSpPr txBox="1"/>
          <p:nvPr/>
        </p:nvSpPr>
        <p:spPr>
          <a:xfrm>
            <a:off x="555955" y="123306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9" name="Shape 16"/>
          <p:cNvSpPr/>
          <p:nvPr/>
        </p:nvSpPr>
        <p:spPr>
          <a:xfrm>
            <a:off x="2279599" y="1621688"/>
            <a:ext cx="237744" cy="237744"/>
          </a:xfrm>
          <a:prstGeom prst="roundRect">
            <a:avLst>
              <a:gd name="adj" fmla="val 15385"/>
            </a:avLst>
          </a:prstGeom>
          <a:solidFill>
            <a:srgbClr val="E67E22"/>
          </a:solidFill>
          <a:ln w="9525">
            <a:solidFill>
              <a:srgbClr val="FFFFFF"/>
            </a:solidFill>
            <a:prstDash val="solid"/>
          </a:ln>
        </p:spPr>
      </p:sp>
      <p:sp>
        <p:nvSpPr>
          <p:cNvPr id="20" name="Text 17"/>
          <p:cNvSpPr txBox="1"/>
          <p:nvPr/>
        </p:nvSpPr>
        <p:spPr>
          <a:xfrm>
            <a:off x="2279599" y="162168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21" name="Shape 18"/>
          <p:cNvSpPr/>
          <p:nvPr/>
        </p:nvSpPr>
        <p:spPr>
          <a:xfrm>
            <a:off x="436169" y="1583741"/>
            <a:ext cx="237744" cy="237744"/>
          </a:xfrm>
          <a:prstGeom prst="roundRect">
            <a:avLst>
              <a:gd name="adj" fmla="val 15385"/>
            </a:avLst>
          </a:prstGeom>
          <a:solidFill>
            <a:srgbClr val="8E44AD"/>
          </a:solidFill>
          <a:ln w="9525">
            <a:solidFill>
              <a:srgbClr val="FFFFFF"/>
            </a:solidFill>
            <a:prstDash val="solid"/>
          </a:ln>
        </p:spPr>
      </p:sp>
      <p:sp>
        <p:nvSpPr>
          <p:cNvPr id="22" name="Text 19"/>
          <p:cNvSpPr txBox="1"/>
          <p:nvPr/>
        </p:nvSpPr>
        <p:spPr>
          <a:xfrm>
            <a:off x="436169" y="158374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23" name="Shape 20"/>
          <p:cNvSpPr/>
          <p:nvPr/>
        </p:nvSpPr>
        <p:spPr>
          <a:xfrm>
            <a:off x="7805318" y="1869948"/>
            <a:ext cx="237744" cy="237744"/>
          </a:xfrm>
          <a:prstGeom prst="roundRect">
            <a:avLst>
              <a:gd name="adj" fmla="val 15385"/>
            </a:avLst>
          </a:prstGeom>
          <a:solidFill>
            <a:srgbClr val="16A085"/>
          </a:solidFill>
          <a:ln w="9525">
            <a:solidFill>
              <a:srgbClr val="FFFFFF"/>
            </a:solidFill>
            <a:prstDash val="solid"/>
          </a:ln>
        </p:spPr>
      </p:sp>
      <p:sp>
        <p:nvSpPr>
          <p:cNvPr id="24" name="Text 21"/>
          <p:cNvSpPr txBox="1"/>
          <p:nvPr/>
        </p:nvSpPr>
        <p:spPr>
          <a:xfrm>
            <a:off x="7805318"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5" name="Shape 22"/>
          <p:cNvSpPr/>
          <p:nvPr/>
        </p:nvSpPr>
        <p:spPr>
          <a:xfrm>
            <a:off x="7756855" y="5498287"/>
            <a:ext cx="237744" cy="237744"/>
          </a:xfrm>
          <a:prstGeom prst="roundRect">
            <a:avLst>
              <a:gd name="adj" fmla="val 15385"/>
            </a:avLst>
          </a:prstGeom>
          <a:solidFill>
            <a:srgbClr val="C0392B"/>
          </a:solidFill>
          <a:ln w="9525">
            <a:solidFill>
              <a:srgbClr val="FFFFFF"/>
            </a:solidFill>
            <a:prstDash val="solid"/>
          </a:ln>
        </p:spPr>
      </p:sp>
      <p:sp>
        <p:nvSpPr>
          <p:cNvPr id="26" name="Text 23"/>
          <p:cNvSpPr txBox="1"/>
          <p:nvPr/>
        </p:nvSpPr>
        <p:spPr>
          <a:xfrm>
            <a:off x="7756855" y="5498287"/>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a:t>
            </a:r>
            <a:endParaRPr lang="en-US" sz="1100" dirty="0"/>
          </a:p>
        </p:txBody>
      </p:sp>
      <p:sp>
        <p:nvSpPr>
          <p:cNvPr id="27" name="Shape 24"/>
          <p:cNvSpPr/>
          <p:nvPr/>
        </p:nvSpPr>
        <p:spPr>
          <a:xfrm>
            <a:off x="268834" y="5591099"/>
            <a:ext cx="237744" cy="237744"/>
          </a:xfrm>
          <a:prstGeom prst="roundRect">
            <a:avLst>
              <a:gd name="adj" fmla="val 15385"/>
            </a:avLst>
          </a:prstGeom>
          <a:solidFill>
            <a:srgbClr val="B7950B"/>
          </a:solidFill>
          <a:ln w="9525">
            <a:solidFill>
              <a:srgbClr val="FFFFFF"/>
            </a:solidFill>
            <a:prstDash val="solid"/>
          </a:ln>
        </p:spPr>
      </p:sp>
      <p:sp>
        <p:nvSpPr>
          <p:cNvPr id="28" name="Text 25"/>
          <p:cNvSpPr txBox="1"/>
          <p:nvPr/>
        </p:nvSpPr>
        <p:spPr>
          <a:xfrm>
            <a:off x="268834" y="559109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a:t>
            </a:r>
            <a:endParaRPr lang="en-US" sz="1100" dirty="0"/>
          </a:p>
        </p:txBody>
      </p:sp>
      <p:sp>
        <p:nvSpPr>
          <p:cNvPr id="29" name="Shape 26"/>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30" name="Text 27"/>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31" name="Text 28"/>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Top bar: shift, who is signed in, </a:t>
            </a:r>
            <a:pPr indent="0" marL="0">
              <a:buNone/>
            </a:pPr>
            <a:r>
              <a:rPr lang="en-US" sz="1500" b="1" dirty="0">
                <a:solidFill>
                  <a:srgbClr val="12263F"/>
                </a:solidFill>
                <a:latin typeface="Calibri" pitchFamily="34" charset="0"/>
                <a:ea typeface="Calibri" pitchFamily="34" charset="-122"/>
                <a:cs typeface="Calibri" pitchFamily="34" charset="-120"/>
              </a:rPr>
              <a:t>Downtime</a:t>
            </a:r>
            <a:endParaRPr lang="en-US" sz="1500" dirty="0"/>
          </a:p>
        </p:txBody>
      </p:sp>
      <p:sp>
        <p:nvSpPr>
          <p:cNvPr id="32" name="Shape 29"/>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33" name="Text 30"/>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34" name="Text 31"/>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machine</a:t>
            </a:r>
            <a:endParaRPr lang="en-US" sz="1500" dirty="0"/>
          </a:p>
        </p:txBody>
      </p:sp>
      <p:sp>
        <p:nvSpPr>
          <p:cNvPr id="35" name="Shape 32"/>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36" name="Text 33"/>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37" name="Text 34"/>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two tabs</a:t>
            </a:r>
            <a:endParaRPr lang="en-US" sz="1500" dirty="0"/>
          </a:p>
        </p:txBody>
      </p:sp>
      <p:sp>
        <p:nvSpPr>
          <p:cNvPr id="38" name="Shape 35"/>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9" name="Text 36"/>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0" name="Text 37"/>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die in this machine</a:t>
            </a:r>
            <a:endParaRPr lang="en-US" sz="1500" dirty="0"/>
          </a:p>
        </p:txBody>
      </p:sp>
      <p:sp>
        <p:nvSpPr>
          <p:cNvPr id="41" name="Shape 38"/>
          <p:cNvSpPr/>
          <p:nvPr/>
        </p:nvSpPr>
        <p:spPr>
          <a:xfrm>
            <a:off x="8458200" y="3776472"/>
            <a:ext cx="310896" cy="310896"/>
          </a:xfrm>
          <a:prstGeom prst="roundRect">
            <a:avLst>
              <a:gd name="adj" fmla="val 14706"/>
            </a:avLst>
          </a:prstGeom>
          <a:solidFill>
            <a:srgbClr val="C0392B"/>
          </a:solidFill>
          <a:ln w="12700">
            <a:solidFill>
              <a:srgbClr val="C0392B"/>
            </a:solidFill>
            <a:prstDash val="solid"/>
          </a:ln>
        </p:spPr>
      </p:sp>
      <p:sp>
        <p:nvSpPr>
          <p:cNvPr id="42" name="Text 39"/>
          <p:cNvSpPr txBox="1"/>
          <p:nvPr/>
        </p:nvSpPr>
        <p:spPr>
          <a:xfrm>
            <a:off x="8458200" y="3776472"/>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3" name="Text 40"/>
          <p:cNvSpPr txBox="1"/>
          <p:nvPr/>
        </p:nvSpPr>
        <p:spPr>
          <a:xfrm>
            <a:off x="8915400" y="3749040"/>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One row for each cavity</a:t>
            </a:r>
            <a:endParaRPr lang="en-US" sz="1500" dirty="0"/>
          </a:p>
        </p:txBody>
      </p:sp>
      <p:sp>
        <p:nvSpPr>
          <p:cNvPr id="44" name="Shape 41"/>
          <p:cNvSpPr/>
          <p:nvPr/>
        </p:nvSpPr>
        <p:spPr>
          <a:xfrm>
            <a:off x="8458200" y="4434840"/>
            <a:ext cx="310896" cy="310896"/>
          </a:xfrm>
          <a:prstGeom prst="roundRect">
            <a:avLst>
              <a:gd name="adj" fmla="val 14706"/>
            </a:avLst>
          </a:prstGeom>
          <a:solidFill>
            <a:srgbClr val="B7950B"/>
          </a:solidFill>
          <a:ln w="12700">
            <a:solidFill>
              <a:srgbClr val="B7950B"/>
            </a:solidFill>
            <a:prstDash val="solid"/>
          </a:ln>
        </p:spPr>
      </p:sp>
      <p:sp>
        <p:nvSpPr>
          <p:cNvPr id="45" name="Text 42"/>
          <p:cNvSpPr txBox="1"/>
          <p:nvPr/>
        </p:nvSpPr>
        <p:spPr>
          <a:xfrm>
            <a:off x="8458200" y="443484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6" name="Text 43"/>
          <p:cNvSpPr txBox="1"/>
          <p:nvPr/>
        </p:nvSpPr>
        <p:spPr>
          <a:xfrm>
            <a:off x="8915400" y="440740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Open many baskets at once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Sign in with your PIN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616098" y="2675534"/>
            <a:ext cx="2040026" cy="317297"/>
          </a:xfrm>
          <a:prstGeom prst="rect">
            <a:avLst/>
          </a:prstGeom>
          <a:ln w="31750">
            <a:solidFill>
              <a:srgbClr val="000000">
                <a:alpha val="55000"/>
              </a:srgbClr>
            </a:solidFill>
            <a:prstDash val="solid"/>
          </a:ln>
        </p:spPr>
      </p:sp>
      <p:sp>
        <p:nvSpPr>
          <p:cNvPr id="14" name="Shape 11"/>
          <p:cNvSpPr/>
          <p:nvPr/>
        </p:nvSpPr>
        <p:spPr>
          <a:xfrm>
            <a:off x="2625242" y="2684678"/>
            <a:ext cx="2021738" cy="299009"/>
          </a:xfrm>
          <a:prstGeom prst="rect">
            <a:avLst/>
          </a:prstGeom>
          <a:ln w="19050">
            <a:solidFill>
              <a:srgbClr val="FFB400"/>
            </a:solidFill>
            <a:prstDash val="solid"/>
          </a:ln>
        </p:spPr>
      </p:sp>
      <p:sp>
        <p:nvSpPr>
          <p:cNvPr id="15" name="Shape 12"/>
          <p:cNvSpPr/>
          <p:nvPr/>
        </p:nvSpPr>
        <p:spPr>
          <a:xfrm>
            <a:off x="2478938" y="2538374"/>
            <a:ext cx="256032" cy="256032"/>
          </a:xfrm>
          <a:prstGeom prst="ellipse">
            <a:avLst/>
          </a:prstGeom>
          <a:solidFill>
            <a:srgbClr val="FFB400"/>
          </a:solidFill>
          <a:ln w="9525">
            <a:solidFill>
              <a:srgbClr val="111111"/>
            </a:solidFill>
            <a:prstDash val="solid"/>
          </a:ln>
        </p:spPr>
      </p:sp>
      <p:sp>
        <p:nvSpPr>
          <p:cNvPr id="16" name="Text 13"/>
          <p:cNvSpPr txBox="1"/>
          <p:nvPr/>
        </p:nvSpPr>
        <p:spPr>
          <a:xfrm>
            <a:off x="2478938" y="253837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No number pad? Tap your name here.</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five-digit PIN.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number shows here.</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Does your PIN start with 0? Type the 0. It counts.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PIN not recognized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11903" y="3655771"/>
            <a:ext cx="933602" cy="286207"/>
          </a:xfrm>
          <a:prstGeom prst="rect">
            <a:avLst/>
          </a:prstGeom>
          <a:ln w="31750">
            <a:solidFill>
              <a:srgbClr val="000000">
                <a:alpha val="55000"/>
              </a:srgbClr>
            </a:solidFill>
            <a:prstDash val="solid"/>
          </a:ln>
        </p:spPr>
      </p:sp>
      <p:sp>
        <p:nvSpPr>
          <p:cNvPr id="6" name="Shape 3"/>
          <p:cNvSpPr/>
          <p:nvPr/>
        </p:nvSpPr>
        <p:spPr>
          <a:xfrm>
            <a:off x="4721047" y="3664915"/>
            <a:ext cx="915314" cy="267919"/>
          </a:xfrm>
          <a:prstGeom prst="rect">
            <a:avLst/>
          </a:prstGeom>
          <a:ln w="19050">
            <a:solidFill>
              <a:srgbClr val="FFB400"/>
            </a:solidFill>
            <a:prstDash val="solid"/>
          </a:ln>
        </p:spPr>
      </p:sp>
      <p:sp>
        <p:nvSpPr>
          <p:cNvPr id="7" name="Shape 4"/>
          <p:cNvSpPr/>
          <p:nvPr/>
        </p:nvSpPr>
        <p:spPr>
          <a:xfrm>
            <a:off x="4574743" y="3518611"/>
            <a:ext cx="256032" cy="256032"/>
          </a:xfrm>
          <a:prstGeom prst="ellipse">
            <a:avLst/>
          </a:prstGeom>
          <a:solidFill>
            <a:srgbClr val="FFB400"/>
          </a:solidFill>
          <a:ln w="9525">
            <a:solidFill>
              <a:srgbClr val="111111"/>
            </a:solidFill>
            <a:prstDash val="solid"/>
          </a:ln>
        </p:spPr>
      </p:sp>
      <p:sp>
        <p:nvSpPr>
          <p:cNvPr id="8" name="Text 5"/>
          <p:cNvSpPr txBox="1"/>
          <p:nvPr/>
        </p:nvSpPr>
        <p:spPr>
          <a:xfrm>
            <a:off x="4574743"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941625" y="3655771"/>
            <a:ext cx="1409090" cy="286207"/>
          </a:xfrm>
          <a:prstGeom prst="rect">
            <a:avLst/>
          </a:prstGeom>
          <a:ln w="31750">
            <a:solidFill>
              <a:srgbClr val="000000">
                <a:alpha val="55000"/>
              </a:srgbClr>
            </a:solidFill>
            <a:prstDash val="solid"/>
          </a:ln>
        </p:spPr>
      </p:sp>
      <p:sp>
        <p:nvSpPr>
          <p:cNvPr id="10" name="Shape 7"/>
          <p:cNvSpPr/>
          <p:nvPr/>
        </p:nvSpPr>
        <p:spPr>
          <a:xfrm>
            <a:off x="2950769" y="3664915"/>
            <a:ext cx="1390802" cy="267919"/>
          </a:xfrm>
          <a:prstGeom prst="rect">
            <a:avLst/>
          </a:prstGeom>
          <a:ln w="19050">
            <a:solidFill>
              <a:srgbClr val="FFB400"/>
            </a:solidFill>
            <a:prstDash val="solid"/>
          </a:ln>
        </p:spPr>
      </p:sp>
      <p:sp>
        <p:nvSpPr>
          <p:cNvPr id="11" name="Shape 8"/>
          <p:cNvSpPr/>
          <p:nvPr/>
        </p:nvSpPr>
        <p:spPr>
          <a:xfrm>
            <a:off x="2804465" y="3518611"/>
            <a:ext cx="256032" cy="256032"/>
          </a:xfrm>
          <a:prstGeom prst="ellipse">
            <a:avLst/>
          </a:prstGeom>
          <a:solidFill>
            <a:srgbClr val="FFB400"/>
          </a:solidFill>
          <a:ln w="9525">
            <a:solidFill>
              <a:srgbClr val="111111"/>
            </a:solidFill>
            <a:prstDash val="solid"/>
          </a:ln>
        </p:spPr>
      </p:sp>
      <p:sp>
        <p:nvSpPr>
          <p:cNvPr id="12" name="Text 9"/>
          <p:cNvSpPr txBox="1"/>
          <p:nvPr/>
        </p:nvSpPr>
        <p:spPr>
          <a:xfrm>
            <a:off x="2804465"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Most of the time it is a typo. Tap </a:t>
            </a:r>
            <a:pPr indent="0" marL="0">
              <a:buNone/>
            </a:pPr>
            <a:r>
              <a:rPr lang="en-US" sz="1700" b="1" dirty="0">
                <a:solidFill>
                  <a:srgbClr val="12263F"/>
                </a:solidFill>
                <a:latin typeface="Calibri" pitchFamily="34" charset="0"/>
                <a:ea typeface="Calibri" pitchFamily="34" charset="-122"/>
                <a:cs typeface="Calibri" pitchFamily="34" charset="-120"/>
              </a:rPr>
              <a:t>Re-type PIN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New here? Tap </a:t>
            </a:r>
            <a:pPr indent="0" marL="0">
              <a:buNone/>
            </a:pPr>
            <a:r>
              <a:rPr lang="en-US" sz="1700" b="1" dirty="0">
                <a:solidFill>
                  <a:srgbClr val="12263F"/>
                </a:solidFill>
                <a:latin typeface="Calibri" pitchFamily="34" charset="0"/>
                <a:ea typeface="Calibri" pitchFamily="34" charset="-122"/>
                <a:cs typeface="Calibri" pitchFamily="34" charset="-120"/>
              </a:rPr>
              <a:t>Register New User</a:t>
            </a:r>
            <a:pPr indent="0" marL="0">
              <a:buNone/>
            </a:pPr>
            <a:r>
              <a:rPr lang="en-US" sz="1700" dirty="0">
                <a:solidFill>
                  <a:srgbClr val="1B1B1B"/>
                </a:solidFill>
                <a:latin typeface="Calibri" pitchFamily="34" charset="0"/>
                <a:ea typeface="Calibri" pitchFamily="34" charset="-122"/>
                <a:cs typeface="Calibri" pitchFamily="34" charset="-120"/>
              </a:rPr>
              <a:t>. Add your initials and name.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Pick your machine and check the die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2595982" y="2014423"/>
            <a:ext cx="2678278" cy="381305"/>
          </a:xfrm>
          <a:prstGeom prst="rect">
            <a:avLst/>
          </a:prstGeom>
          <a:ln w="31750">
            <a:solidFill>
              <a:srgbClr val="000000">
                <a:alpha val="55000"/>
              </a:srgbClr>
            </a:solidFill>
            <a:prstDash val="solid"/>
          </a:ln>
        </p:spPr>
      </p:sp>
      <p:sp>
        <p:nvSpPr>
          <p:cNvPr id="6" name="Shape 3"/>
          <p:cNvSpPr/>
          <p:nvPr/>
        </p:nvSpPr>
        <p:spPr>
          <a:xfrm>
            <a:off x="2605126" y="2023567"/>
            <a:ext cx="2659990" cy="363017"/>
          </a:xfrm>
          <a:prstGeom prst="rect">
            <a:avLst/>
          </a:prstGeom>
          <a:ln w="19050">
            <a:solidFill>
              <a:srgbClr val="FFB400"/>
            </a:solidFill>
            <a:prstDash val="solid"/>
          </a:ln>
        </p:spPr>
      </p:sp>
      <p:sp>
        <p:nvSpPr>
          <p:cNvPr id="7" name="Shape 4"/>
          <p:cNvSpPr/>
          <p:nvPr/>
        </p:nvSpPr>
        <p:spPr>
          <a:xfrm>
            <a:off x="2458822" y="1877263"/>
            <a:ext cx="256032" cy="256032"/>
          </a:xfrm>
          <a:prstGeom prst="ellipse">
            <a:avLst/>
          </a:prstGeom>
          <a:solidFill>
            <a:srgbClr val="FFB400"/>
          </a:solidFill>
          <a:ln w="9525">
            <a:solidFill>
              <a:srgbClr val="111111"/>
            </a:solidFill>
            <a:prstDash val="solid"/>
          </a:ln>
        </p:spPr>
      </p:sp>
      <p:sp>
        <p:nvSpPr>
          <p:cNvPr id="8" name="Text 5"/>
          <p:cNvSpPr txBox="1"/>
          <p:nvPr/>
        </p:nvSpPr>
        <p:spPr>
          <a:xfrm>
            <a:off x="2458822" y="187726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324551" y="2049170"/>
            <a:ext cx="674827" cy="311810"/>
          </a:xfrm>
          <a:prstGeom prst="rect">
            <a:avLst/>
          </a:prstGeom>
          <a:ln w="31750">
            <a:solidFill>
              <a:srgbClr val="000000">
                <a:alpha val="55000"/>
              </a:srgbClr>
            </a:solidFill>
            <a:prstDash val="solid"/>
          </a:ln>
        </p:spPr>
      </p:sp>
      <p:sp>
        <p:nvSpPr>
          <p:cNvPr id="10" name="Shape 7"/>
          <p:cNvSpPr/>
          <p:nvPr/>
        </p:nvSpPr>
        <p:spPr>
          <a:xfrm>
            <a:off x="5333695" y="2058314"/>
            <a:ext cx="656539" cy="293522"/>
          </a:xfrm>
          <a:prstGeom prst="rect">
            <a:avLst/>
          </a:prstGeom>
          <a:ln w="19050">
            <a:solidFill>
              <a:srgbClr val="FFB400"/>
            </a:solidFill>
            <a:prstDash val="solid"/>
          </a:ln>
        </p:spPr>
      </p:sp>
      <p:sp>
        <p:nvSpPr>
          <p:cNvPr id="11" name="Shape 8"/>
          <p:cNvSpPr/>
          <p:nvPr/>
        </p:nvSpPr>
        <p:spPr>
          <a:xfrm>
            <a:off x="5187391" y="1912010"/>
            <a:ext cx="256032" cy="256032"/>
          </a:xfrm>
          <a:prstGeom prst="ellipse">
            <a:avLst/>
          </a:prstGeom>
          <a:solidFill>
            <a:srgbClr val="FFB400"/>
          </a:solidFill>
          <a:ln w="9525">
            <a:solidFill>
              <a:srgbClr val="111111"/>
            </a:solidFill>
            <a:prstDash val="solid"/>
          </a:ln>
        </p:spPr>
      </p:sp>
      <p:sp>
        <p:nvSpPr>
          <p:cNvPr id="12" name="Text 9"/>
          <p:cNvSpPr txBox="1"/>
          <p:nvPr/>
        </p:nvSpPr>
        <p:spPr>
          <a:xfrm>
            <a:off x="5187391" y="191201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machine box. Pick your machine.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die name here. It must match the die in the press.</a:t>
            </a:r>
            <a:endParaRPr lang="en-US" sz="1700" dirty="0"/>
          </a:p>
        </p:txBody>
      </p:sp>
      <p:sp>
        <p:nvSpPr>
          <p:cNvPr id="19" name="Text 16"/>
          <p:cNvSpPr txBox="1"/>
          <p:nvPr/>
        </p:nvSpPr>
        <p:spPr>
          <a:xfrm>
            <a:off x="8458200" y="30632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Wrong die on the screen? Stop and call your team lead.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Open a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38582" y="2906878"/>
            <a:ext cx="7469734" cy="392278"/>
          </a:xfrm>
          <a:prstGeom prst="rect">
            <a:avLst/>
          </a:prstGeom>
          <a:ln w="31750">
            <a:solidFill>
              <a:srgbClr val="000000">
                <a:alpha val="55000"/>
              </a:srgbClr>
            </a:solidFill>
            <a:prstDash val="solid"/>
          </a:ln>
        </p:spPr>
      </p:sp>
      <p:sp>
        <p:nvSpPr>
          <p:cNvPr id="6" name="Shape 3"/>
          <p:cNvSpPr/>
          <p:nvPr/>
        </p:nvSpPr>
        <p:spPr>
          <a:xfrm>
            <a:off x="547726" y="2916022"/>
            <a:ext cx="7451446" cy="373990"/>
          </a:xfrm>
          <a:prstGeom prst="rect">
            <a:avLst/>
          </a:prstGeom>
          <a:ln w="19050">
            <a:solidFill>
              <a:srgbClr val="FFB400"/>
            </a:solidFill>
            <a:prstDash val="solid"/>
          </a:ln>
        </p:spPr>
      </p:sp>
      <p:sp>
        <p:nvSpPr>
          <p:cNvPr id="7" name="Shape 4"/>
          <p:cNvSpPr/>
          <p:nvPr/>
        </p:nvSpPr>
        <p:spPr>
          <a:xfrm>
            <a:off x="411480" y="2769718"/>
            <a:ext cx="256032" cy="256032"/>
          </a:xfrm>
          <a:prstGeom prst="ellipse">
            <a:avLst/>
          </a:prstGeom>
          <a:solidFill>
            <a:srgbClr val="FFB400"/>
          </a:solidFill>
          <a:ln w="9525">
            <a:solidFill>
              <a:srgbClr val="111111"/>
            </a:solidFill>
            <a:prstDash val="solid"/>
          </a:ln>
        </p:spPr>
      </p:sp>
      <p:sp>
        <p:nvSpPr>
          <p:cNvPr id="8" name="Text 5"/>
          <p:cNvSpPr txBox="1"/>
          <p:nvPr/>
        </p:nvSpPr>
        <p:spPr>
          <a:xfrm>
            <a:off x="411480" y="27697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740603" y="2994660"/>
            <a:ext cx="1028700" cy="222199"/>
          </a:xfrm>
          <a:prstGeom prst="rect">
            <a:avLst/>
          </a:prstGeom>
          <a:ln w="31750">
            <a:solidFill>
              <a:srgbClr val="000000">
                <a:alpha val="55000"/>
              </a:srgbClr>
            </a:solidFill>
            <a:prstDash val="solid"/>
          </a:ln>
        </p:spPr>
      </p:sp>
      <p:sp>
        <p:nvSpPr>
          <p:cNvPr id="10" name="Shape 7"/>
          <p:cNvSpPr/>
          <p:nvPr/>
        </p:nvSpPr>
        <p:spPr>
          <a:xfrm>
            <a:off x="5749747" y="3003804"/>
            <a:ext cx="1010412" cy="203911"/>
          </a:xfrm>
          <a:prstGeom prst="rect">
            <a:avLst/>
          </a:prstGeom>
          <a:ln w="19050">
            <a:solidFill>
              <a:srgbClr val="FFB400"/>
            </a:solidFill>
            <a:prstDash val="solid"/>
          </a:ln>
        </p:spPr>
      </p:sp>
      <p:sp>
        <p:nvSpPr>
          <p:cNvPr id="11" name="Shape 8"/>
          <p:cNvSpPr/>
          <p:nvPr/>
        </p:nvSpPr>
        <p:spPr>
          <a:xfrm>
            <a:off x="5603443" y="2857500"/>
            <a:ext cx="256032" cy="256032"/>
          </a:xfrm>
          <a:prstGeom prst="ellipse">
            <a:avLst/>
          </a:prstGeom>
          <a:solidFill>
            <a:srgbClr val="FFB400"/>
          </a:solidFill>
          <a:ln w="9525">
            <a:solidFill>
              <a:srgbClr val="111111"/>
            </a:solidFill>
            <a:prstDash val="solid"/>
          </a:ln>
        </p:spPr>
      </p:sp>
      <p:sp>
        <p:nvSpPr>
          <p:cNvPr id="12" name="Text 9"/>
          <p:cNvSpPr txBox="1"/>
          <p:nvPr/>
        </p:nvSpPr>
        <p:spPr>
          <a:xfrm>
            <a:off x="5603443" y="28575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38582" y="5544922"/>
            <a:ext cx="1150315" cy="329184"/>
          </a:xfrm>
          <a:prstGeom prst="rect">
            <a:avLst/>
          </a:prstGeom>
          <a:ln w="31750">
            <a:solidFill>
              <a:srgbClr val="000000">
                <a:alpha val="55000"/>
              </a:srgbClr>
            </a:solidFill>
            <a:prstDash val="solid"/>
          </a:ln>
        </p:spPr>
      </p:sp>
      <p:sp>
        <p:nvSpPr>
          <p:cNvPr id="14" name="Shape 11"/>
          <p:cNvSpPr/>
          <p:nvPr/>
        </p:nvSpPr>
        <p:spPr>
          <a:xfrm>
            <a:off x="547726" y="5554066"/>
            <a:ext cx="1132027" cy="310896"/>
          </a:xfrm>
          <a:prstGeom prst="rect">
            <a:avLst/>
          </a:prstGeom>
          <a:ln w="19050">
            <a:solidFill>
              <a:srgbClr val="FFB400"/>
            </a:solidFill>
            <a:prstDash val="solid"/>
          </a:ln>
        </p:spPr>
      </p:sp>
      <p:sp>
        <p:nvSpPr>
          <p:cNvPr id="15" name="Shape 12"/>
          <p:cNvSpPr/>
          <p:nvPr/>
        </p:nvSpPr>
        <p:spPr>
          <a:xfrm>
            <a:off x="411480" y="5407762"/>
            <a:ext cx="256032" cy="256032"/>
          </a:xfrm>
          <a:prstGeom prst="ellipse">
            <a:avLst/>
          </a:prstGeom>
          <a:solidFill>
            <a:srgbClr val="FFB400"/>
          </a:solidFill>
          <a:ln w="9525">
            <a:solidFill>
              <a:srgbClr val="111111"/>
            </a:solidFill>
            <a:prstDash val="solid"/>
          </a:ln>
        </p:spPr>
      </p:sp>
      <p:sp>
        <p:nvSpPr>
          <p:cNvPr id="16" name="Text 13"/>
          <p:cNvSpPr txBox="1"/>
          <p:nvPr/>
        </p:nvSpPr>
        <p:spPr>
          <a:xfrm>
            <a:off x="411480" y="540776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flipH="1">
            <a:off x="2733142" y="2540203"/>
            <a:ext cx="502920" cy="402336"/>
          </a:xfrm>
          <a:prstGeom prst="line">
            <a:avLst/>
          </a:prstGeom>
          <a:noFill/>
          <a:ln w="57150">
            <a:solidFill>
              <a:srgbClr val="000000">
                <a:alpha val="60000"/>
              </a:srgbClr>
            </a:solidFill>
            <a:prstDash val="solid"/>
          </a:ln>
        </p:spPr>
      </p:sp>
      <p:sp>
        <p:nvSpPr>
          <p:cNvPr id="18" name="Shape 15"/>
          <p:cNvSpPr/>
          <p:nvPr/>
        </p:nvSpPr>
        <p:spPr>
          <a:xfrm flipH="1">
            <a:off x="2733142" y="2540203"/>
            <a:ext cx="502920" cy="402336"/>
          </a:xfrm>
          <a:prstGeom prst="line">
            <a:avLst/>
          </a:prstGeom>
          <a:noFill/>
          <a:ln w="31750">
            <a:solidFill>
              <a:srgbClr val="FFB400"/>
            </a:solidFill>
            <a:prstDash val="solid"/>
            <a:tailEnd type="triangle"/>
          </a:ln>
        </p:spPr>
      </p:sp>
      <p:sp>
        <p:nvSpPr>
          <p:cNvPr id="19" name="Shape 16"/>
          <p:cNvSpPr/>
          <p:nvPr/>
        </p:nvSpPr>
        <p:spPr>
          <a:xfrm>
            <a:off x="8458200" y="1179576"/>
            <a:ext cx="310896" cy="310896"/>
          </a:xfrm>
          <a:prstGeom prst="ellipse">
            <a:avLst/>
          </a:prstGeom>
          <a:solidFill>
            <a:srgbClr val="FFB400"/>
          </a:solidFill>
          <a:ln w="9525">
            <a:solidFill>
              <a:srgbClr val="111111"/>
            </a:solidFill>
            <a:prstDash val="solid"/>
          </a:ln>
        </p:spPr>
      </p:sp>
      <p:sp>
        <p:nvSpPr>
          <p:cNvPr id="20" name="Text 17"/>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1" name="Text 18"/>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Find the cavity that says </a:t>
            </a:r>
            <a:pPr indent="0" marL="0">
              <a:buNone/>
            </a:pPr>
            <a:r>
              <a:rPr lang="en-US" sz="1700" b="1" dirty="0">
                <a:solidFill>
                  <a:srgbClr val="12263F"/>
                </a:solidFill>
                <a:latin typeface="Calibri" pitchFamily="34" charset="0"/>
                <a:ea typeface="Calibri" pitchFamily="34" charset="-122"/>
                <a:cs typeface="Calibri" pitchFamily="34" charset="-120"/>
              </a:rPr>
              <a:t>no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2" name="Shape 19"/>
          <p:cNvSpPr/>
          <p:nvPr/>
        </p:nvSpPr>
        <p:spPr>
          <a:xfrm>
            <a:off x="8458200" y="2093976"/>
            <a:ext cx="310896" cy="310896"/>
          </a:xfrm>
          <a:prstGeom prst="ellipse">
            <a:avLst/>
          </a:prstGeom>
          <a:solidFill>
            <a:srgbClr val="FFB400"/>
          </a:solidFill>
          <a:ln w="9525">
            <a:solidFill>
              <a:srgbClr val="111111"/>
            </a:solidFill>
            <a:prstDash val="solid"/>
          </a:ln>
        </p:spPr>
      </p:sp>
      <p:sp>
        <p:nvSpPr>
          <p:cNvPr id="23" name="Text 20"/>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4" name="Text 21"/>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Scan LTT</a:t>
            </a:r>
            <a:pPr indent="0" marL="0">
              <a:buNone/>
            </a:pPr>
            <a:r>
              <a:rPr lang="en-US" sz="1700" dirty="0">
                <a:solidFill>
                  <a:srgbClr val="1B1B1B"/>
                </a:solidFill>
                <a:latin typeface="Calibri" pitchFamily="34" charset="0"/>
                <a:ea typeface="Calibri" pitchFamily="34" charset="-122"/>
                <a:cs typeface="Calibri" pitchFamily="34" charset="-120"/>
              </a:rPr>
              <a:t>. Scan the ticket on the basket.</a:t>
            </a:r>
            <a:endParaRPr lang="en-US" sz="1700" dirty="0"/>
          </a:p>
        </p:txBody>
      </p:sp>
      <p:sp>
        <p:nvSpPr>
          <p:cNvPr id="25" name="Shape 22"/>
          <p:cNvSpPr/>
          <p:nvPr/>
        </p:nvSpPr>
        <p:spPr>
          <a:xfrm>
            <a:off x="8458200" y="3008376"/>
            <a:ext cx="310896" cy="310896"/>
          </a:xfrm>
          <a:prstGeom prst="ellipse">
            <a:avLst/>
          </a:prstGeom>
          <a:solidFill>
            <a:srgbClr val="FFB400"/>
          </a:solidFill>
          <a:ln w="9525">
            <a:solidFill>
              <a:srgbClr val="111111"/>
            </a:solidFill>
            <a:prstDash val="solid"/>
          </a:ln>
        </p:spPr>
      </p:sp>
      <p:sp>
        <p:nvSpPr>
          <p:cNvPr id="26" name="Text 23"/>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Open 1 basket(s)</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8" name="Text 25"/>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Scanning alone does not open it. You must tap the button.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CHANGEOVER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many baskets at once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6289243" y="3565246"/>
            <a:ext cx="1132027" cy="1437437"/>
          </a:xfrm>
          <a:prstGeom prst="rect">
            <a:avLst/>
          </a:prstGeom>
          <a:ln w="31750">
            <a:solidFill>
              <a:srgbClr val="000000">
                <a:alpha val="55000"/>
              </a:srgbClr>
            </a:solidFill>
            <a:prstDash val="solid"/>
          </a:ln>
        </p:spPr>
      </p:sp>
      <p:sp>
        <p:nvSpPr>
          <p:cNvPr id="6" name="Shape 3"/>
          <p:cNvSpPr/>
          <p:nvPr/>
        </p:nvSpPr>
        <p:spPr>
          <a:xfrm>
            <a:off x="6298387" y="3574390"/>
            <a:ext cx="1113739" cy="1419149"/>
          </a:xfrm>
          <a:prstGeom prst="rect">
            <a:avLst/>
          </a:prstGeom>
          <a:ln w="19050">
            <a:solidFill>
              <a:srgbClr val="FFB400"/>
            </a:solidFill>
            <a:prstDash val="solid"/>
          </a:ln>
        </p:spPr>
      </p:sp>
      <p:sp>
        <p:nvSpPr>
          <p:cNvPr id="7" name="Shape 4"/>
          <p:cNvSpPr/>
          <p:nvPr/>
        </p:nvSpPr>
        <p:spPr>
          <a:xfrm>
            <a:off x="6152083" y="3428086"/>
            <a:ext cx="256032" cy="256032"/>
          </a:xfrm>
          <a:prstGeom prst="ellipse">
            <a:avLst/>
          </a:prstGeom>
          <a:solidFill>
            <a:srgbClr val="FFB400"/>
          </a:solidFill>
          <a:ln w="9525">
            <a:solidFill>
              <a:srgbClr val="111111"/>
            </a:solidFill>
            <a:prstDash val="solid"/>
          </a:ln>
        </p:spPr>
      </p:sp>
      <p:sp>
        <p:nvSpPr>
          <p:cNvPr id="8" name="Text 5"/>
          <p:cNvSpPr txBox="1"/>
          <p:nvPr/>
        </p:nvSpPr>
        <p:spPr>
          <a:xfrm>
            <a:off x="6152083" y="34280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2298" y="5943600"/>
            <a:ext cx="1266444" cy="361188"/>
          </a:xfrm>
          <a:prstGeom prst="rect">
            <a:avLst/>
          </a:prstGeom>
          <a:ln w="31750">
            <a:solidFill>
              <a:srgbClr val="000000">
                <a:alpha val="55000"/>
              </a:srgbClr>
            </a:solidFill>
            <a:prstDash val="solid"/>
          </a:ln>
        </p:spPr>
      </p:sp>
      <p:sp>
        <p:nvSpPr>
          <p:cNvPr id="10" name="Shape 7"/>
          <p:cNvSpPr/>
          <p:nvPr/>
        </p:nvSpPr>
        <p:spPr>
          <a:xfrm>
            <a:off x="561442" y="5952744"/>
            <a:ext cx="1248156" cy="342900"/>
          </a:xfrm>
          <a:prstGeom prst="rect">
            <a:avLst/>
          </a:prstGeom>
          <a:ln w="19050">
            <a:solidFill>
              <a:srgbClr val="FFB400"/>
            </a:solidFill>
            <a:prstDash val="solid"/>
          </a:ln>
        </p:spPr>
      </p:sp>
      <p:sp>
        <p:nvSpPr>
          <p:cNvPr id="11" name="Shape 8"/>
          <p:cNvSpPr/>
          <p:nvPr/>
        </p:nvSpPr>
        <p:spPr>
          <a:xfrm>
            <a:off x="415138" y="5806440"/>
            <a:ext cx="256032" cy="256032"/>
          </a:xfrm>
          <a:prstGeom prst="ellipse">
            <a:avLst/>
          </a:prstGeom>
          <a:solidFill>
            <a:srgbClr val="FFB400"/>
          </a:solidFill>
          <a:ln w="9525">
            <a:solidFill>
              <a:srgbClr val="111111"/>
            </a:solidFill>
            <a:prstDash val="solid"/>
          </a:ln>
        </p:spPr>
      </p:sp>
      <p:sp>
        <p:nvSpPr>
          <p:cNvPr id="12" name="Text 9"/>
          <p:cNvSpPr txBox="1"/>
          <p:nvPr/>
        </p:nvSpPr>
        <p:spPr>
          <a:xfrm>
            <a:off x="415138" y="58064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Scan a ticket into each empty row.</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t>
            </a:r>
            <a:pPr indent="0" marL="0">
              <a:buNone/>
            </a:pPr>
            <a:r>
              <a:rPr lang="en-US" sz="1700" b="1" dirty="0">
                <a:solidFill>
                  <a:srgbClr val="12263F"/>
                </a:solidFill>
                <a:latin typeface="Calibri" pitchFamily="34" charset="0"/>
                <a:ea typeface="Calibri" pitchFamily="34" charset="-122"/>
                <a:cs typeface="Calibri" pitchFamily="34" charset="-120"/>
              </a:rPr>
              <a:t>Open</a:t>
            </a:r>
            <a:pPr indent="0" marL="0">
              <a:buNone/>
            </a:pPr>
            <a:r>
              <a:rPr lang="en-US" sz="1700" dirty="0">
                <a:solidFill>
                  <a:srgbClr val="1B1B1B"/>
                </a:solidFill>
                <a:latin typeface="Calibri" pitchFamily="34" charset="0"/>
                <a:ea typeface="Calibri" pitchFamily="34" charset="-122"/>
                <a:cs typeface="Calibri" pitchFamily="34" charset="-120"/>
              </a:rPr>
              <a:t> button. It counts your scans.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Release a full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1691"/>
          </a:xfrm>
          <a:prstGeom prst="rect">
            <a:avLst/>
          </a:prstGeom>
        </p:spPr>
      </p:pic>
      <p:sp>
        <p:nvSpPr>
          <p:cNvPr id="5" name="Shape 2"/>
          <p:cNvSpPr/>
          <p:nvPr/>
        </p:nvSpPr>
        <p:spPr>
          <a:xfrm>
            <a:off x="6836054" y="2472538"/>
            <a:ext cx="781812" cy="299009"/>
          </a:xfrm>
          <a:prstGeom prst="rect">
            <a:avLst/>
          </a:prstGeom>
          <a:ln w="31750">
            <a:solidFill>
              <a:srgbClr val="000000">
                <a:alpha val="55000"/>
              </a:srgbClr>
            </a:solidFill>
            <a:prstDash val="solid"/>
          </a:ln>
        </p:spPr>
      </p:sp>
      <p:sp>
        <p:nvSpPr>
          <p:cNvPr id="6" name="Shape 3"/>
          <p:cNvSpPr/>
          <p:nvPr/>
        </p:nvSpPr>
        <p:spPr>
          <a:xfrm>
            <a:off x="6845198" y="2481682"/>
            <a:ext cx="763524" cy="280721"/>
          </a:xfrm>
          <a:prstGeom prst="rect">
            <a:avLst/>
          </a:prstGeom>
          <a:ln w="19050">
            <a:solidFill>
              <a:srgbClr val="FFB400"/>
            </a:solidFill>
            <a:prstDash val="solid"/>
          </a:ln>
        </p:spPr>
      </p:sp>
      <p:sp>
        <p:nvSpPr>
          <p:cNvPr id="7" name="Shape 4"/>
          <p:cNvSpPr/>
          <p:nvPr/>
        </p:nvSpPr>
        <p:spPr>
          <a:xfrm>
            <a:off x="6698894" y="2335378"/>
            <a:ext cx="256032" cy="256032"/>
          </a:xfrm>
          <a:prstGeom prst="ellipse">
            <a:avLst/>
          </a:prstGeom>
          <a:solidFill>
            <a:srgbClr val="FFB400"/>
          </a:solidFill>
          <a:ln w="9525">
            <a:solidFill>
              <a:srgbClr val="111111"/>
            </a:solidFill>
            <a:prstDash val="solid"/>
          </a:ln>
        </p:spPr>
      </p:sp>
      <p:sp>
        <p:nvSpPr>
          <p:cNvPr id="8" name="Text 5"/>
          <p:cNvSpPr txBox="1"/>
          <p:nvPr/>
        </p:nvSpPr>
        <p:spPr>
          <a:xfrm>
            <a:off x="6698894" y="23353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978408" y="2686507"/>
            <a:ext cx="1209751" cy="352958"/>
          </a:xfrm>
          <a:prstGeom prst="rect">
            <a:avLst/>
          </a:prstGeom>
          <a:ln w="31750">
            <a:solidFill>
              <a:srgbClr val="000000">
                <a:alpha val="55000"/>
              </a:srgbClr>
            </a:solidFill>
            <a:prstDash val="solid"/>
          </a:ln>
        </p:spPr>
      </p:sp>
      <p:sp>
        <p:nvSpPr>
          <p:cNvPr id="10" name="Shape 7"/>
          <p:cNvSpPr/>
          <p:nvPr/>
        </p:nvSpPr>
        <p:spPr>
          <a:xfrm>
            <a:off x="987552" y="2695651"/>
            <a:ext cx="1191463" cy="334670"/>
          </a:xfrm>
          <a:prstGeom prst="rect">
            <a:avLst/>
          </a:prstGeom>
          <a:ln w="19050">
            <a:solidFill>
              <a:srgbClr val="FFB400"/>
            </a:solidFill>
            <a:prstDash val="solid"/>
          </a:ln>
        </p:spPr>
      </p:sp>
      <p:sp>
        <p:nvSpPr>
          <p:cNvPr id="11" name="Shape 8"/>
          <p:cNvSpPr/>
          <p:nvPr/>
        </p:nvSpPr>
        <p:spPr>
          <a:xfrm>
            <a:off x="841248" y="2549347"/>
            <a:ext cx="256032" cy="256032"/>
          </a:xfrm>
          <a:prstGeom prst="ellipse">
            <a:avLst/>
          </a:prstGeom>
          <a:solidFill>
            <a:srgbClr val="FFB400"/>
          </a:solidFill>
          <a:ln w="9525">
            <a:solidFill>
              <a:srgbClr val="111111"/>
            </a:solidFill>
            <a:prstDash val="solid"/>
          </a:ln>
        </p:spPr>
      </p:sp>
      <p:sp>
        <p:nvSpPr>
          <p:cNvPr id="12" name="Text 9"/>
          <p:cNvSpPr txBox="1"/>
          <p:nvPr/>
        </p:nvSpPr>
        <p:spPr>
          <a:xfrm>
            <a:off x="841248" y="254934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978408" y="3557016"/>
            <a:ext cx="4825289" cy="607162"/>
          </a:xfrm>
          <a:prstGeom prst="rect">
            <a:avLst/>
          </a:prstGeom>
          <a:ln w="31750">
            <a:solidFill>
              <a:srgbClr val="000000">
                <a:alpha val="55000"/>
              </a:srgbClr>
            </a:solidFill>
            <a:prstDash val="solid"/>
          </a:ln>
        </p:spPr>
      </p:sp>
      <p:sp>
        <p:nvSpPr>
          <p:cNvPr id="14" name="Shape 11"/>
          <p:cNvSpPr/>
          <p:nvPr/>
        </p:nvSpPr>
        <p:spPr>
          <a:xfrm>
            <a:off x="987552" y="3566160"/>
            <a:ext cx="4807001" cy="588874"/>
          </a:xfrm>
          <a:prstGeom prst="rect">
            <a:avLst/>
          </a:prstGeom>
          <a:ln w="19050">
            <a:solidFill>
              <a:srgbClr val="FFB400"/>
            </a:solidFill>
            <a:prstDash val="solid"/>
          </a:ln>
        </p:spPr>
      </p:sp>
      <p:sp>
        <p:nvSpPr>
          <p:cNvPr id="15" name="Shape 12"/>
          <p:cNvSpPr/>
          <p:nvPr/>
        </p:nvSpPr>
        <p:spPr>
          <a:xfrm>
            <a:off x="841248" y="3419856"/>
            <a:ext cx="256032" cy="256032"/>
          </a:xfrm>
          <a:prstGeom prst="ellipse">
            <a:avLst/>
          </a:prstGeom>
          <a:solidFill>
            <a:srgbClr val="FFB400"/>
          </a:solidFill>
          <a:ln w="9525">
            <a:solidFill>
              <a:srgbClr val="111111"/>
            </a:solidFill>
            <a:prstDash val="solid"/>
          </a:ln>
        </p:spPr>
      </p:sp>
      <p:sp>
        <p:nvSpPr>
          <p:cNvPr id="16" name="Text 13"/>
          <p:cNvSpPr txBox="1"/>
          <p:nvPr/>
        </p:nvSpPr>
        <p:spPr>
          <a:xfrm>
            <a:off x="841248" y="341985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332427" y="4186123"/>
            <a:ext cx="1471270" cy="312725"/>
          </a:xfrm>
          <a:prstGeom prst="rect">
            <a:avLst/>
          </a:prstGeom>
          <a:ln w="31750">
            <a:solidFill>
              <a:srgbClr val="000000">
                <a:alpha val="55000"/>
              </a:srgbClr>
            </a:solidFill>
            <a:prstDash val="solid"/>
          </a:ln>
        </p:spPr>
      </p:sp>
      <p:sp>
        <p:nvSpPr>
          <p:cNvPr id="18" name="Shape 15"/>
          <p:cNvSpPr/>
          <p:nvPr/>
        </p:nvSpPr>
        <p:spPr>
          <a:xfrm>
            <a:off x="4341571" y="4195267"/>
            <a:ext cx="1452982" cy="294437"/>
          </a:xfrm>
          <a:prstGeom prst="rect">
            <a:avLst/>
          </a:prstGeom>
          <a:ln w="19050">
            <a:solidFill>
              <a:srgbClr val="FFB400"/>
            </a:solidFill>
            <a:prstDash val="solid"/>
          </a:ln>
        </p:spPr>
      </p:sp>
      <p:sp>
        <p:nvSpPr>
          <p:cNvPr id="19" name="Shape 16"/>
          <p:cNvSpPr/>
          <p:nvPr/>
        </p:nvSpPr>
        <p:spPr>
          <a:xfrm>
            <a:off x="4195267" y="4048963"/>
            <a:ext cx="256032" cy="256032"/>
          </a:xfrm>
          <a:prstGeom prst="ellipse">
            <a:avLst/>
          </a:prstGeom>
          <a:solidFill>
            <a:srgbClr val="FFB400"/>
          </a:solidFill>
          <a:ln w="9525">
            <a:solidFill>
              <a:srgbClr val="111111"/>
            </a:solidFill>
            <a:prstDash val="solid"/>
          </a:ln>
        </p:spPr>
      </p:sp>
      <p:sp>
        <p:nvSpPr>
          <p:cNvPr id="20" name="Text 17"/>
          <p:cNvSpPr txBox="1"/>
          <p:nvPr/>
        </p:nvSpPr>
        <p:spPr>
          <a:xfrm>
            <a:off x="4195267" y="404896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4419295" y="4795114"/>
            <a:ext cx="1384402" cy="326441"/>
          </a:xfrm>
          <a:prstGeom prst="rect">
            <a:avLst/>
          </a:prstGeom>
          <a:ln w="31750">
            <a:solidFill>
              <a:srgbClr val="000000">
                <a:alpha val="55000"/>
              </a:srgbClr>
            </a:solidFill>
            <a:prstDash val="solid"/>
          </a:ln>
        </p:spPr>
      </p:sp>
      <p:sp>
        <p:nvSpPr>
          <p:cNvPr id="22" name="Shape 19"/>
          <p:cNvSpPr/>
          <p:nvPr/>
        </p:nvSpPr>
        <p:spPr>
          <a:xfrm>
            <a:off x="4428439" y="4804258"/>
            <a:ext cx="1366114" cy="308153"/>
          </a:xfrm>
          <a:prstGeom prst="rect">
            <a:avLst/>
          </a:prstGeom>
          <a:ln w="19050">
            <a:solidFill>
              <a:srgbClr val="FFB400"/>
            </a:solidFill>
            <a:prstDash val="solid"/>
          </a:ln>
        </p:spPr>
      </p:sp>
      <p:sp>
        <p:nvSpPr>
          <p:cNvPr id="23" name="Shape 20"/>
          <p:cNvSpPr/>
          <p:nvPr/>
        </p:nvSpPr>
        <p:spPr>
          <a:xfrm>
            <a:off x="4282135" y="4657954"/>
            <a:ext cx="256032" cy="256032"/>
          </a:xfrm>
          <a:prstGeom prst="ellipse">
            <a:avLst/>
          </a:prstGeom>
          <a:solidFill>
            <a:srgbClr val="FFB400"/>
          </a:solidFill>
          <a:ln w="9525">
            <a:solidFill>
              <a:srgbClr val="111111"/>
            </a:solidFill>
            <a:prstDash val="solid"/>
          </a:ln>
        </p:spPr>
      </p:sp>
      <p:sp>
        <p:nvSpPr>
          <p:cNvPr id="24" name="Text 21"/>
          <p:cNvSpPr txBox="1"/>
          <p:nvPr/>
        </p:nvSpPr>
        <p:spPr>
          <a:xfrm>
            <a:off x="4282135" y="465795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5</a:t>
            </a:r>
            <a:endParaRPr lang="en-US" sz="1200" dirty="0"/>
          </a:p>
        </p:txBody>
      </p:sp>
      <p:sp>
        <p:nvSpPr>
          <p:cNvPr id="25" name="Shape 22"/>
          <p:cNvSpPr/>
          <p:nvPr/>
        </p:nvSpPr>
        <p:spPr>
          <a:xfrm>
            <a:off x="8458200" y="1179576"/>
            <a:ext cx="310896" cy="310896"/>
          </a:xfrm>
          <a:prstGeom prst="ellipse">
            <a:avLst/>
          </a:prstGeom>
          <a:solidFill>
            <a:srgbClr val="FFB400"/>
          </a:solidFill>
          <a:ln w="9525">
            <a:solidFill>
              <a:srgbClr val="111111"/>
            </a:solidFill>
            <a:prstDash val="solid"/>
          </a:ln>
        </p:spPr>
      </p:sp>
      <p:sp>
        <p:nvSpPr>
          <p:cNvPr id="26" name="Text 23"/>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7" name="Text 24"/>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Release</a:t>
            </a:r>
            <a:pPr indent="0" marL="0">
              <a:buNone/>
            </a:pPr>
            <a:r>
              <a:rPr lang="en-US" sz="1700" dirty="0">
                <a:solidFill>
                  <a:srgbClr val="1B1B1B"/>
                </a:solidFill>
                <a:latin typeface="Calibri" pitchFamily="34" charset="0"/>
                <a:ea typeface="Calibri" pitchFamily="34" charset="-122"/>
                <a:cs typeface="Calibri" pitchFamily="34" charset="-120"/>
              </a:rPr>
              <a:t> on the full basket.</a:t>
            </a:r>
            <a:endParaRPr lang="en-US" sz="1700" dirty="0"/>
          </a:p>
        </p:txBody>
      </p:sp>
      <p:sp>
        <p:nvSpPr>
          <p:cNvPr id="28" name="Shape 25"/>
          <p:cNvSpPr/>
          <p:nvPr/>
        </p:nvSpPr>
        <p:spPr>
          <a:xfrm>
            <a:off x="8458200" y="2093976"/>
            <a:ext cx="310896" cy="310896"/>
          </a:xfrm>
          <a:prstGeom prst="ellipse">
            <a:avLst/>
          </a:prstGeom>
          <a:solidFill>
            <a:srgbClr val="FFB400"/>
          </a:solidFill>
          <a:ln w="9525">
            <a:solidFill>
              <a:srgbClr val="111111"/>
            </a:solidFill>
            <a:prstDash val="solid"/>
          </a:ln>
        </p:spPr>
      </p:sp>
      <p:sp>
        <p:nvSpPr>
          <p:cNvPr id="29" name="Text 26"/>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30" name="Text 27"/>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pieces you put in. Or type the press counter number below it.</a:t>
            </a:r>
            <a:endParaRPr lang="en-US" sz="1700" dirty="0"/>
          </a:p>
        </p:txBody>
      </p:sp>
      <p:sp>
        <p:nvSpPr>
          <p:cNvPr id="31" name="Shape 28"/>
          <p:cNvSpPr/>
          <p:nvPr/>
        </p:nvSpPr>
        <p:spPr>
          <a:xfrm>
            <a:off x="8458200" y="3008376"/>
            <a:ext cx="310896" cy="310896"/>
          </a:xfrm>
          <a:prstGeom prst="ellipse">
            <a:avLst/>
          </a:prstGeom>
          <a:solidFill>
            <a:srgbClr val="FFB400"/>
          </a:solidFill>
          <a:ln w="9525">
            <a:solidFill>
              <a:srgbClr val="111111"/>
            </a:solidFill>
            <a:prstDash val="solid"/>
          </a:ln>
        </p:spPr>
      </p:sp>
      <p:sp>
        <p:nvSpPr>
          <p:cNvPr id="32" name="Text 29"/>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33" name="Text 30"/>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three boxes. They add up for you.</a:t>
            </a:r>
            <a:endParaRPr lang="en-US" sz="1700" dirty="0"/>
          </a:p>
        </p:txBody>
      </p:sp>
      <p:sp>
        <p:nvSpPr>
          <p:cNvPr id="34" name="Shape 31"/>
          <p:cNvSpPr/>
          <p:nvPr/>
        </p:nvSpPr>
        <p:spPr>
          <a:xfrm>
            <a:off x="8458200" y="3922776"/>
            <a:ext cx="310896" cy="310896"/>
          </a:xfrm>
          <a:prstGeom prst="ellipse">
            <a:avLst/>
          </a:prstGeom>
          <a:solidFill>
            <a:srgbClr val="FFB400"/>
          </a:solidFill>
          <a:ln w="9525">
            <a:solidFill>
              <a:srgbClr val="111111"/>
            </a:solidFill>
            <a:prstDash val="solid"/>
          </a:ln>
        </p:spPr>
      </p:sp>
      <p:sp>
        <p:nvSpPr>
          <p:cNvPr id="35" name="Text 32"/>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6" name="Text 33"/>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in this basket?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7" name="Shape 34"/>
          <p:cNvSpPr/>
          <p:nvPr/>
        </p:nvSpPr>
        <p:spPr>
          <a:xfrm>
            <a:off x="8458200" y="4837176"/>
            <a:ext cx="310896" cy="310896"/>
          </a:xfrm>
          <a:prstGeom prst="ellipse">
            <a:avLst/>
          </a:prstGeom>
          <a:solidFill>
            <a:srgbClr val="FFB400"/>
          </a:solidFill>
          <a:ln w="9525">
            <a:solidFill>
              <a:srgbClr val="111111"/>
            </a:solidFill>
            <a:prstDash val="solid"/>
          </a:ln>
        </p:spPr>
      </p:sp>
      <p:sp>
        <p:nvSpPr>
          <p:cNvPr id="38" name="Text 35"/>
          <p:cNvSpPr txBox="1"/>
          <p:nvPr/>
        </p:nvSpPr>
        <p:spPr>
          <a:xfrm>
            <a:off x="8458200" y="48371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5</a:t>
            </a:r>
            <a:endParaRPr lang="en-US" sz="1200" dirty="0"/>
          </a:p>
        </p:txBody>
      </p:sp>
      <p:sp>
        <p:nvSpPr>
          <p:cNvPr id="39" name="Text 36"/>
          <p:cNvSpPr txBox="1"/>
          <p:nvPr/>
        </p:nvSpPr>
        <p:spPr>
          <a:xfrm>
            <a:off x="8897112" y="48006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Release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press counter number is wrong</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3062326" y="4079138"/>
            <a:ext cx="2470709" cy="381305"/>
          </a:xfrm>
          <a:prstGeom prst="rect">
            <a:avLst/>
          </a:prstGeom>
          <a:ln w="31750">
            <a:solidFill>
              <a:srgbClr val="000000">
                <a:alpha val="55000"/>
              </a:srgbClr>
            </a:solidFill>
            <a:prstDash val="solid"/>
          </a:ln>
        </p:spPr>
      </p:sp>
      <p:sp>
        <p:nvSpPr>
          <p:cNvPr id="6" name="Shape 3"/>
          <p:cNvSpPr/>
          <p:nvPr/>
        </p:nvSpPr>
        <p:spPr>
          <a:xfrm>
            <a:off x="3071470" y="4088282"/>
            <a:ext cx="2452421" cy="363017"/>
          </a:xfrm>
          <a:prstGeom prst="rect">
            <a:avLst/>
          </a:prstGeom>
          <a:ln w="19050">
            <a:solidFill>
              <a:srgbClr val="FFB400"/>
            </a:solidFill>
            <a:prstDash val="solid"/>
          </a:ln>
        </p:spPr>
      </p:sp>
      <p:sp>
        <p:nvSpPr>
          <p:cNvPr id="7" name="Shape 4"/>
          <p:cNvSpPr/>
          <p:nvPr/>
        </p:nvSpPr>
        <p:spPr>
          <a:xfrm>
            <a:off x="2925166" y="3941978"/>
            <a:ext cx="256032" cy="256032"/>
          </a:xfrm>
          <a:prstGeom prst="ellipse">
            <a:avLst/>
          </a:prstGeom>
          <a:solidFill>
            <a:srgbClr val="FFB400"/>
          </a:solidFill>
          <a:ln w="9525">
            <a:solidFill>
              <a:srgbClr val="111111"/>
            </a:solidFill>
            <a:prstDash val="solid"/>
          </a:ln>
        </p:spPr>
      </p:sp>
      <p:sp>
        <p:nvSpPr>
          <p:cNvPr id="8" name="Text 5"/>
          <p:cNvSpPr txBox="1"/>
          <p:nvPr/>
        </p:nvSpPr>
        <p:spPr>
          <a:xfrm>
            <a:off x="2925166"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8458200" y="1179576"/>
            <a:ext cx="310896" cy="310896"/>
          </a:xfrm>
          <a:prstGeom prst="ellipse">
            <a:avLst/>
          </a:prstGeom>
          <a:solidFill>
            <a:srgbClr val="FFB400"/>
          </a:solidFill>
          <a:ln w="9525">
            <a:solidFill>
              <a:srgbClr val="111111"/>
            </a:solidFill>
            <a:prstDash val="solid"/>
          </a:ln>
        </p:spPr>
      </p:sp>
      <p:sp>
        <p:nvSpPr>
          <p:cNvPr id="10" name="Text 7"/>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1" name="Text 8"/>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Press shot counter wrong? Reset it here with </a:t>
            </a:r>
            <a:pPr indent="0" marL="0">
              <a:buNone/>
            </a:pPr>
            <a:r>
              <a:rPr lang="en-US" sz="1700" b="1" dirty="0">
                <a:solidFill>
                  <a:srgbClr val="12263F"/>
                </a:solidFill>
                <a:latin typeface="Calibri" pitchFamily="34" charset="0"/>
                <a:ea typeface="Calibri" pitchFamily="34" charset="-122"/>
                <a:cs typeface="Calibri" pitchFamily="34" charset="-120"/>
              </a:rPr>
              <a:t>Counter reset / wrong total?</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Void an empty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38582" y="3280867"/>
            <a:ext cx="7469734" cy="396850"/>
          </a:xfrm>
          <a:prstGeom prst="rect">
            <a:avLst/>
          </a:prstGeom>
          <a:ln w="31750">
            <a:solidFill>
              <a:srgbClr val="000000">
                <a:alpha val="55000"/>
              </a:srgbClr>
            </a:solidFill>
            <a:prstDash val="solid"/>
          </a:ln>
        </p:spPr>
      </p:sp>
      <p:sp>
        <p:nvSpPr>
          <p:cNvPr id="6" name="Shape 3"/>
          <p:cNvSpPr/>
          <p:nvPr/>
        </p:nvSpPr>
        <p:spPr>
          <a:xfrm>
            <a:off x="547726" y="3290011"/>
            <a:ext cx="7451446" cy="378562"/>
          </a:xfrm>
          <a:prstGeom prst="rect">
            <a:avLst/>
          </a:prstGeom>
          <a:ln w="19050">
            <a:solidFill>
              <a:srgbClr val="FFB400"/>
            </a:solidFill>
            <a:prstDash val="solid"/>
          </a:ln>
        </p:spPr>
      </p:sp>
      <p:sp>
        <p:nvSpPr>
          <p:cNvPr id="7" name="Shape 4"/>
          <p:cNvSpPr/>
          <p:nvPr/>
        </p:nvSpPr>
        <p:spPr>
          <a:xfrm>
            <a:off x="411480" y="3143707"/>
            <a:ext cx="256032" cy="256032"/>
          </a:xfrm>
          <a:prstGeom prst="ellipse">
            <a:avLst/>
          </a:prstGeom>
          <a:solidFill>
            <a:srgbClr val="FFB400"/>
          </a:solidFill>
          <a:ln w="9525">
            <a:solidFill>
              <a:srgbClr val="111111"/>
            </a:solidFill>
            <a:prstDash val="solid"/>
          </a:ln>
        </p:spPr>
      </p:sp>
      <p:sp>
        <p:nvSpPr>
          <p:cNvPr id="8" name="Text 5"/>
          <p:cNvSpPr txBox="1"/>
          <p:nvPr/>
        </p:nvSpPr>
        <p:spPr>
          <a:xfrm>
            <a:off x="411480" y="314370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6149340" y="3373222"/>
            <a:ext cx="436169" cy="222199"/>
          </a:xfrm>
          <a:prstGeom prst="rect">
            <a:avLst/>
          </a:prstGeom>
          <a:ln w="31750">
            <a:solidFill>
              <a:srgbClr val="000000">
                <a:alpha val="55000"/>
              </a:srgbClr>
            </a:solidFill>
            <a:prstDash val="solid"/>
          </a:ln>
        </p:spPr>
      </p:sp>
      <p:sp>
        <p:nvSpPr>
          <p:cNvPr id="10" name="Shape 7"/>
          <p:cNvSpPr/>
          <p:nvPr/>
        </p:nvSpPr>
        <p:spPr>
          <a:xfrm>
            <a:off x="6158484" y="3382366"/>
            <a:ext cx="417881" cy="203911"/>
          </a:xfrm>
          <a:prstGeom prst="rect">
            <a:avLst/>
          </a:prstGeom>
          <a:ln w="19050">
            <a:solidFill>
              <a:srgbClr val="FFB400"/>
            </a:solidFill>
            <a:prstDash val="solid"/>
          </a:ln>
        </p:spPr>
      </p:sp>
      <p:sp>
        <p:nvSpPr>
          <p:cNvPr id="11" name="Shape 8"/>
          <p:cNvSpPr/>
          <p:nvPr/>
        </p:nvSpPr>
        <p:spPr>
          <a:xfrm>
            <a:off x="6012180" y="3236062"/>
            <a:ext cx="256032" cy="256032"/>
          </a:xfrm>
          <a:prstGeom prst="ellipse">
            <a:avLst/>
          </a:prstGeom>
          <a:solidFill>
            <a:srgbClr val="FFB400"/>
          </a:solidFill>
          <a:ln w="9525">
            <a:solidFill>
              <a:srgbClr val="111111"/>
            </a:solidFill>
            <a:prstDash val="solid"/>
          </a:ln>
        </p:spPr>
      </p:sp>
      <p:sp>
        <p:nvSpPr>
          <p:cNvPr id="12" name="Text 9"/>
          <p:cNvSpPr txBox="1"/>
          <p:nvPr/>
        </p:nvSpPr>
        <p:spPr>
          <a:xfrm>
            <a:off x="6012180" y="323606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031943" y="3961181"/>
            <a:ext cx="533095" cy="319126"/>
          </a:xfrm>
          <a:prstGeom prst="rect">
            <a:avLst/>
          </a:prstGeom>
          <a:ln w="31750">
            <a:solidFill>
              <a:srgbClr val="000000">
                <a:alpha val="55000"/>
              </a:srgbClr>
            </a:solidFill>
            <a:prstDash val="solid"/>
          </a:ln>
        </p:spPr>
      </p:sp>
      <p:sp>
        <p:nvSpPr>
          <p:cNvPr id="14" name="Shape 11"/>
          <p:cNvSpPr/>
          <p:nvPr/>
        </p:nvSpPr>
        <p:spPr>
          <a:xfrm>
            <a:off x="5041087" y="3970325"/>
            <a:ext cx="514807" cy="300838"/>
          </a:xfrm>
          <a:prstGeom prst="rect">
            <a:avLst/>
          </a:prstGeom>
          <a:ln w="19050">
            <a:solidFill>
              <a:srgbClr val="FFB400"/>
            </a:solidFill>
            <a:prstDash val="solid"/>
          </a:ln>
        </p:spPr>
      </p:sp>
      <p:sp>
        <p:nvSpPr>
          <p:cNvPr id="15" name="Shape 12"/>
          <p:cNvSpPr/>
          <p:nvPr/>
        </p:nvSpPr>
        <p:spPr>
          <a:xfrm>
            <a:off x="4894783" y="3824021"/>
            <a:ext cx="256032" cy="256032"/>
          </a:xfrm>
          <a:prstGeom prst="ellipse">
            <a:avLst/>
          </a:prstGeom>
          <a:solidFill>
            <a:srgbClr val="FFB400"/>
          </a:solidFill>
          <a:ln w="9525">
            <a:solidFill>
              <a:srgbClr val="111111"/>
            </a:solidFill>
            <a:prstDash val="solid"/>
          </a:ln>
        </p:spPr>
      </p:sp>
      <p:sp>
        <p:nvSpPr>
          <p:cNvPr id="16" name="Text 13"/>
          <p:cNvSpPr txBox="1"/>
          <p:nvPr/>
        </p:nvSpPr>
        <p:spPr>
          <a:xfrm>
            <a:off x="4894783" y="382402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Find the LOT you want to remove on the </a:t>
            </a:r>
            <a:pPr indent="0" marL="0">
              <a:buNone/>
            </a:pPr>
            <a:r>
              <a:rPr lang="en-US" sz="1700" b="1" dirty="0">
                <a:solidFill>
                  <a:srgbClr val="12263F"/>
                </a:solidFill>
                <a:latin typeface="Calibri" pitchFamily="34" charset="0"/>
                <a:ea typeface="Calibri" pitchFamily="34" charset="-122"/>
                <a:cs typeface="Calibri" pitchFamily="34" charset="-120"/>
              </a:rPr>
              <a:t>Lot Management</a:t>
            </a:r>
            <a:pPr indent="0" marL="0">
              <a:buNone/>
            </a:pPr>
            <a:r>
              <a:rPr lang="en-US" sz="1700" dirty="0">
                <a:solidFill>
                  <a:srgbClr val="1B1B1B"/>
                </a:solidFill>
                <a:latin typeface="Calibri" pitchFamily="34" charset="0"/>
                <a:ea typeface="Calibri" pitchFamily="34" charset="-122"/>
                <a:cs typeface="Calibri" pitchFamily="34" charset="-120"/>
              </a:rPr>
              <a:t> screen.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on that row.</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ticket number. 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to confirm.</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Only for a basket with nothing in it. It cannot be undone.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Reconcile Shift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43154" y="2144268"/>
            <a:ext cx="3229661" cy="159106"/>
          </a:xfrm>
          <a:prstGeom prst="rect">
            <a:avLst/>
          </a:prstGeom>
          <a:ln w="31750">
            <a:solidFill>
              <a:srgbClr val="000000">
                <a:alpha val="55000"/>
              </a:srgbClr>
            </a:solidFill>
            <a:prstDash val="solid"/>
          </a:ln>
        </p:spPr>
      </p:sp>
      <p:sp>
        <p:nvSpPr>
          <p:cNvPr id="6" name="Shape 3"/>
          <p:cNvSpPr/>
          <p:nvPr/>
        </p:nvSpPr>
        <p:spPr>
          <a:xfrm>
            <a:off x="552298" y="2153412"/>
            <a:ext cx="3211373" cy="140818"/>
          </a:xfrm>
          <a:prstGeom prst="rect">
            <a:avLst/>
          </a:prstGeom>
          <a:ln w="19050">
            <a:solidFill>
              <a:srgbClr val="2E86DE"/>
            </a:solidFill>
            <a:prstDash val="solid"/>
          </a:ln>
        </p:spPr>
      </p:sp>
      <p:sp>
        <p:nvSpPr>
          <p:cNvPr id="7" name="Shape 4"/>
          <p:cNvSpPr/>
          <p:nvPr/>
        </p:nvSpPr>
        <p:spPr>
          <a:xfrm>
            <a:off x="3783787" y="2144268"/>
            <a:ext cx="4268419" cy="159106"/>
          </a:xfrm>
          <a:prstGeom prst="rect">
            <a:avLst/>
          </a:prstGeom>
          <a:ln w="31750">
            <a:solidFill>
              <a:srgbClr val="000000">
                <a:alpha val="55000"/>
              </a:srgbClr>
            </a:solidFill>
            <a:prstDash val="solid"/>
          </a:ln>
        </p:spPr>
      </p:sp>
      <p:sp>
        <p:nvSpPr>
          <p:cNvPr id="8" name="Shape 5"/>
          <p:cNvSpPr/>
          <p:nvPr/>
        </p:nvSpPr>
        <p:spPr>
          <a:xfrm>
            <a:off x="3792931" y="2153412"/>
            <a:ext cx="4250131" cy="140818"/>
          </a:xfrm>
          <a:prstGeom prst="rect">
            <a:avLst/>
          </a:prstGeom>
          <a:ln w="19050">
            <a:solidFill>
              <a:srgbClr val="E67E22"/>
            </a:solidFill>
            <a:prstDash val="solid"/>
          </a:ln>
        </p:spPr>
      </p:sp>
      <p:sp>
        <p:nvSpPr>
          <p:cNvPr id="9" name="Shape 6"/>
          <p:cNvSpPr/>
          <p:nvPr/>
        </p:nvSpPr>
        <p:spPr>
          <a:xfrm>
            <a:off x="543154" y="3135478"/>
            <a:ext cx="7509053" cy="163678"/>
          </a:xfrm>
          <a:prstGeom prst="rect">
            <a:avLst/>
          </a:prstGeom>
          <a:ln w="31750">
            <a:solidFill>
              <a:srgbClr val="000000">
                <a:alpha val="55000"/>
              </a:srgbClr>
            </a:solidFill>
            <a:prstDash val="solid"/>
          </a:ln>
        </p:spPr>
      </p:sp>
      <p:sp>
        <p:nvSpPr>
          <p:cNvPr id="10" name="Shape 7"/>
          <p:cNvSpPr/>
          <p:nvPr/>
        </p:nvSpPr>
        <p:spPr>
          <a:xfrm>
            <a:off x="552298" y="3144622"/>
            <a:ext cx="7490765" cy="145390"/>
          </a:xfrm>
          <a:prstGeom prst="rect">
            <a:avLst/>
          </a:prstGeom>
          <a:ln w="19050">
            <a:solidFill>
              <a:srgbClr val="8E44AD"/>
            </a:solidFill>
            <a:prstDash val="solid"/>
          </a:ln>
        </p:spPr>
      </p:sp>
      <p:sp>
        <p:nvSpPr>
          <p:cNvPr id="11" name="Shape 8"/>
          <p:cNvSpPr/>
          <p:nvPr/>
        </p:nvSpPr>
        <p:spPr>
          <a:xfrm>
            <a:off x="543154" y="5418734"/>
            <a:ext cx="7509053" cy="450799"/>
          </a:xfrm>
          <a:prstGeom prst="rect">
            <a:avLst/>
          </a:prstGeom>
          <a:ln w="31750">
            <a:solidFill>
              <a:srgbClr val="000000">
                <a:alpha val="55000"/>
              </a:srgbClr>
            </a:solidFill>
            <a:prstDash val="solid"/>
          </a:ln>
        </p:spPr>
      </p:sp>
      <p:sp>
        <p:nvSpPr>
          <p:cNvPr id="12" name="Shape 9"/>
          <p:cNvSpPr/>
          <p:nvPr/>
        </p:nvSpPr>
        <p:spPr>
          <a:xfrm>
            <a:off x="552298" y="5427878"/>
            <a:ext cx="7490765" cy="432511"/>
          </a:xfrm>
          <a:prstGeom prst="rect">
            <a:avLst/>
          </a:prstGeom>
          <a:ln w="19050">
            <a:solidFill>
              <a:srgbClr val="16A085"/>
            </a:solidFill>
            <a:prstDash val="solid"/>
          </a:ln>
        </p:spPr>
      </p:sp>
      <p:sp>
        <p:nvSpPr>
          <p:cNvPr id="13" name="Shape 10"/>
          <p:cNvSpPr/>
          <p:nvPr/>
        </p:nvSpPr>
        <p:spPr>
          <a:xfrm>
            <a:off x="552298" y="1869948"/>
            <a:ext cx="237744" cy="237744"/>
          </a:xfrm>
          <a:prstGeom prst="roundRect">
            <a:avLst>
              <a:gd name="adj" fmla="val 15385"/>
            </a:avLst>
          </a:prstGeom>
          <a:solidFill>
            <a:srgbClr val="2E86DE"/>
          </a:solidFill>
          <a:ln w="9525">
            <a:solidFill>
              <a:srgbClr val="FFFFFF"/>
            </a:solidFill>
            <a:prstDash val="solid"/>
          </a:ln>
        </p:spPr>
      </p:sp>
      <p:sp>
        <p:nvSpPr>
          <p:cNvPr id="14" name="Text 11"/>
          <p:cNvSpPr txBox="1"/>
          <p:nvPr/>
        </p:nvSpPr>
        <p:spPr>
          <a:xfrm>
            <a:off x="552298"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5" name="Shape 12"/>
          <p:cNvSpPr/>
          <p:nvPr/>
        </p:nvSpPr>
        <p:spPr>
          <a:xfrm>
            <a:off x="3792931" y="1869948"/>
            <a:ext cx="237744" cy="237744"/>
          </a:xfrm>
          <a:prstGeom prst="roundRect">
            <a:avLst>
              <a:gd name="adj" fmla="val 15385"/>
            </a:avLst>
          </a:prstGeom>
          <a:solidFill>
            <a:srgbClr val="E67E22"/>
          </a:solidFill>
          <a:ln w="9525">
            <a:solidFill>
              <a:srgbClr val="FFFFFF"/>
            </a:solidFill>
            <a:prstDash val="solid"/>
          </a:ln>
        </p:spPr>
      </p:sp>
      <p:sp>
        <p:nvSpPr>
          <p:cNvPr id="16" name="Text 13"/>
          <p:cNvSpPr txBox="1"/>
          <p:nvPr/>
        </p:nvSpPr>
        <p:spPr>
          <a:xfrm>
            <a:off x="3792931"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17" name="Shape 14"/>
          <p:cNvSpPr/>
          <p:nvPr/>
        </p:nvSpPr>
        <p:spPr>
          <a:xfrm>
            <a:off x="552298" y="2861158"/>
            <a:ext cx="237744" cy="237744"/>
          </a:xfrm>
          <a:prstGeom prst="roundRect">
            <a:avLst>
              <a:gd name="adj" fmla="val 15385"/>
            </a:avLst>
          </a:prstGeom>
          <a:solidFill>
            <a:srgbClr val="8E44AD"/>
          </a:solidFill>
          <a:ln w="9525">
            <a:solidFill>
              <a:srgbClr val="FFFFFF"/>
            </a:solidFill>
            <a:prstDash val="solid"/>
          </a:ln>
        </p:spPr>
      </p:sp>
      <p:sp>
        <p:nvSpPr>
          <p:cNvPr id="18" name="Text 15"/>
          <p:cNvSpPr txBox="1"/>
          <p:nvPr/>
        </p:nvSpPr>
        <p:spPr>
          <a:xfrm>
            <a:off x="552298" y="286115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19" name="Shape 16"/>
          <p:cNvSpPr/>
          <p:nvPr/>
        </p:nvSpPr>
        <p:spPr>
          <a:xfrm>
            <a:off x="552298" y="5144414"/>
            <a:ext cx="237744" cy="237744"/>
          </a:xfrm>
          <a:prstGeom prst="roundRect">
            <a:avLst>
              <a:gd name="adj" fmla="val 15385"/>
            </a:avLst>
          </a:prstGeom>
          <a:solidFill>
            <a:srgbClr val="16A085"/>
          </a:solidFill>
          <a:ln w="9525">
            <a:solidFill>
              <a:srgbClr val="FFFFFF"/>
            </a:solidFill>
            <a:prstDash val="solid"/>
          </a:ln>
        </p:spPr>
      </p:sp>
      <p:sp>
        <p:nvSpPr>
          <p:cNvPr id="20" name="Text 17"/>
          <p:cNvSpPr txBox="1"/>
          <p:nvPr/>
        </p:nvSpPr>
        <p:spPr>
          <a:xfrm>
            <a:off x="552298" y="514441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1" name="Shape 18"/>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22" name="Text 19"/>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23" name="Text 20"/>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shift and the press counter</a:t>
            </a:r>
            <a:endParaRPr lang="en-US" sz="1500" dirty="0"/>
          </a:p>
        </p:txBody>
      </p:sp>
      <p:sp>
        <p:nvSpPr>
          <p:cNvPr id="24" name="Shape 21"/>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25" name="Text 22"/>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26" name="Text 23"/>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Shots lost on the whole die</a:t>
            </a:r>
            <a:endParaRPr lang="en-US" sz="1500" dirty="0"/>
          </a:p>
        </p:txBody>
      </p:sp>
      <p:sp>
        <p:nvSpPr>
          <p:cNvPr id="27" name="Shape 24"/>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28" name="Text 25"/>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9" name="Text 26"/>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cavity, after </a:t>
            </a:r>
            <a:pPr indent="0" marL="0">
              <a:buNone/>
            </a:pPr>
            <a:r>
              <a:rPr lang="en-US" sz="1500" b="1" dirty="0">
                <a:solidFill>
                  <a:srgbClr val="12263F"/>
                </a:solidFill>
                <a:latin typeface="Calibri" pitchFamily="34" charset="0"/>
                <a:ea typeface="Calibri" pitchFamily="34" charset="-122"/>
                <a:cs typeface="Calibri" pitchFamily="34" charset="-120"/>
              </a:rPr>
              <a:t>Compute</a:t>
            </a:r>
            <a:endParaRPr lang="en-US" sz="1500" dirty="0"/>
          </a:p>
        </p:txBody>
      </p:sp>
      <p:sp>
        <p:nvSpPr>
          <p:cNvPr id="30" name="Shape 27"/>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1" name="Text 28"/>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32" name="Text 29"/>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totals, and the button to send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the shift entry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756209" y="3439973"/>
            <a:ext cx="2073859" cy="614477"/>
          </a:xfrm>
          <a:prstGeom prst="rect">
            <a:avLst/>
          </a:prstGeom>
          <a:ln w="31750">
            <a:solidFill>
              <a:srgbClr val="000000">
                <a:alpha val="55000"/>
              </a:srgbClr>
            </a:solidFill>
            <a:prstDash val="solid"/>
          </a:ln>
        </p:spPr>
      </p:sp>
      <p:sp>
        <p:nvSpPr>
          <p:cNvPr id="6" name="Shape 3"/>
          <p:cNvSpPr/>
          <p:nvPr/>
        </p:nvSpPr>
        <p:spPr>
          <a:xfrm>
            <a:off x="765353" y="3449117"/>
            <a:ext cx="2055571" cy="596189"/>
          </a:xfrm>
          <a:prstGeom prst="rect">
            <a:avLst/>
          </a:prstGeom>
          <a:ln w="19050">
            <a:solidFill>
              <a:srgbClr val="FFB400"/>
            </a:solidFill>
            <a:prstDash val="solid"/>
          </a:ln>
        </p:spPr>
      </p:sp>
      <p:sp>
        <p:nvSpPr>
          <p:cNvPr id="7" name="Shape 4"/>
          <p:cNvSpPr/>
          <p:nvPr/>
        </p:nvSpPr>
        <p:spPr>
          <a:xfrm>
            <a:off x="619049" y="3302813"/>
            <a:ext cx="256032" cy="256032"/>
          </a:xfrm>
          <a:prstGeom prst="ellipse">
            <a:avLst/>
          </a:prstGeom>
          <a:solidFill>
            <a:srgbClr val="FFB400"/>
          </a:solidFill>
          <a:ln w="9525">
            <a:solidFill>
              <a:srgbClr val="111111"/>
            </a:solidFill>
            <a:prstDash val="solid"/>
          </a:ln>
        </p:spPr>
      </p:sp>
      <p:sp>
        <p:nvSpPr>
          <p:cNvPr id="8" name="Text 5"/>
          <p:cNvSpPr txBox="1"/>
          <p:nvPr/>
        </p:nvSpPr>
        <p:spPr>
          <a:xfrm>
            <a:off x="619049" y="33028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829154" y="3249778"/>
            <a:ext cx="1555394" cy="803758"/>
          </a:xfrm>
          <a:prstGeom prst="rect">
            <a:avLst/>
          </a:prstGeom>
          <a:ln w="31750">
            <a:solidFill>
              <a:srgbClr val="000000">
                <a:alpha val="55000"/>
              </a:srgbClr>
            </a:solidFill>
            <a:prstDash val="solid"/>
          </a:ln>
        </p:spPr>
      </p:sp>
      <p:sp>
        <p:nvSpPr>
          <p:cNvPr id="10" name="Shape 7"/>
          <p:cNvSpPr/>
          <p:nvPr/>
        </p:nvSpPr>
        <p:spPr>
          <a:xfrm>
            <a:off x="2838298" y="3258922"/>
            <a:ext cx="1537106" cy="785470"/>
          </a:xfrm>
          <a:prstGeom prst="rect">
            <a:avLst/>
          </a:prstGeom>
          <a:ln w="19050">
            <a:solidFill>
              <a:srgbClr val="FFB400"/>
            </a:solidFill>
            <a:prstDash val="solid"/>
          </a:ln>
        </p:spPr>
      </p:sp>
      <p:sp>
        <p:nvSpPr>
          <p:cNvPr id="11" name="Shape 8"/>
          <p:cNvSpPr/>
          <p:nvPr/>
        </p:nvSpPr>
        <p:spPr>
          <a:xfrm>
            <a:off x="2691994" y="3112618"/>
            <a:ext cx="256032" cy="256032"/>
          </a:xfrm>
          <a:prstGeom prst="ellipse">
            <a:avLst/>
          </a:prstGeom>
          <a:solidFill>
            <a:srgbClr val="FFB400"/>
          </a:solidFill>
          <a:ln w="9525">
            <a:solidFill>
              <a:srgbClr val="111111"/>
            </a:solidFill>
            <a:prstDash val="solid"/>
          </a:ln>
        </p:spPr>
      </p:sp>
      <p:sp>
        <p:nvSpPr>
          <p:cNvPr id="12" name="Text 9"/>
          <p:cNvSpPr txBox="1"/>
          <p:nvPr/>
        </p:nvSpPr>
        <p:spPr>
          <a:xfrm>
            <a:off x="2691994" y="31126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4383634" y="3482950"/>
            <a:ext cx="1322222" cy="570586"/>
          </a:xfrm>
          <a:prstGeom prst="rect">
            <a:avLst/>
          </a:prstGeom>
          <a:ln w="31750">
            <a:solidFill>
              <a:srgbClr val="000000">
                <a:alpha val="55000"/>
              </a:srgbClr>
            </a:solidFill>
            <a:prstDash val="solid"/>
          </a:ln>
        </p:spPr>
      </p:sp>
      <p:sp>
        <p:nvSpPr>
          <p:cNvPr id="14" name="Shape 11"/>
          <p:cNvSpPr/>
          <p:nvPr/>
        </p:nvSpPr>
        <p:spPr>
          <a:xfrm>
            <a:off x="4392778" y="3492094"/>
            <a:ext cx="1303934" cy="552298"/>
          </a:xfrm>
          <a:prstGeom prst="rect">
            <a:avLst/>
          </a:prstGeom>
          <a:ln w="19050">
            <a:solidFill>
              <a:srgbClr val="FFB400"/>
            </a:solidFill>
            <a:prstDash val="solid"/>
          </a:ln>
        </p:spPr>
      </p:sp>
      <p:sp>
        <p:nvSpPr>
          <p:cNvPr id="15" name="Shape 12"/>
          <p:cNvSpPr/>
          <p:nvPr/>
        </p:nvSpPr>
        <p:spPr>
          <a:xfrm>
            <a:off x="4246474" y="3345790"/>
            <a:ext cx="256032" cy="256032"/>
          </a:xfrm>
          <a:prstGeom prst="ellipse">
            <a:avLst/>
          </a:prstGeom>
          <a:solidFill>
            <a:srgbClr val="FFB400"/>
          </a:solidFill>
          <a:ln w="9525">
            <a:solidFill>
              <a:srgbClr val="111111"/>
            </a:solidFill>
            <a:prstDash val="solid"/>
          </a:ln>
        </p:spPr>
      </p:sp>
      <p:sp>
        <p:nvSpPr>
          <p:cNvPr id="16" name="Text 13"/>
          <p:cNvSpPr txBox="1"/>
          <p:nvPr/>
        </p:nvSpPr>
        <p:spPr>
          <a:xfrm>
            <a:off x="4246474" y="334579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your shift.</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number on the press counter.</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Compute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Shift just ended? The list shows the last three shifts.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Warm-up and test shots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72254" y="3137306"/>
            <a:ext cx="1036930" cy="467258"/>
          </a:xfrm>
          <a:prstGeom prst="rect">
            <a:avLst/>
          </a:prstGeom>
          <a:ln w="31750">
            <a:solidFill>
              <a:srgbClr val="000000">
                <a:alpha val="55000"/>
              </a:srgbClr>
            </a:solidFill>
            <a:prstDash val="solid"/>
          </a:ln>
        </p:spPr>
      </p:sp>
      <p:sp>
        <p:nvSpPr>
          <p:cNvPr id="6" name="Shape 3"/>
          <p:cNvSpPr/>
          <p:nvPr/>
        </p:nvSpPr>
        <p:spPr>
          <a:xfrm>
            <a:off x="4781398" y="3146450"/>
            <a:ext cx="1018642" cy="448970"/>
          </a:xfrm>
          <a:prstGeom prst="rect">
            <a:avLst/>
          </a:prstGeom>
          <a:ln w="19050">
            <a:solidFill>
              <a:srgbClr val="FFB400"/>
            </a:solidFill>
            <a:prstDash val="solid"/>
          </a:ln>
        </p:spPr>
      </p:sp>
      <p:sp>
        <p:nvSpPr>
          <p:cNvPr id="7" name="Shape 4"/>
          <p:cNvSpPr/>
          <p:nvPr/>
        </p:nvSpPr>
        <p:spPr>
          <a:xfrm>
            <a:off x="4635094" y="3000146"/>
            <a:ext cx="256032" cy="256032"/>
          </a:xfrm>
          <a:prstGeom prst="ellipse">
            <a:avLst/>
          </a:prstGeom>
          <a:solidFill>
            <a:srgbClr val="FFB400"/>
          </a:solidFill>
          <a:ln w="9525">
            <a:solidFill>
              <a:srgbClr val="111111"/>
            </a:solidFill>
            <a:prstDash val="solid"/>
          </a:ln>
        </p:spPr>
      </p:sp>
      <p:sp>
        <p:nvSpPr>
          <p:cNvPr id="8" name="Text 5"/>
          <p:cNvSpPr txBox="1"/>
          <p:nvPr/>
        </p:nvSpPr>
        <p:spPr>
          <a:xfrm>
            <a:off x="4635094" y="30001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772254" y="3621024"/>
            <a:ext cx="1036930" cy="467258"/>
          </a:xfrm>
          <a:prstGeom prst="rect">
            <a:avLst/>
          </a:prstGeom>
          <a:ln w="31750">
            <a:solidFill>
              <a:srgbClr val="000000">
                <a:alpha val="55000"/>
              </a:srgbClr>
            </a:solidFill>
            <a:prstDash val="solid"/>
          </a:ln>
        </p:spPr>
      </p:sp>
      <p:sp>
        <p:nvSpPr>
          <p:cNvPr id="10" name="Shape 7"/>
          <p:cNvSpPr/>
          <p:nvPr/>
        </p:nvSpPr>
        <p:spPr>
          <a:xfrm>
            <a:off x="4781398" y="3630168"/>
            <a:ext cx="1018642" cy="448970"/>
          </a:xfrm>
          <a:prstGeom prst="rect">
            <a:avLst/>
          </a:prstGeom>
          <a:ln w="19050">
            <a:solidFill>
              <a:srgbClr val="FFB400"/>
            </a:solidFill>
            <a:prstDash val="solid"/>
          </a:ln>
        </p:spPr>
      </p:sp>
      <p:sp>
        <p:nvSpPr>
          <p:cNvPr id="11" name="Shape 8"/>
          <p:cNvSpPr/>
          <p:nvPr/>
        </p:nvSpPr>
        <p:spPr>
          <a:xfrm>
            <a:off x="4635094" y="3483864"/>
            <a:ext cx="256032" cy="256032"/>
          </a:xfrm>
          <a:prstGeom prst="ellipse">
            <a:avLst/>
          </a:prstGeom>
          <a:solidFill>
            <a:srgbClr val="FFB400"/>
          </a:solidFill>
          <a:ln w="9525">
            <a:solidFill>
              <a:srgbClr val="111111"/>
            </a:solidFill>
            <a:prstDash val="solid"/>
          </a:ln>
        </p:spPr>
      </p:sp>
      <p:sp>
        <p:nvSpPr>
          <p:cNvPr id="12" name="Text 9"/>
          <p:cNvSpPr txBox="1"/>
          <p:nvPr/>
        </p:nvSpPr>
        <p:spPr>
          <a:xfrm>
            <a:off x="4635094" y="348386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786177" y="4079138"/>
            <a:ext cx="2013509" cy="381305"/>
          </a:xfrm>
          <a:prstGeom prst="rect">
            <a:avLst/>
          </a:prstGeom>
          <a:ln w="31750">
            <a:solidFill>
              <a:srgbClr val="000000">
                <a:alpha val="55000"/>
              </a:srgbClr>
            </a:solidFill>
            <a:prstDash val="solid"/>
          </a:ln>
        </p:spPr>
      </p:sp>
      <p:sp>
        <p:nvSpPr>
          <p:cNvPr id="14" name="Shape 11"/>
          <p:cNvSpPr/>
          <p:nvPr/>
        </p:nvSpPr>
        <p:spPr>
          <a:xfrm>
            <a:off x="2795321" y="4088282"/>
            <a:ext cx="1995221" cy="363017"/>
          </a:xfrm>
          <a:prstGeom prst="rect">
            <a:avLst/>
          </a:prstGeom>
          <a:ln w="19050">
            <a:solidFill>
              <a:srgbClr val="FFB400"/>
            </a:solidFill>
            <a:prstDash val="solid"/>
          </a:ln>
        </p:spPr>
      </p:sp>
      <p:sp>
        <p:nvSpPr>
          <p:cNvPr id="15" name="Shape 12"/>
          <p:cNvSpPr/>
          <p:nvPr/>
        </p:nvSpPr>
        <p:spPr>
          <a:xfrm>
            <a:off x="2649017" y="3941978"/>
            <a:ext cx="256032" cy="256032"/>
          </a:xfrm>
          <a:prstGeom prst="ellipse">
            <a:avLst/>
          </a:prstGeom>
          <a:solidFill>
            <a:srgbClr val="FFB400"/>
          </a:solidFill>
          <a:ln w="9525">
            <a:solidFill>
              <a:srgbClr val="111111"/>
            </a:solidFill>
            <a:prstDash val="solid"/>
          </a:ln>
        </p:spPr>
      </p:sp>
      <p:sp>
        <p:nvSpPr>
          <p:cNvPr id="16" name="Text 13"/>
          <p:cNvSpPr txBox="1"/>
          <p:nvPr/>
        </p:nvSpPr>
        <p:spPr>
          <a:xfrm>
            <a:off x="2649017"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warm-up shots.</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quality test shots.</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Other shots lost on the whole die? Tap </a:t>
            </a:r>
            <a:pPr indent="0" marL="0">
              <a:buNone/>
            </a:pPr>
            <a:r>
              <a:rPr lang="en-US" sz="1700" b="1" dirty="0">
                <a:solidFill>
                  <a:srgbClr val="12263F"/>
                </a:solidFill>
                <a:latin typeface="Calibri" pitchFamily="34" charset="0"/>
                <a:ea typeface="Calibri" pitchFamily="34" charset="-122"/>
                <a:cs typeface="Calibri" pitchFamily="34" charset="-120"/>
              </a:rPr>
              <a:t>Add die-wide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Type shots, not pieces. The screen does the math.</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Check Good on each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3044952" y="3560674"/>
            <a:ext cx="1209751" cy="467258"/>
          </a:xfrm>
          <a:prstGeom prst="rect">
            <a:avLst/>
          </a:prstGeom>
          <a:ln w="31750">
            <a:solidFill>
              <a:srgbClr val="000000">
                <a:alpha val="55000"/>
              </a:srgbClr>
            </a:solidFill>
            <a:prstDash val="solid"/>
          </a:ln>
        </p:spPr>
      </p:sp>
      <p:sp>
        <p:nvSpPr>
          <p:cNvPr id="6" name="Shape 3"/>
          <p:cNvSpPr/>
          <p:nvPr/>
        </p:nvSpPr>
        <p:spPr>
          <a:xfrm>
            <a:off x="3054096" y="3569818"/>
            <a:ext cx="1191463" cy="448970"/>
          </a:xfrm>
          <a:prstGeom prst="rect">
            <a:avLst/>
          </a:prstGeom>
          <a:ln w="19050">
            <a:solidFill>
              <a:srgbClr val="FFB400"/>
            </a:solidFill>
            <a:prstDash val="solid"/>
          </a:ln>
        </p:spPr>
      </p:sp>
      <p:sp>
        <p:nvSpPr>
          <p:cNvPr id="7" name="Shape 4"/>
          <p:cNvSpPr/>
          <p:nvPr/>
        </p:nvSpPr>
        <p:spPr>
          <a:xfrm>
            <a:off x="2907792" y="3423514"/>
            <a:ext cx="256032" cy="256032"/>
          </a:xfrm>
          <a:prstGeom prst="ellipse">
            <a:avLst/>
          </a:prstGeom>
          <a:solidFill>
            <a:srgbClr val="FFB400"/>
          </a:solidFill>
          <a:ln w="9525">
            <a:solidFill>
              <a:srgbClr val="111111"/>
            </a:solidFill>
            <a:prstDash val="solid"/>
          </a:ln>
        </p:spPr>
      </p:sp>
      <p:sp>
        <p:nvSpPr>
          <p:cNvPr id="8" name="Text 5"/>
          <p:cNvSpPr txBox="1"/>
          <p:nvPr/>
        </p:nvSpPr>
        <p:spPr>
          <a:xfrm>
            <a:off x="2907792"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253789" y="3560674"/>
            <a:ext cx="1296619" cy="467258"/>
          </a:xfrm>
          <a:prstGeom prst="rect">
            <a:avLst/>
          </a:prstGeom>
          <a:ln w="31750">
            <a:solidFill>
              <a:srgbClr val="000000">
                <a:alpha val="55000"/>
              </a:srgbClr>
            </a:solidFill>
            <a:prstDash val="solid"/>
          </a:ln>
        </p:spPr>
      </p:sp>
      <p:sp>
        <p:nvSpPr>
          <p:cNvPr id="10" name="Shape 7"/>
          <p:cNvSpPr/>
          <p:nvPr/>
        </p:nvSpPr>
        <p:spPr>
          <a:xfrm>
            <a:off x="4262933" y="3569818"/>
            <a:ext cx="1278331" cy="448970"/>
          </a:xfrm>
          <a:prstGeom prst="rect">
            <a:avLst/>
          </a:prstGeom>
          <a:ln w="19050">
            <a:solidFill>
              <a:srgbClr val="FFB400"/>
            </a:solidFill>
            <a:prstDash val="solid"/>
          </a:ln>
        </p:spPr>
      </p:sp>
      <p:sp>
        <p:nvSpPr>
          <p:cNvPr id="11" name="Shape 8"/>
          <p:cNvSpPr/>
          <p:nvPr/>
        </p:nvSpPr>
        <p:spPr>
          <a:xfrm>
            <a:off x="4116629" y="3423514"/>
            <a:ext cx="256032" cy="256032"/>
          </a:xfrm>
          <a:prstGeom prst="ellipse">
            <a:avLst/>
          </a:prstGeom>
          <a:solidFill>
            <a:srgbClr val="FFB400"/>
          </a:solidFill>
          <a:ln w="9525">
            <a:solidFill>
              <a:srgbClr val="111111"/>
            </a:solidFill>
            <a:prstDash val="solid"/>
          </a:ln>
        </p:spPr>
      </p:sp>
      <p:sp>
        <p:nvSpPr>
          <p:cNvPr id="12" name="Text 9"/>
          <p:cNvSpPr txBox="1"/>
          <p:nvPr/>
        </p:nvSpPr>
        <p:spPr>
          <a:xfrm>
            <a:off x="4116629"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a:t>
            </a:r>
            <a:pPr indent="0" marL="0">
              <a:buNone/>
            </a:pPr>
            <a:r>
              <a:rPr lang="en-US" sz="1700" b="1" dirty="0">
                <a:solidFill>
                  <a:srgbClr val="12263F"/>
                </a:solidFill>
                <a:latin typeface="Calibri" pitchFamily="34" charset="0"/>
                <a:ea typeface="Calibri" pitchFamily="34" charset="-122"/>
                <a:cs typeface="Calibri" pitchFamily="34" charset="-120"/>
              </a:rPr>
              <a:t>Good</a:t>
            </a:r>
            <a:pPr indent="0" marL="0">
              <a:buNone/>
            </a:pPr>
            <a:r>
              <a:rPr lang="en-US" sz="1700" dirty="0">
                <a:solidFill>
                  <a:srgbClr val="1B1B1B"/>
                </a:solidFill>
                <a:latin typeface="Calibri" pitchFamily="34" charset="0"/>
                <a:ea typeface="Calibri" pitchFamily="34" charset="-122"/>
                <a:cs typeface="Calibri" pitchFamily="34" charset="-120"/>
              </a:rPr>
              <a:t> number. Change it if your count is different.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on this cavity? Tap the number under </a:t>
            </a:r>
            <a:pPr indent="0" marL="0">
              <a:buNone/>
            </a:pPr>
            <a:r>
              <a:rPr lang="en-US" sz="1700" b="1" dirty="0">
                <a:solidFill>
                  <a:srgbClr val="12263F"/>
                </a:solidFill>
                <a:latin typeface="Calibri" pitchFamily="34" charset="0"/>
                <a:ea typeface="Calibri" pitchFamily="34" charset="-122"/>
                <a:cs typeface="Calibri" pitchFamily="34" charset="-120"/>
              </a:rPr>
              <a:t>Cavity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Add scrap on a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713232" y="4160520"/>
            <a:ext cx="6503213" cy="222199"/>
          </a:xfrm>
          <a:prstGeom prst="rect">
            <a:avLst/>
          </a:prstGeom>
          <a:ln w="31750">
            <a:solidFill>
              <a:srgbClr val="000000">
                <a:alpha val="55000"/>
              </a:srgbClr>
            </a:solidFill>
            <a:prstDash val="solid"/>
          </a:ln>
        </p:spPr>
      </p:sp>
      <p:sp>
        <p:nvSpPr>
          <p:cNvPr id="6" name="Shape 3"/>
          <p:cNvSpPr/>
          <p:nvPr/>
        </p:nvSpPr>
        <p:spPr>
          <a:xfrm>
            <a:off x="722376" y="4169664"/>
            <a:ext cx="6484925" cy="203911"/>
          </a:xfrm>
          <a:prstGeom prst="rect">
            <a:avLst/>
          </a:prstGeom>
          <a:ln w="19050">
            <a:solidFill>
              <a:srgbClr val="FFB400"/>
            </a:solidFill>
            <a:prstDash val="solid"/>
          </a:ln>
        </p:spPr>
      </p:sp>
      <p:sp>
        <p:nvSpPr>
          <p:cNvPr id="7" name="Shape 4"/>
          <p:cNvSpPr/>
          <p:nvPr/>
        </p:nvSpPr>
        <p:spPr>
          <a:xfrm>
            <a:off x="576072" y="4023360"/>
            <a:ext cx="256032" cy="256032"/>
          </a:xfrm>
          <a:prstGeom prst="ellipse">
            <a:avLst/>
          </a:prstGeom>
          <a:solidFill>
            <a:srgbClr val="FFB400"/>
          </a:solidFill>
          <a:ln w="9525">
            <a:solidFill>
              <a:srgbClr val="111111"/>
            </a:solidFill>
            <a:prstDash val="solid"/>
          </a:ln>
        </p:spPr>
      </p:sp>
      <p:sp>
        <p:nvSpPr>
          <p:cNvPr id="8" name="Text 5"/>
          <p:cNvSpPr txBox="1"/>
          <p:nvPr/>
        </p:nvSpPr>
        <p:spPr>
          <a:xfrm>
            <a:off x="576072"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7198157" y="4160520"/>
            <a:ext cx="494690" cy="222199"/>
          </a:xfrm>
          <a:prstGeom prst="rect">
            <a:avLst/>
          </a:prstGeom>
          <a:ln w="31750">
            <a:solidFill>
              <a:srgbClr val="000000">
                <a:alpha val="55000"/>
              </a:srgbClr>
            </a:solidFill>
            <a:prstDash val="solid"/>
          </a:ln>
        </p:spPr>
      </p:sp>
      <p:sp>
        <p:nvSpPr>
          <p:cNvPr id="10" name="Shape 7"/>
          <p:cNvSpPr/>
          <p:nvPr/>
        </p:nvSpPr>
        <p:spPr>
          <a:xfrm>
            <a:off x="7207301" y="4169664"/>
            <a:ext cx="476402" cy="203911"/>
          </a:xfrm>
          <a:prstGeom prst="rect">
            <a:avLst/>
          </a:prstGeom>
          <a:ln w="19050">
            <a:solidFill>
              <a:srgbClr val="FFB400"/>
            </a:solidFill>
            <a:prstDash val="solid"/>
          </a:ln>
        </p:spPr>
      </p:sp>
      <p:sp>
        <p:nvSpPr>
          <p:cNvPr id="11" name="Shape 8"/>
          <p:cNvSpPr/>
          <p:nvPr/>
        </p:nvSpPr>
        <p:spPr>
          <a:xfrm>
            <a:off x="7060997" y="4023360"/>
            <a:ext cx="256032" cy="256032"/>
          </a:xfrm>
          <a:prstGeom prst="ellipse">
            <a:avLst/>
          </a:prstGeom>
          <a:solidFill>
            <a:srgbClr val="FFB400"/>
          </a:solidFill>
          <a:ln w="9525">
            <a:solidFill>
              <a:srgbClr val="111111"/>
            </a:solidFill>
            <a:prstDash val="solid"/>
          </a:ln>
        </p:spPr>
      </p:sp>
      <p:sp>
        <p:nvSpPr>
          <p:cNvPr id="12" name="Text 9"/>
          <p:cNvSpPr txBox="1"/>
          <p:nvPr/>
        </p:nvSpPr>
        <p:spPr>
          <a:xfrm>
            <a:off x="7060997"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713232" y="4379062"/>
            <a:ext cx="1072591" cy="251460"/>
          </a:xfrm>
          <a:prstGeom prst="rect">
            <a:avLst/>
          </a:prstGeom>
          <a:ln w="31750">
            <a:solidFill>
              <a:srgbClr val="000000">
                <a:alpha val="55000"/>
              </a:srgbClr>
            </a:solidFill>
            <a:prstDash val="solid"/>
          </a:ln>
        </p:spPr>
      </p:sp>
      <p:sp>
        <p:nvSpPr>
          <p:cNvPr id="14" name="Shape 11"/>
          <p:cNvSpPr/>
          <p:nvPr/>
        </p:nvSpPr>
        <p:spPr>
          <a:xfrm>
            <a:off x="722376" y="4388206"/>
            <a:ext cx="1054303" cy="233172"/>
          </a:xfrm>
          <a:prstGeom prst="rect">
            <a:avLst/>
          </a:prstGeom>
          <a:ln w="19050">
            <a:solidFill>
              <a:srgbClr val="FFB400"/>
            </a:solidFill>
            <a:prstDash val="solid"/>
          </a:ln>
        </p:spPr>
      </p:sp>
      <p:sp>
        <p:nvSpPr>
          <p:cNvPr id="15" name="Shape 12"/>
          <p:cNvSpPr/>
          <p:nvPr/>
        </p:nvSpPr>
        <p:spPr>
          <a:xfrm>
            <a:off x="576072" y="4241902"/>
            <a:ext cx="256032" cy="256032"/>
          </a:xfrm>
          <a:prstGeom prst="ellipse">
            <a:avLst/>
          </a:prstGeom>
          <a:solidFill>
            <a:srgbClr val="FFB400"/>
          </a:solidFill>
          <a:ln w="9525">
            <a:solidFill>
              <a:srgbClr val="111111"/>
            </a:solidFill>
            <a:prstDash val="solid"/>
          </a:ln>
        </p:spPr>
      </p:sp>
      <p:sp>
        <p:nvSpPr>
          <p:cNvPr id="16" name="Text 13"/>
          <p:cNvSpPr txBox="1"/>
          <p:nvPr/>
        </p:nvSpPr>
        <p:spPr>
          <a:xfrm>
            <a:off x="576072" y="424190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the scrap reason.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how many.</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More than one reason?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An amber number needs a reason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29277" y="2653589"/>
            <a:ext cx="968350" cy="467258"/>
          </a:xfrm>
          <a:prstGeom prst="rect">
            <a:avLst/>
          </a:prstGeom>
          <a:ln w="31750">
            <a:solidFill>
              <a:srgbClr val="000000">
                <a:alpha val="55000"/>
              </a:srgbClr>
            </a:solidFill>
            <a:prstDash val="solid"/>
          </a:ln>
        </p:spPr>
      </p:sp>
      <p:sp>
        <p:nvSpPr>
          <p:cNvPr id="6" name="Shape 3"/>
          <p:cNvSpPr/>
          <p:nvPr/>
        </p:nvSpPr>
        <p:spPr>
          <a:xfrm>
            <a:off x="4738421" y="2662733"/>
            <a:ext cx="950062" cy="448970"/>
          </a:xfrm>
          <a:prstGeom prst="rect">
            <a:avLst/>
          </a:prstGeom>
          <a:ln w="19050">
            <a:solidFill>
              <a:srgbClr val="FFB400"/>
            </a:solidFill>
            <a:prstDash val="solid"/>
          </a:ln>
        </p:spPr>
      </p:sp>
      <p:sp>
        <p:nvSpPr>
          <p:cNvPr id="7" name="Shape 4"/>
          <p:cNvSpPr/>
          <p:nvPr/>
        </p:nvSpPr>
        <p:spPr>
          <a:xfrm>
            <a:off x="4592117" y="2516429"/>
            <a:ext cx="256032" cy="256032"/>
          </a:xfrm>
          <a:prstGeom prst="ellipse">
            <a:avLst/>
          </a:prstGeom>
          <a:solidFill>
            <a:srgbClr val="FFB400"/>
          </a:solidFill>
          <a:ln w="9525">
            <a:solidFill>
              <a:srgbClr val="111111"/>
            </a:solidFill>
            <a:prstDash val="solid"/>
          </a:ln>
        </p:spPr>
      </p:sp>
      <p:sp>
        <p:nvSpPr>
          <p:cNvPr id="8" name="Text 5"/>
          <p:cNvSpPr txBox="1"/>
          <p:nvPr/>
        </p:nvSpPr>
        <p:spPr>
          <a:xfrm>
            <a:off x="4592117" y="25164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3952037" y="5633618"/>
            <a:ext cx="1572768" cy="268834"/>
          </a:xfrm>
          <a:prstGeom prst="rect">
            <a:avLst/>
          </a:prstGeom>
          <a:ln w="31750">
            <a:solidFill>
              <a:srgbClr val="000000">
                <a:alpha val="55000"/>
              </a:srgbClr>
            </a:solidFill>
            <a:prstDash val="solid"/>
          </a:ln>
        </p:spPr>
      </p:sp>
      <p:sp>
        <p:nvSpPr>
          <p:cNvPr id="10" name="Shape 7"/>
          <p:cNvSpPr/>
          <p:nvPr/>
        </p:nvSpPr>
        <p:spPr>
          <a:xfrm>
            <a:off x="3961181" y="5642762"/>
            <a:ext cx="1554480" cy="250546"/>
          </a:xfrm>
          <a:prstGeom prst="rect">
            <a:avLst/>
          </a:prstGeom>
          <a:ln w="19050">
            <a:solidFill>
              <a:srgbClr val="FFB400"/>
            </a:solidFill>
            <a:prstDash val="solid"/>
          </a:ln>
        </p:spPr>
      </p:sp>
      <p:sp>
        <p:nvSpPr>
          <p:cNvPr id="11" name="Shape 8"/>
          <p:cNvSpPr/>
          <p:nvPr/>
        </p:nvSpPr>
        <p:spPr>
          <a:xfrm>
            <a:off x="3814877" y="5496458"/>
            <a:ext cx="256032" cy="256032"/>
          </a:xfrm>
          <a:prstGeom prst="ellipse">
            <a:avLst/>
          </a:prstGeom>
          <a:solidFill>
            <a:srgbClr val="FFB400"/>
          </a:solidFill>
          <a:ln w="9525">
            <a:solidFill>
              <a:srgbClr val="111111"/>
            </a:solidFill>
            <a:prstDash val="solid"/>
          </a:ln>
        </p:spPr>
      </p:sp>
      <p:sp>
        <p:nvSpPr>
          <p:cNvPr id="12" name="Text 9"/>
          <p:cNvSpPr txBox="1"/>
          <p:nvPr/>
        </p:nvSpPr>
        <p:spPr>
          <a:xfrm>
            <a:off x="3814877" y="549645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557723" y="5486400"/>
            <a:ext cx="2280514" cy="570586"/>
          </a:xfrm>
          <a:prstGeom prst="rect">
            <a:avLst/>
          </a:prstGeom>
          <a:ln w="31750">
            <a:solidFill>
              <a:srgbClr val="000000">
                <a:alpha val="55000"/>
              </a:srgbClr>
            </a:solidFill>
            <a:prstDash val="solid"/>
          </a:ln>
        </p:spPr>
      </p:sp>
      <p:sp>
        <p:nvSpPr>
          <p:cNvPr id="14" name="Shape 11"/>
          <p:cNvSpPr/>
          <p:nvPr/>
        </p:nvSpPr>
        <p:spPr>
          <a:xfrm>
            <a:off x="5566867" y="5495544"/>
            <a:ext cx="2262226" cy="552298"/>
          </a:xfrm>
          <a:prstGeom prst="rect">
            <a:avLst/>
          </a:prstGeom>
          <a:ln w="19050">
            <a:solidFill>
              <a:srgbClr val="FFB400"/>
            </a:solidFill>
            <a:prstDash val="solid"/>
          </a:ln>
        </p:spPr>
      </p:sp>
      <p:sp>
        <p:nvSpPr>
          <p:cNvPr id="15" name="Shape 12"/>
          <p:cNvSpPr/>
          <p:nvPr/>
        </p:nvSpPr>
        <p:spPr>
          <a:xfrm>
            <a:off x="5420563" y="5349240"/>
            <a:ext cx="256032" cy="256032"/>
          </a:xfrm>
          <a:prstGeom prst="ellipse">
            <a:avLst/>
          </a:prstGeom>
          <a:solidFill>
            <a:srgbClr val="FFB400"/>
          </a:solidFill>
          <a:ln w="9525">
            <a:solidFill>
              <a:srgbClr val="111111"/>
            </a:solidFill>
            <a:prstDash val="solid"/>
          </a:ln>
        </p:spPr>
      </p:sp>
      <p:sp>
        <p:nvSpPr>
          <p:cNvPr id="16" name="Text 13"/>
          <p:cNvSpPr txBox="1"/>
          <p:nvPr/>
        </p:nvSpPr>
        <p:spPr>
          <a:xfrm>
            <a:off x="5420563" y="53492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This cavity does not add up. The number turns amber.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screen names the cavity that needs a reason.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 stays grey until each amber number has a reason.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Give a reason, then send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150815"/>
          </a:xfrm>
          <a:prstGeom prst="rect">
            <a:avLst/>
          </a:prstGeom>
        </p:spPr>
      </p:pic>
      <p:sp>
        <p:nvSpPr>
          <p:cNvPr id="5" name="Shape 2"/>
          <p:cNvSpPr/>
          <p:nvPr/>
        </p:nvSpPr>
        <p:spPr>
          <a:xfrm>
            <a:off x="6119165" y="4028846"/>
            <a:ext cx="585216" cy="286207"/>
          </a:xfrm>
          <a:prstGeom prst="rect">
            <a:avLst/>
          </a:prstGeom>
          <a:ln w="31750">
            <a:solidFill>
              <a:srgbClr val="000000">
                <a:alpha val="55000"/>
              </a:srgbClr>
            </a:solidFill>
            <a:prstDash val="solid"/>
          </a:ln>
        </p:spPr>
      </p:sp>
      <p:sp>
        <p:nvSpPr>
          <p:cNvPr id="6" name="Shape 3"/>
          <p:cNvSpPr/>
          <p:nvPr/>
        </p:nvSpPr>
        <p:spPr>
          <a:xfrm>
            <a:off x="6128309" y="4037990"/>
            <a:ext cx="566928" cy="267919"/>
          </a:xfrm>
          <a:prstGeom prst="rect">
            <a:avLst/>
          </a:prstGeom>
          <a:ln w="19050">
            <a:solidFill>
              <a:srgbClr val="FFB400"/>
            </a:solidFill>
            <a:prstDash val="solid"/>
          </a:ln>
        </p:spPr>
      </p:sp>
      <p:sp>
        <p:nvSpPr>
          <p:cNvPr id="7" name="Shape 4"/>
          <p:cNvSpPr/>
          <p:nvPr/>
        </p:nvSpPr>
        <p:spPr>
          <a:xfrm>
            <a:off x="5982005" y="3891686"/>
            <a:ext cx="256032" cy="256032"/>
          </a:xfrm>
          <a:prstGeom prst="ellipse">
            <a:avLst/>
          </a:prstGeom>
          <a:solidFill>
            <a:srgbClr val="FFB400"/>
          </a:solidFill>
          <a:ln w="9525">
            <a:solidFill>
              <a:srgbClr val="111111"/>
            </a:solidFill>
            <a:prstDash val="solid"/>
          </a:ln>
        </p:spPr>
      </p:sp>
      <p:sp>
        <p:nvSpPr>
          <p:cNvPr id="8" name="Text 5"/>
          <p:cNvSpPr txBox="1"/>
          <p:nvPr/>
        </p:nvSpPr>
        <p:spPr>
          <a:xfrm>
            <a:off x="5982005" y="38916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077163" y="4811573"/>
            <a:ext cx="6853428" cy="235001"/>
          </a:xfrm>
          <a:prstGeom prst="rect">
            <a:avLst/>
          </a:prstGeom>
          <a:ln w="31750">
            <a:solidFill>
              <a:srgbClr val="000000">
                <a:alpha val="55000"/>
              </a:srgbClr>
            </a:solidFill>
            <a:prstDash val="solid"/>
          </a:ln>
        </p:spPr>
      </p:sp>
      <p:sp>
        <p:nvSpPr>
          <p:cNvPr id="10" name="Shape 7"/>
          <p:cNvSpPr/>
          <p:nvPr/>
        </p:nvSpPr>
        <p:spPr>
          <a:xfrm>
            <a:off x="1086307" y="4820717"/>
            <a:ext cx="6835140" cy="216713"/>
          </a:xfrm>
          <a:prstGeom prst="rect">
            <a:avLst/>
          </a:prstGeom>
          <a:ln w="19050">
            <a:solidFill>
              <a:srgbClr val="FFB400"/>
            </a:solidFill>
            <a:prstDash val="solid"/>
          </a:ln>
        </p:spPr>
      </p:sp>
      <p:sp>
        <p:nvSpPr>
          <p:cNvPr id="11" name="Shape 8"/>
          <p:cNvSpPr/>
          <p:nvPr/>
        </p:nvSpPr>
        <p:spPr>
          <a:xfrm>
            <a:off x="940003" y="4674413"/>
            <a:ext cx="256032" cy="256032"/>
          </a:xfrm>
          <a:prstGeom prst="ellipse">
            <a:avLst/>
          </a:prstGeom>
          <a:solidFill>
            <a:srgbClr val="FFB400"/>
          </a:solidFill>
          <a:ln w="9525">
            <a:solidFill>
              <a:srgbClr val="111111"/>
            </a:solidFill>
            <a:prstDash val="solid"/>
          </a:ln>
        </p:spPr>
      </p:sp>
      <p:sp>
        <p:nvSpPr>
          <p:cNvPr id="12" name="Text 9"/>
          <p:cNvSpPr txBox="1"/>
          <p:nvPr/>
        </p:nvSpPr>
        <p:spPr>
          <a:xfrm>
            <a:off x="940003" y="46744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6613855" y="5717743"/>
            <a:ext cx="1367942" cy="348386"/>
          </a:xfrm>
          <a:prstGeom prst="rect">
            <a:avLst/>
          </a:prstGeom>
          <a:ln w="31750">
            <a:solidFill>
              <a:srgbClr val="000000">
                <a:alpha val="55000"/>
              </a:srgbClr>
            </a:solidFill>
            <a:prstDash val="solid"/>
          </a:ln>
        </p:spPr>
      </p:sp>
      <p:sp>
        <p:nvSpPr>
          <p:cNvPr id="14" name="Shape 11"/>
          <p:cNvSpPr/>
          <p:nvPr/>
        </p:nvSpPr>
        <p:spPr>
          <a:xfrm>
            <a:off x="6622999" y="5726887"/>
            <a:ext cx="1349654" cy="330098"/>
          </a:xfrm>
          <a:prstGeom prst="rect">
            <a:avLst/>
          </a:prstGeom>
          <a:ln w="19050">
            <a:solidFill>
              <a:srgbClr val="FFB400"/>
            </a:solidFill>
            <a:prstDash val="solid"/>
          </a:ln>
        </p:spPr>
      </p:sp>
      <p:sp>
        <p:nvSpPr>
          <p:cNvPr id="15" name="Shape 12"/>
          <p:cNvSpPr/>
          <p:nvPr/>
        </p:nvSpPr>
        <p:spPr>
          <a:xfrm>
            <a:off x="6476695" y="5580583"/>
            <a:ext cx="256032" cy="256032"/>
          </a:xfrm>
          <a:prstGeom prst="ellipse">
            <a:avLst/>
          </a:prstGeom>
          <a:solidFill>
            <a:srgbClr val="FFB400"/>
          </a:solidFill>
          <a:ln w="9525">
            <a:solidFill>
              <a:srgbClr val="111111"/>
            </a:solidFill>
            <a:prstDash val="solid"/>
          </a:ln>
        </p:spPr>
      </p:sp>
      <p:sp>
        <p:nvSpPr>
          <p:cNvPr id="16" name="Text 13"/>
          <p:cNvSpPr txBox="1"/>
          <p:nvPr/>
        </p:nvSpPr>
        <p:spPr>
          <a:xfrm>
            <a:off x="6476695" y="558058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amber number.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a reason. Not sure? Pick </a:t>
            </a:r>
            <a:pPr indent="0" marL="0">
              <a:buNone/>
            </a:pPr>
            <a:r>
              <a:rPr lang="en-US" sz="1700" b="1" dirty="0">
                <a:solidFill>
                  <a:srgbClr val="12263F"/>
                </a:solidFill>
                <a:latin typeface="Calibri" pitchFamily="34" charset="0"/>
                <a:ea typeface="Calibri" pitchFamily="34" charset="-122"/>
                <a:cs typeface="Calibri" pitchFamily="34" charset="-120"/>
              </a:rPr>
              <a:t>Unknown</a:t>
            </a:r>
            <a:pPr indent="0" marL="0">
              <a:buNone/>
            </a:pPr>
            <a:r>
              <a:rPr lang="en-US" sz="1700" dirty="0">
                <a:solidFill>
                  <a:srgbClr val="1B1B1B"/>
                </a:solidFill>
                <a:latin typeface="Calibri" pitchFamily="34" charset="0"/>
                <a:ea typeface="Calibri" pitchFamily="34" charset="-122"/>
                <a:cs typeface="Calibri" pitchFamily="34" charset="-120"/>
              </a:rPr>
              <a:t> and add a short note.</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Unknown is an honest answer. Do not guess a defect.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counter was reset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1533449" y="2058314"/>
            <a:ext cx="1555394" cy="381305"/>
          </a:xfrm>
          <a:prstGeom prst="rect">
            <a:avLst/>
          </a:prstGeom>
          <a:ln w="31750">
            <a:solidFill>
              <a:srgbClr val="000000">
                <a:alpha val="55000"/>
              </a:srgbClr>
            </a:solidFill>
            <a:prstDash val="solid"/>
          </a:ln>
        </p:spPr>
      </p:sp>
      <p:sp>
        <p:nvSpPr>
          <p:cNvPr id="6" name="Shape 3"/>
          <p:cNvSpPr/>
          <p:nvPr/>
        </p:nvSpPr>
        <p:spPr>
          <a:xfrm>
            <a:off x="1542593" y="2067458"/>
            <a:ext cx="1537106" cy="363017"/>
          </a:xfrm>
          <a:prstGeom prst="rect">
            <a:avLst/>
          </a:prstGeom>
          <a:ln w="19050">
            <a:solidFill>
              <a:srgbClr val="FFB400"/>
            </a:solidFill>
            <a:prstDash val="solid"/>
          </a:ln>
        </p:spPr>
      </p:sp>
      <p:sp>
        <p:nvSpPr>
          <p:cNvPr id="7" name="Shape 4"/>
          <p:cNvSpPr/>
          <p:nvPr/>
        </p:nvSpPr>
        <p:spPr>
          <a:xfrm>
            <a:off x="1396289" y="1921154"/>
            <a:ext cx="256032" cy="256032"/>
          </a:xfrm>
          <a:prstGeom prst="ellipse">
            <a:avLst/>
          </a:prstGeom>
          <a:solidFill>
            <a:srgbClr val="FFB400"/>
          </a:solidFill>
          <a:ln w="9525">
            <a:solidFill>
              <a:srgbClr val="111111"/>
            </a:solidFill>
            <a:prstDash val="solid"/>
          </a:ln>
        </p:spPr>
      </p:sp>
      <p:sp>
        <p:nvSpPr>
          <p:cNvPr id="8" name="Text 5"/>
          <p:cNvSpPr txBox="1"/>
          <p:nvPr/>
        </p:nvSpPr>
        <p:spPr>
          <a:xfrm>
            <a:off x="1396289" y="192115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533449" y="2507285"/>
            <a:ext cx="5528462" cy="709574"/>
          </a:xfrm>
          <a:prstGeom prst="rect">
            <a:avLst/>
          </a:prstGeom>
          <a:ln w="31750">
            <a:solidFill>
              <a:srgbClr val="000000">
                <a:alpha val="55000"/>
              </a:srgbClr>
            </a:solidFill>
            <a:prstDash val="solid"/>
          </a:ln>
        </p:spPr>
      </p:sp>
      <p:sp>
        <p:nvSpPr>
          <p:cNvPr id="10" name="Shape 7"/>
          <p:cNvSpPr/>
          <p:nvPr/>
        </p:nvSpPr>
        <p:spPr>
          <a:xfrm>
            <a:off x="1542593" y="2516429"/>
            <a:ext cx="5510174" cy="691286"/>
          </a:xfrm>
          <a:prstGeom prst="rect">
            <a:avLst/>
          </a:prstGeom>
          <a:ln w="19050">
            <a:solidFill>
              <a:srgbClr val="FFB400"/>
            </a:solidFill>
            <a:prstDash val="solid"/>
          </a:ln>
        </p:spPr>
      </p:sp>
      <p:sp>
        <p:nvSpPr>
          <p:cNvPr id="11" name="Shape 8"/>
          <p:cNvSpPr/>
          <p:nvPr/>
        </p:nvSpPr>
        <p:spPr>
          <a:xfrm>
            <a:off x="1396289" y="2370125"/>
            <a:ext cx="256032" cy="256032"/>
          </a:xfrm>
          <a:prstGeom prst="ellipse">
            <a:avLst/>
          </a:prstGeom>
          <a:solidFill>
            <a:srgbClr val="FFB400"/>
          </a:solidFill>
          <a:ln w="9525">
            <a:solidFill>
              <a:srgbClr val="111111"/>
            </a:solidFill>
            <a:prstDash val="solid"/>
          </a:ln>
        </p:spPr>
      </p:sp>
      <p:sp>
        <p:nvSpPr>
          <p:cNvPr id="12" name="Text 9"/>
          <p:cNvSpPr txBox="1"/>
          <p:nvPr/>
        </p:nvSpPr>
        <p:spPr>
          <a:xfrm>
            <a:off x="1396289" y="2370125"/>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533449" y="3473806"/>
            <a:ext cx="5528462" cy="268834"/>
          </a:xfrm>
          <a:prstGeom prst="rect">
            <a:avLst/>
          </a:prstGeom>
          <a:ln w="31750">
            <a:solidFill>
              <a:srgbClr val="000000">
                <a:alpha val="55000"/>
              </a:srgbClr>
            </a:solidFill>
            <a:prstDash val="solid"/>
          </a:ln>
        </p:spPr>
      </p:sp>
      <p:sp>
        <p:nvSpPr>
          <p:cNvPr id="14" name="Shape 11"/>
          <p:cNvSpPr/>
          <p:nvPr/>
        </p:nvSpPr>
        <p:spPr>
          <a:xfrm>
            <a:off x="1542593" y="3482950"/>
            <a:ext cx="5510174" cy="250546"/>
          </a:xfrm>
          <a:prstGeom prst="rect">
            <a:avLst/>
          </a:prstGeom>
          <a:ln w="19050">
            <a:solidFill>
              <a:srgbClr val="FFB400"/>
            </a:solidFill>
            <a:prstDash val="solid"/>
          </a:ln>
        </p:spPr>
      </p:sp>
      <p:sp>
        <p:nvSpPr>
          <p:cNvPr id="15" name="Shape 12"/>
          <p:cNvSpPr/>
          <p:nvPr/>
        </p:nvSpPr>
        <p:spPr>
          <a:xfrm>
            <a:off x="1396289" y="3336646"/>
            <a:ext cx="256032" cy="256032"/>
          </a:xfrm>
          <a:prstGeom prst="ellipse">
            <a:avLst/>
          </a:prstGeom>
          <a:solidFill>
            <a:srgbClr val="FFB400"/>
          </a:solidFill>
          <a:ln w="9525">
            <a:solidFill>
              <a:srgbClr val="111111"/>
            </a:solidFill>
            <a:prstDash val="solid"/>
          </a:ln>
        </p:spPr>
      </p:sp>
      <p:sp>
        <p:nvSpPr>
          <p:cNvPr id="16" name="Text 13"/>
          <p:cNvSpPr txBox="1"/>
          <p:nvPr/>
        </p:nvSpPr>
        <p:spPr>
          <a:xfrm>
            <a:off x="1396289" y="33366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910328" y="4959706"/>
            <a:ext cx="2151583" cy="570586"/>
          </a:xfrm>
          <a:prstGeom prst="rect">
            <a:avLst/>
          </a:prstGeom>
          <a:ln w="31750">
            <a:solidFill>
              <a:srgbClr val="000000">
                <a:alpha val="55000"/>
              </a:srgbClr>
            </a:solidFill>
            <a:prstDash val="solid"/>
          </a:ln>
        </p:spPr>
      </p:sp>
      <p:sp>
        <p:nvSpPr>
          <p:cNvPr id="18" name="Shape 15"/>
          <p:cNvSpPr/>
          <p:nvPr/>
        </p:nvSpPr>
        <p:spPr>
          <a:xfrm>
            <a:off x="4919472" y="4968850"/>
            <a:ext cx="2133295" cy="552298"/>
          </a:xfrm>
          <a:prstGeom prst="rect">
            <a:avLst/>
          </a:prstGeom>
          <a:ln w="19050">
            <a:solidFill>
              <a:srgbClr val="FFB400"/>
            </a:solidFill>
            <a:prstDash val="solid"/>
          </a:ln>
        </p:spPr>
      </p:sp>
      <p:sp>
        <p:nvSpPr>
          <p:cNvPr id="19" name="Shape 16"/>
          <p:cNvSpPr/>
          <p:nvPr/>
        </p:nvSpPr>
        <p:spPr>
          <a:xfrm>
            <a:off x="4773168" y="4822546"/>
            <a:ext cx="256032" cy="256032"/>
          </a:xfrm>
          <a:prstGeom prst="ellipse">
            <a:avLst/>
          </a:prstGeom>
          <a:solidFill>
            <a:srgbClr val="FFB400"/>
          </a:solidFill>
          <a:ln w="9525">
            <a:solidFill>
              <a:srgbClr val="111111"/>
            </a:solidFill>
            <a:prstDash val="solid"/>
          </a:ln>
        </p:spPr>
      </p:sp>
      <p:sp>
        <p:nvSpPr>
          <p:cNvPr id="20" name="Text 17"/>
          <p:cNvSpPr txBox="1"/>
          <p:nvPr/>
        </p:nvSpPr>
        <p:spPr>
          <a:xfrm>
            <a:off x="4773168" y="48225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Fix counter</a:t>
            </a:r>
            <a:pPr indent="0" marL="0">
              <a:buNone/>
            </a:pPr>
            <a:r>
              <a:rPr lang="en-US" sz="1700" dirty="0">
                <a:solidFill>
                  <a:srgbClr val="1B1B1B"/>
                </a:solidFill>
                <a:latin typeface="Calibri" pitchFamily="34" charset="0"/>
                <a:ea typeface="Calibri" pitchFamily="34" charset="-122"/>
                <a:cs typeface="Calibri" pitchFamily="34" charset="-120"/>
              </a:rPr>
              <a:t>. Type what the counter shows now.</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why it moved.</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Add a short note if you can.</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Record this reading</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3" name="Text 30"/>
          <p:cNvSpPr txBox="1"/>
          <p:nvPr/>
        </p:nvSpPr>
        <p:spPr>
          <a:xfrm>
            <a:off x="8458200" y="48920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Counter was set to zero? Type 0.</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When the machine stops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69657" cy="5303520"/>
          </a:xfrm>
          <a:prstGeom prst="rect">
            <a:avLst/>
          </a:prstGeom>
        </p:spPr>
      </p:pic>
      <p:sp>
        <p:nvSpPr>
          <p:cNvPr id="5" name="Shape 2"/>
          <p:cNvSpPr/>
          <p:nvPr/>
        </p:nvSpPr>
        <p:spPr>
          <a:xfrm>
            <a:off x="6022238" y="1259129"/>
            <a:ext cx="755294" cy="247802"/>
          </a:xfrm>
          <a:prstGeom prst="rect">
            <a:avLst/>
          </a:prstGeom>
          <a:ln w="31750">
            <a:solidFill>
              <a:srgbClr val="000000">
                <a:alpha val="55000"/>
              </a:srgbClr>
            </a:solidFill>
            <a:prstDash val="solid"/>
          </a:ln>
        </p:spPr>
      </p:sp>
      <p:sp>
        <p:nvSpPr>
          <p:cNvPr id="6" name="Shape 3"/>
          <p:cNvSpPr/>
          <p:nvPr/>
        </p:nvSpPr>
        <p:spPr>
          <a:xfrm>
            <a:off x="6031382" y="1268273"/>
            <a:ext cx="737006" cy="229514"/>
          </a:xfrm>
          <a:prstGeom prst="rect">
            <a:avLst/>
          </a:prstGeom>
          <a:ln w="19050">
            <a:solidFill>
              <a:srgbClr val="FFB400"/>
            </a:solidFill>
            <a:prstDash val="solid"/>
          </a:ln>
        </p:spPr>
      </p:sp>
      <p:sp>
        <p:nvSpPr>
          <p:cNvPr id="7" name="Shape 4"/>
          <p:cNvSpPr/>
          <p:nvPr/>
        </p:nvSpPr>
        <p:spPr>
          <a:xfrm>
            <a:off x="5885078"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5885078"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31206" y="2263140"/>
            <a:ext cx="656539" cy="225857"/>
          </a:xfrm>
          <a:prstGeom prst="rect">
            <a:avLst/>
          </a:prstGeom>
          <a:ln w="31750">
            <a:solidFill>
              <a:srgbClr val="000000">
                <a:alpha val="55000"/>
              </a:srgbClr>
            </a:solidFill>
            <a:prstDash val="solid"/>
          </a:ln>
        </p:spPr>
      </p:sp>
      <p:sp>
        <p:nvSpPr>
          <p:cNvPr id="10" name="Shape 7"/>
          <p:cNvSpPr/>
          <p:nvPr/>
        </p:nvSpPr>
        <p:spPr>
          <a:xfrm>
            <a:off x="5540350" y="2272284"/>
            <a:ext cx="638251" cy="207569"/>
          </a:xfrm>
          <a:prstGeom prst="rect">
            <a:avLst/>
          </a:prstGeom>
          <a:ln w="19050">
            <a:solidFill>
              <a:srgbClr val="FFB400"/>
            </a:solidFill>
            <a:prstDash val="solid"/>
          </a:ln>
        </p:spPr>
      </p:sp>
      <p:sp>
        <p:nvSpPr>
          <p:cNvPr id="11" name="Shape 8"/>
          <p:cNvSpPr/>
          <p:nvPr/>
        </p:nvSpPr>
        <p:spPr>
          <a:xfrm>
            <a:off x="5394046" y="2125980"/>
            <a:ext cx="256032" cy="256032"/>
          </a:xfrm>
          <a:prstGeom prst="ellipse">
            <a:avLst/>
          </a:prstGeom>
          <a:solidFill>
            <a:srgbClr val="FFB400"/>
          </a:solidFill>
          <a:ln w="9525">
            <a:solidFill>
              <a:srgbClr val="111111"/>
            </a:solidFill>
            <a:prstDash val="solid"/>
          </a:ln>
        </p:spPr>
      </p:sp>
      <p:sp>
        <p:nvSpPr>
          <p:cNvPr id="12" name="Text 9"/>
          <p:cNvSpPr txBox="1"/>
          <p:nvPr/>
        </p:nvSpPr>
        <p:spPr>
          <a:xfrm>
            <a:off x="5394046" y="212598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820570" y="5394960"/>
            <a:ext cx="1000354" cy="247802"/>
          </a:xfrm>
          <a:prstGeom prst="rect">
            <a:avLst/>
          </a:prstGeom>
          <a:ln w="31750">
            <a:solidFill>
              <a:srgbClr val="000000">
                <a:alpha val="55000"/>
              </a:srgbClr>
            </a:solidFill>
            <a:prstDash val="solid"/>
          </a:ln>
        </p:spPr>
      </p:sp>
      <p:sp>
        <p:nvSpPr>
          <p:cNvPr id="14" name="Shape 11"/>
          <p:cNvSpPr/>
          <p:nvPr/>
        </p:nvSpPr>
        <p:spPr>
          <a:xfrm>
            <a:off x="1829714" y="5404104"/>
            <a:ext cx="982066" cy="229514"/>
          </a:xfrm>
          <a:prstGeom prst="rect">
            <a:avLst/>
          </a:prstGeom>
          <a:ln w="19050">
            <a:solidFill>
              <a:srgbClr val="FFB400"/>
            </a:solidFill>
            <a:prstDash val="solid"/>
          </a:ln>
        </p:spPr>
      </p:sp>
      <p:sp>
        <p:nvSpPr>
          <p:cNvPr id="15" name="Shape 12"/>
          <p:cNvSpPr/>
          <p:nvPr/>
        </p:nvSpPr>
        <p:spPr>
          <a:xfrm>
            <a:off x="1683410" y="5257800"/>
            <a:ext cx="256032" cy="256032"/>
          </a:xfrm>
          <a:prstGeom prst="ellipse">
            <a:avLst/>
          </a:prstGeom>
          <a:solidFill>
            <a:srgbClr val="FFB400"/>
          </a:solidFill>
          <a:ln w="9525">
            <a:solidFill>
              <a:srgbClr val="111111"/>
            </a:solidFill>
            <a:prstDash val="solid"/>
          </a:ln>
        </p:spPr>
      </p:sp>
      <p:sp>
        <p:nvSpPr>
          <p:cNvPr id="16" name="Text 13"/>
          <p:cNvSpPr txBox="1"/>
          <p:nvPr/>
        </p:nvSpPr>
        <p:spPr>
          <a:xfrm>
            <a:off x="1683410"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2802636" y="5394960"/>
            <a:ext cx="967435" cy="247802"/>
          </a:xfrm>
          <a:prstGeom prst="rect">
            <a:avLst/>
          </a:prstGeom>
          <a:ln w="31750">
            <a:solidFill>
              <a:srgbClr val="000000">
                <a:alpha val="55000"/>
              </a:srgbClr>
            </a:solidFill>
            <a:prstDash val="solid"/>
          </a:ln>
        </p:spPr>
      </p:sp>
      <p:sp>
        <p:nvSpPr>
          <p:cNvPr id="18" name="Shape 15"/>
          <p:cNvSpPr/>
          <p:nvPr/>
        </p:nvSpPr>
        <p:spPr>
          <a:xfrm>
            <a:off x="2811780" y="5404104"/>
            <a:ext cx="949147" cy="229514"/>
          </a:xfrm>
          <a:prstGeom prst="rect">
            <a:avLst/>
          </a:prstGeom>
          <a:ln w="19050">
            <a:solidFill>
              <a:srgbClr val="FFB400"/>
            </a:solidFill>
            <a:prstDash val="solid"/>
          </a:ln>
        </p:spPr>
      </p:sp>
      <p:sp>
        <p:nvSpPr>
          <p:cNvPr id="19" name="Shape 16"/>
          <p:cNvSpPr/>
          <p:nvPr/>
        </p:nvSpPr>
        <p:spPr>
          <a:xfrm>
            <a:off x="2665476" y="5257800"/>
            <a:ext cx="256032" cy="256032"/>
          </a:xfrm>
          <a:prstGeom prst="ellipse">
            <a:avLst/>
          </a:prstGeom>
          <a:solidFill>
            <a:srgbClr val="FFB400"/>
          </a:solidFill>
          <a:ln w="9525">
            <a:solidFill>
              <a:srgbClr val="111111"/>
            </a:solidFill>
            <a:prstDash val="solid"/>
          </a:ln>
        </p:spPr>
      </p:sp>
      <p:sp>
        <p:nvSpPr>
          <p:cNvPr id="20" name="Text 17"/>
          <p:cNvSpPr txBox="1"/>
          <p:nvPr/>
        </p:nvSpPr>
        <p:spPr>
          <a:xfrm>
            <a:off x="2665476"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machine and the shift.</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Machine down now? Tap </a:t>
            </a:r>
            <a:pPr indent="0" marL="0">
              <a:buNone/>
            </a:pPr>
            <a:r>
              <a:rPr lang="en-US" sz="1700" b="1" dirty="0">
                <a:solidFill>
                  <a:srgbClr val="12263F"/>
                </a:solidFill>
                <a:latin typeface="Calibri" pitchFamily="34" charset="0"/>
                <a:ea typeface="Calibri" pitchFamily="34" charset="-122"/>
                <a:cs typeface="Calibri" pitchFamily="34" charset="-120"/>
              </a:rPr>
              <a:t>Start 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Forgot to log a stop? Tap </a:t>
            </a:r>
            <a:pPr indent="0" marL="0">
              <a:buNone/>
            </a:pPr>
            <a:r>
              <a:rPr lang="en-US" sz="1700" b="1" dirty="0">
                <a:solidFill>
                  <a:srgbClr val="12263F"/>
                </a:solidFill>
                <a:latin typeface="Calibri" pitchFamily="34" charset="0"/>
                <a:ea typeface="Calibri" pitchFamily="34" charset="-122"/>
                <a:cs typeface="Calibri" pitchFamily="34" charset="-120"/>
              </a:rPr>
              <a:t>Add Past Event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Hand over to the next operator</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next operator taps the name here.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They type their own PIN.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KEEP THIS ONE</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Quick reference</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Every basket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Scan the ticket into the empty row.</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Open 1 basket(s)</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When the basket is full,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 basket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Open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Reconcile Shift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Pick your shift.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Compute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warm-up and test shots.</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scrap on each cavity.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Give a reason for every amber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Submit shift entry</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When it looks wrong</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Counter was reset?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Fix counter</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Machine stopped?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Downtime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Die is wrong on screen? Call your team lead.</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Already sent the shift entry? Call your team lead.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 2</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team leads</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Supervisor Access</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Some jobs need a team lead to sign in with their own account.</a:t>
            </a:r>
            <a:endParaRPr lang="en-US" sz="2200" dirty="0"/>
          </a:p>
        </p:txBody>
      </p:sp>
      <p:sp>
        <p:nvSpPr>
          <p:cNvPr id="7" name="Shape 5"/>
          <p:cNvSpPr/>
          <p:nvPr/>
        </p:nvSpPr>
        <p:spPr>
          <a:xfrm>
            <a:off x="731520" y="2450592"/>
            <a:ext cx="384048" cy="384048"/>
          </a:xfrm>
          <a:prstGeom prst="ellipse">
            <a:avLst/>
          </a:prstGeom>
          <a:solidFill>
            <a:srgbClr val="FFB400"/>
          </a:solidFill>
          <a:ln w="9525">
            <a:solidFill>
              <a:srgbClr val="111111"/>
            </a:solidFill>
            <a:prstDash val="solid"/>
          </a:ln>
        </p:spPr>
      </p:sp>
      <p:sp>
        <p:nvSpPr>
          <p:cNvPr id="8" name="Text 6"/>
          <p:cNvSpPr txBox="1"/>
          <p:nvPr/>
        </p:nvSpPr>
        <p:spPr>
          <a:xfrm>
            <a:off x="731520" y="245059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371600" y="237744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The sign-in lasts five minutes.</a:t>
            </a:r>
            <a:endParaRPr lang="en-US" sz="2200" dirty="0"/>
          </a:p>
        </p:txBody>
      </p:sp>
      <p:sp>
        <p:nvSpPr>
          <p:cNvPr id="10" name="Shape 8"/>
          <p:cNvSpPr/>
          <p:nvPr/>
        </p:nvSpPr>
        <p:spPr>
          <a:xfrm>
            <a:off x="731520" y="3410712"/>
            <a:ext cx="384048" cy="384048"/>
          </a:xfrm>
          <a:prstGeom prst="ellipse">
            <a:avLst/>
          </a:prstGeom>
          <a:solidFill>
            <a:srgbClr val="FFB400"/>
          </a:solidFill>
          <a:ln w="9525">
            <a:solidFill>
              <a:srgbClr val="111111"/>
            </a:solidFill>
            <a:prstDash val="solid"/>
          </a:ln>
        </p:spPr>
      </p:sp>
      <p:sp>
        <p:nvSpPr>
          <p:cNvPr id="11" name="Text 9"/>
          <p:cNvSpPr txBox="1"/>
          <p:nvPr/>
        </p:nvSpPr>
        <p:spPr>
          <a:xfrm>
            <a:off x="731520" y="341071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371600" y="333756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While it lasts, everything done here is saved under your name.</a:t>
            </a:r>
            <a:endParaRPr lang="en-US" sz="2200" dirty="0"/>
          </a:p>
        </p:txBody>
      </p:sp>
      <p:sp>
        <p:nvSpPr>
          <p:cNvPr id="13" name="Shape 11"/>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14" name="Text 12"/>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Die Mount</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Use it when a die is changed on a press.</a:t>
            </a:r>
            <a:endParaRPr lang="en-US" sz="2200" dirty="0"/>
          </a:p>
        </p:txBody>
      </p:sp>
      <p:sp>
        <p:nvSpPr>
          <p:cNvPr id="7" name="Shape 5"/>
          <p:cNvSpPr/>
          <p:nvPr/>
        </p:nvSpPr>
        <p:spPr>
          <a:xfrm>
            <a:off x="731520" y="2450592"/>
            <a:ext cx="384048" cy="384048"/>
          </a:xfrm>
          <a:prstGeom prst="ellipse">
            <a:avLst/>
          </a:prstGeom>
          <a:solidFill>
            <a:srgbClr val="FFB400"/>
          </a:solidFill>
          <a:ln w="9525">
            <a:solidFill>
              <a:srgbClr val="111111"/>
            </a:solidFill>
            <a:prstDash val="solid"/>
          </a:ln>
        </p:spPr>
      </p:sp>
      <p:sp>
        <p:nvSpPr>
          <p:cNvPr id="8" name="Text 6"/>
          <p:cNvSpPr txBox="1"/>
          <p:nvPr/>
        </p:nvSpPr>
        <p:spPr>
          <a:xfrm>
            <a:off x="731520" y="245059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371600" y="237744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The screen must always show the die that is really in the press.</a:t>
            </a:r>
            <a:endParaRPr lang="en-US" sz="2200" dirty="0"/>
          </a:p>
        </p:txBody>
      </p:sp>
      <p:sp>
        <p:nvSpPr>
          <p:cNvPr id="10" name="Shape 8"/>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11" name="Text 9"/>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Reset Terminal</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Use it when the screen is stuck or shows the wrong place.</a:t>
            </a:r>
            <a:endParaRPr lang="en-US" sz="2200" dirty="0"/>
          </a:p>
        </p:txBody>
      </p:sp>
      <p:sp>
        <p:nvSpPr>
          <p:cNvPr id="7" name="Shape 5"/>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8" name="Text 6"/>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Die Cast Production screen</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Shows good parts for this shift and the last shift.</a:t>
            </a:r>
            <a:endParaRPr lang="en-US" sz="2200" dirty="0"/>
          </a:p>
        </p:txBody>
      </p:sp>
      <p:sp>
        <p:nvSpPr>
          <p:cNvPr id="7" name="Shape 5"/>
          <p:cNvSpPr/>
          <p:nvPr/>
        </p:nvSpPr>
        <p:spPr>
          <a:xfrm>
            <a:off x="731520" y="2450592"/>
            <a:ext cx="384048" cy="384048"/>
          </a:xfrm>
          <a:prstGeom prst="ellipse">
            <a:avLst/>
          </a:prstGeom>
          <a:solidFill>
            <a:srgbClr val="FFB400"/>
          </a:solidFill>
          <a:ln w="9525">
            <a:solidFill>
              <a:srgbClr val="111111"/>
            </a:solidFill>
            <a:prstDash val="solid"/>
          </a:ln>
        </p:spPr>
      </p:sp>
      <p:sp>
        <p:nvSpPr>
          <p:cNvPr id="8" name="Text 6"/>
          <p:cNvSpPr txBox="1"/>
          <p:nvPr/>
        </p:nvSpPr>
        <p:spPr>
          <a:xfrm>
            <a:off x="731520" y="245059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371600" y="237744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Pick one area, or leave it on all of die cast.</a:t>
            </a:r>
            <a:endParaRPr lang="en-US" sz="2200" dirty="0"/>
          </a:p>
        </p:txBody>
      </p:sp>
      <p:sp>
        <p:nvSpPr>
          <p:cNvPr id="10" name="Shape 8"/>
          <p:cNvSpPr/>
          <p:nvPr/>
        </p:nvSpPr>
        <p:spPr>
          <a:xfrm>
            <a:off x="731520" y="3410712"/>
            <a:ext cx="384048" cy="384048"/>
          </a:xfrm>
          <a:prstGeom prst="ellipse">
            <a:avLst/>
          </a:prstGeom>
          <a:solidFill>
            <a:srgbClr val="FFB400"/>
          </a:solidFill>
          <a:ln w="9525">
            <a:solidFill>
              <a:srgbClr val="111111"/>
            </a:solidFill>
            <a:prstDash val="solid"/>
          </a:ln>
        </p:spPr>
      </p:sp>
      <p:sp>
        <p:nvSpPr>
          <p:cNvPr id="11" name="Text 9"/>
          <p:cNvSpPr txBox="1"/>
          <p:nvPr/>
        </p:nvSpPr>
        <p:spPr>
          <a:xfrm>
            <a:off x="731520" y="341071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371600" y="333756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One row for each press, with its die and part.</a:t>
            </a:r>
            <a:endParaRPr lang="en-US" sz="2200" dirty="0"/>
          </a:p>
        </p:txBody>
      </p:sp>
      <p:sp>
        <p:nvSpPr>
          <p:cNvPr id="13" name="Shape 11"/>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14" name="Text 12"/>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Every shift</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Start of shift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each press shows the right die.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the presses that are running have baskets open.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Fix a wrong die with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Mount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During the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Watch the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Cast Production</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 screen.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Help with any amber number nobody can explain.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downtime has a reason on it.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every press sent its shift entry.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Compare this shift with the last one.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Pass on anything odd to the next team lead.</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Cast Terminal Training</dc:title>
  <dc:subject>PptxGenJS Presentation</dc:subject>
  <dc:creator>Blue Ridge Automation</dc:creator>
  <cp:lastModifiedBy>Blue Ridge Automation</cp:lastModifiedBy>
  <cp:revision>1</cp:revision>
  <dcterms:created xsi:type="dcterms:W3CDTF">2026-09-22T12:20:13Z</dcterms:created>
  <dcterms:modified xsi:type="dcterms:W3CDTF">2026-09-22T12:20:13Z</dcterms:modified>
</cp:coreProperties>
</file>