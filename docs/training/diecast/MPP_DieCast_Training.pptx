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learn the die cast screen at the press. It keeps track of every basket we make. Part 1 is for everyone. Part 2 is for team leads.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 Honda supplier. They can ask us to trace one part back to the press, the die and the shift that made it. The old paper sheets did this job. The screen does it now. A basket with no ticket scanned is a gap we cannot fill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a real die and a real basket while you go through these. Most people know the things, not the words on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you use most. Each row is one cavity of the die. Rows are grouped by the part they make. Orange words mean the cavity has no basket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PIN tells the screen who is working. It is not a password. Everything you do is saved under your name until someone else signs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Re-type is the big button on purpose. One wrong digit would make a second copy of you. Only register if you are new, or you were given a new 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terminal can run more than one machine. The screen remembers the last machine used, so always check it. If the die is wrong, every basket goes against the wrong 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tap, the row shows the ticket number, and a green line says Basket opened. Scanned the wrong ticket? Tap Clear to empty the boxes and start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after a die change, when every cavity is empty. Scan every ticket first. Then open them all with one tap.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counter number fills in the piece count by itself. You never subtract anything. The screen does it. Did you swap the basket earlier? Use the number you wrote down then, not the number now. If your line counts pieces, type the count in the top box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buttons are at the bottom of the box, so scroll down to reach them. If you type no number, the screen warns you. The basket then closes at the count it already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when a ticket was opened by mistake and no parts went in. The ticket is scrapped and the cavity is free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at the end of your shift, before you hand over. It settles the numbers for your 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 shows the current shift and the two before it, so you can still enter a shift that just ended. Compute fills in the table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lost shot costs one part on every cavity. So type the number of shots. The screen multiplies by the cavities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starts from the press counter, minus scrap. Once you type your own number, it stays. Lines that count baskets type a number here. Lines that read the counter can leave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scrap button shows the total. The number in brackets is how many reasons you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Amber means shots, good and scrap do not add up. That is not an error. It just needs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reasons ask for a note. A short note, like found the cavity empty at 2:40, helps a lot later. Once you send it, the entry cannot be changed at the terminal. If you made a mistake, call your team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when the counter was zeroed, or a wrong number went in earlier. Pieces already in the baskets do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stop needs a reason. The list shows the stops for this shift. Log them as soon as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keep working under someone else's PIN. The screen saves every basket under the person signed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one slide and keep it at the press. It is the whole day on one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Operators can stay for this part, but these jobs need a team lead sign-in.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sign-in covers the protected job you are doing. After five minutes it ends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screen shows the wrong die, every basket is saved against the wrong 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steps, and when not to use it, are added with the screen pictures.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 only reads numbers. It never changes anything. Good parts come from the shift entries operators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shift entry that was never sent is the one to catch. The numbers cannot be fixed at the terminal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F"/>
        </a:solidFill>
      </p:bgPr>
    </p:bg>
    <p:spTree>
      <p:nvGrpSpPr>
        <p:cNvPr id="1" name=""/>
        <p:cNvGrpSpPr/>
        <p:nvPr/>
      </p:nvGrpSpPr>
      <p:grpSpPr>
        <a:xfrm>
          <a:off x="0" y="0"/>
          <a:ext cx="0" cy="0"/>
          <a:chOff x="0" y="0"/>
          <a:chExt cx="0" cy="0"/>
        </a:xfrm>
      </p:grpSpPr>
      <p:sp>
        <p:nvSpPr>
          <p:cNvPr id="2" name="Text 0"/>
          <p:cNvSpPr txBox="1"/>
          <p:nvPr/>
        </p:nvSpPr>
        <p:spPr>
          <a:xfrm>
            <a:off x="731520" y="2377440"/>
            <a:ext cx="10698480" cy="10972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Die Cast Terminal Training</a:t>
            </a:r>
            <a:endParaRPr lang="en-US" sz="4400" dirty="0"/>
          </a:p>
        </p:txBody>
      </p:sp>
      <p:sp>
        <p:nvSpPr>
          <p:cNvPr id="3" name="Text 1"/>
          <p:cNvSpPr txBox="1"/>
          <p:nvPr/>
        </p:nvSpPr>
        <p:spPr>
          <a:xfrm>
            <a:off x="731520" y="3474720"/>
            <a:ext cx="10698480" cy="548640"/>
          </a:xfrm>
          <a:prstGeom prst="rect">
            <a:avLst/>
          </a:prstGeom>
          <a:noFill/>
          <a:ln/>
        </p:spPr>
        <p:txBody>
          <a:bodyPr wrap="square" lIns="0" tIns="0" rIns="0" bIns="0" rtlCol="0" anchor="ctr"/>
          <a:lstStyle/>
          <a:p>
            <a:pPr indent="0" marL="0">
              <a:buNone/>
            </a:pPr>
            <a:r>
              <a:rPr lang="en-US" sz="2200" dirty="0">
                <a:solidFill>
                  <a:srgbClr val="FFB400"/>
                </a:solidFill>
                <a:latin typeface="Calibri" pitchFamily="34" charset="0"/>
                <a:ea typeface="Calibri" pitchFamily="34" charset="-122"/>
                <a:cs typeface="Calibri" pitchFamily="34" charset="-120"/>
              </a:rPr>
              <a:t>For operators and team leads - September 2026</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WHY WE DO THIS</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The ticket follows the parts</a:t>
            </a:r>
            <a:endParaRPr lang="en-US" sz="3200" dirty="0"/>
          </a:p>
        </p:txBody>
      </p:sp>
      <p:sp>
        <p:nvSpPr>
          <p:cNvPr id="4" name="Shape 2"/>
          <p:cNvSpPr/>
          <p:nvPr/>
        </p:nvSpPr>
        <p:spPr>
          <a:xfrm>
            <a:off x="731520" y="1508760"/>
            <a:ext cx="548640" cy="548640"/>
          </a:xfrm>
          <a:prstGeom prst="ellipse">
            <a:avLst/>
          </a:prstGeom>
          <a:solidFill>
            <a:srgbClr val="FFB400"/>
          </a:solidFill>
          <a:ln w="9525">
            <a:solidFill>
              <a:srgbClr val="111111"/>
            </a:solidFill>
            <a:prstDash val="solid"/>
          </a:ln>
        </p:spPr>
      </p:sp>
      <p:sp>
        <p:nvSpPr>
          <p:cNvPr id="5" name="Text 3"/>
          <p:cNvSpPr txBox="1"/>
          <p:nvPr/>
        </p:nvSpPr>
        <p:spPr>
          <a:xfrm>
            <a:off x="731520" y="1508760"/>
            <a:ext cx="548640" cy="548640"/>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6" name="Text 4"/>
          <p:cNvSpPr txBox="1"/>
          <p:nvPr/>
        </p:nvSpPr>
        <p:spPr>
          <a:xfrm>
            <a:off x="1554480" y="1463040"/>
            <a:ext cx="9601200" cy="914400"/>
          </a:xfrm>
          <a:prstGeom prst="rect">
            <a:avLst/>
          </a:prstGeom>
          <a:noFill/>
          <a:ln/>
        </p:spPr>
        <p:txBody>
          <a:bodyPr wrap="square" lIns="0" tIns="0" rIns="0" bIns="0" rtlCol="0" anchor="ctr"/>
          <a:lstStyle/>
          <a:p>
            <a:pPr indent="0" marL="0">
              <a:buNone/>
            </a:pPr>
            <a:r>
              <a:rPr lang="en-US" sz="2400" dirty="0">
                <a:solidFill>
                  <a:srgbClr val="1B1B1B"/>
                </a:solidFill>
                <a:latin typeface="Calibri" pitchFamily="34" charset="0"/>
                <a:ea typeface="Calibri" pitchFamily="34" charset="-122"/>
                <a:cs typeface="Calibri" pitchFamily="34" charset="-120"/>
              </a:rPr>
              <a:t>Every basket gets a ticket with a barcode.</a:t>
            </a:r>
            <a:endParaRPr lang="en-US" sz="2400" dirty="0"/>
          </a:p>
        </p:txBody>
      </p:sp>
      <p:sp>
        <p:nvSpPr>
          <p:cNvPr id="7" name="Shape 5"/>
          <p:cNvSpPr/>
          <p:nvPr/>
        </p:nvSpPr>
        <p:spPr>
          <a:xfrm>
            <a:off x="731520" y="2971800"/>
            <a:ext cx="548640" cy="548640"/>
          </a:xfrm>
          <a:prstGeom prst="ellipse">
            <a:avLst/>
          </a:prstGeom>
          <a:solidFill>
            <a:srgbClr val="FFB400"/>
          </a:solidFill>
          <a:ln w="9525">
            <a:solidFill>
              <a:srgbClr val="111111"/>
            </a:solidFill>
            <a:prstDash val="solid"/>
          </a:ln>
        </p:spPr>
      </p:sp>
      <p:sp>
        <p:nvSpPr>
          <p:cNvPr id="8" name="Text 6"/>
          <p:cNvSpPr txBox="1"/>
          <p:nvPr/>
        </p:nvSpPr>
        <p:spPr>
          <a:xfrm>
            <a:off x="731520" y="2971800"/>
            <a:ext cx="548640" cy="548640"/>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9" name="Text 7"/>
          <p:cNvSpPr txBox="1"/>
          <p:nvPr/>
        </p:nvSpPr>
        <p:spPr>
          <a:xfrm>
            <a:off x="1554480" y="2926080"/>
            <a:ext cx="9601200" cy="914400"/>
          </a:xfrm>
          <a:prstGeom prst="rect">
            <a:avLst/>
          </a:prstGeom>
          <a:noFill/>
          <a:ln/>
        </p:spPr>
        <p:txBody>
          <a:bodyPr wrap="square" lIns="0" tIns="0" rIns="0" bIns="0" rtlCol="0" anchor="ctr"/>
          <a:lstStyle/>
          <a:p>
            <a:pPr indent="0" marL="0">
              <a:buNone/>
            </a:pPr>
            <a:r>
              <a:rPr lang="en-US" sz="2400" dirty="0">
                <a:solidFill>
                  <a:srgbClr val="1B1B1B"/>
                </a:solidFill>
                <a:latin typeface="Calibri" pitchFamily="34" charset="0"/>
                <a:ea typeface="Calibri" pitchFamily="34" charset="-122"/>
                <a:cs typeface="Calibri" pitchFamily="34" charset="-120"/>
              </a:rPr>
              <a:t>You scan that ticket into the screen when the basket starts.</a:t>
            </a:r>
            <a:endParaRPr lang="en-US" sz="2400" dirty="0"/>
          </a:p>
        </p:txBody>
      </p:sp>
      <p:sp>
        <p:nvSpPr>
          <p:cNvPr id="10" name="Shape 8"/>
          <p:cNvSpPr/>
          <p:nvPr/>
        </p:nvSpPr>
        <p:spPr>
          <a:xfrm>
            <a:off x="731520" y="4434840"/>
            <a:ext cx="548640" cy="548640"/>
          </a:xfrm>
          <a:prstGeom prst="ellipse">
            <a:avLst/>
          </a:prstGeom>
          <a:solidFill>
            <a:srgbClr val="FFB400"/>
          </a:solidFill>
          <a:ln w="9525">
            <a:solidFill>
              <a:srgbClr val="111111"/>
            </a:solidFill>
            <a:prstDash val="solid"/>
          </a:ln>
        </p:spPr>
      </p:sp>
      <p:sp>
        <p:nvSpPr>
          <p:cNvPr id="11" name="Text 9"/>
          <p:cNvSpPr txBox="1"/>
          <p:nvPr/>
        </p:nvSpPr>
        <p:spPr>
          <a:xfrm>
            <a:off x="731520" y="4434840"/>
            <a:ext cx="548640" cy="548640"/>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12" name="Text 10"/>
          <p:cNvSpPr txBox="1"/>
          <p:nvPr/>
        </p:nvSpPr>
        <p:spPr>
          <a:xfrm>
            <a:off x="1554480" y="4389120"/>
            <a:ext cx="9601200" cy="914400"/>
          </a:xfrm>
          <a:prstGeom prst="rect">
            <a:avLst/>
          </a:prstGeom>
          <a:noFill/>
          <a:ln/>
        </p:spPr>
        <p:txBody>
          <a:bodyPr wrap="square" lIns="0" tIns="0" rIns="0" bIns="0" rtlCol="0" anchor="ctr"/>
          <a:lstStyle/>
          <a:p>
            <a:pPr indent="0" marL="0">
              <a:buNone/>
            </a:pPr>
            <a:r>
              <a:rPr lang="en-US" sz="2400" dirty="0">
                <a:solidFill>
                  <a:srgbClr val="1B1B1B"/>
                </a:solidFill>
                <a:latin typeface="Calibri" pitchFamily="34" charset="0"/>
                <a:ea typeface="Calibri" pitchFamily="34" charset="-122"/>
                <a:cs typeface="Calibri" pitchFamily="34" charset="-120"/>
              </a:rPr>
              <a:t>Honda can ask where one part came from. The ticket is how we answer.</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BEFORE WE START</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Words you will see</a:t>
            </a:r>
            <a:endParaRPr lang="en-US" sz="3200" dirty="0"/>
          </a:p>
        </p:txBody>
      </p:sp>
      <p:sp>
        <p:nvSpPr>
          <p:cNvPr id="4" name="Shape 2"/>
          <p:cNvSpPr/>
          <p:nvPr/>
        </p:nvSpPr>
        <p:spPr>
          <a:xfrm>
            <a:off x="411480" y="1280160"/>
            <a:ext cx="5486400" cy="1051560"/>
          </a:xfrm>
          <a:prstGeom prst="roundRect">
            <a:avLst>
              <a:gd name="adj" fmla="val 6957"/>
            </a:avLst>
          </a:prstGeom>
          <a:solidFill>
            <a:srgbClr val="EEF2F7"/>
          </a:solidFill>
          <a:ln w="12700">
            <a:solidFill>
              <a:srgbClr val="EEF2F7"/>
            </a:solidFill>
            <a:prstDash val="solid"/>
          </a:ln>
        </p:spPr>
      </p:sp>
      <p:sp>
        <p:nvSpPr>
          <p:cNvPr id="5" name="Text 3"/>
          <p:cNvSpPr txBox="1"/>
          <p:nvPr/>
        </p:nvSpPr>
        <p:spPr>
          <a:xfrm>
            <a:off x="640080" y="1389888"/>
            <a:ext cx="5029200" cy="365760"/>
          </a:xfrm>
          <a:prstGeom prst="rect">
            <a:avLst/>
          </a:prstGeom>
          <a:noFill/>
          <a:ln/>
        </p:spPr>
        <p:txBody>
          <a:bodyPr wrap="square" lIns="0" tIns="0" rIns="0" bIns="0" rtlCol="0" anchor="ctr"/>
          <a:lstStyle/>
          <a:p>
            <a:pPr indent="0" marL="0">
              <a:buNone/>
            </a:pPr>
            <a:r>
              <a:rPr lang="en-US" sz="2000" b="1" dirty="0">
                <a:solidFill>
                  <a:srgbClr val="12263F"/>
                </a:solidFill>
                <a:latin typeface="Calibri" pitchFamily="34" charset="0"/>
                <a:ea typeface="Calibri" pitchFamily="34" charset="-122"/>
                <a:cs typeface="Calibri" pitchFamily="34" charset="-120"/>
              </a:rPr>
              <a:t>Die</a:t>
            </a:r>
            <a:endParaRPr lang="en-US" sz="2000" dirty="0"/>
          </a:p>
        </p:txBody>
      </p:sp>
      <p:sp>
        <p:nvSpPr>
          <p:cNvPr id="6" name="Text 4"/>
          <p:cNvSpPr txBox="1"/>
          <p:nvPr/>
        </p:nvSpPr>
        <p:spPr>
          <a:xfrm>
            <a:off x="640080" y="1783080"/>
            <a:ext cx="5029200" cy="457200"/>
          </a:xfrm>
          <a:prstGeom prst="rect">
            <a:avLst/>
          </a:prstGeom>
          <a:noFill/>
          <a:ln/>
        </p:spPr>
        <p:txBody>
          <a:bodyPr wrap="square" lIns="0" tIns="0" rIns="0" bIns="0" rtlCol="0" anchor="ctr"/>
          <a:lstStyle/>
          <a:p>
            <a:pPr indent="0" marL="0">
              <a:buNone/>
            </a:pPr>
            <a:r>
              <a:rPr lang="en-US" sz="1600" dirty="0">
                <a:solidFill>
                  <a:srgbClr val="1B1B1B"/>
                </a:solidFill>
                <a:latin typeface="Calibri" pitchFamily="34" charset="0"/>
                <a:ea typeface="Calibri" pitchFamily="34" charset="-122"/>
                <a:cs typeface="Calibri" pitchFamily="34" charset="-120"/>
              </a:rPr>
              <a:t>The mold in the press.</a:t>
            </a:r>
            <a:endParaRPr lang="en-US" sz="1600" dirty="0"/>
          </a:p>
        </p:txBody>
      </p:sp>
      <p:sp>
        <p:nvSpPr>
          <p:cNvPr id="7" name="Shape 5"/>
          <p:cNvSpPr/>
          <p:nvPr/>
        </p:nvSpPr>
        <p:spPr>
          <a:xfrm>
            <a:off x="411480" y="2514600"/>
            <a:ext cx="5486400" cy="1051560"/>
          </a:xfrm>
          <a:prstGeom prst="roundRect">
            <a:avLst>
              <a:gd name="adj" fmla="val 6957"/>
            </a:avLst>
          </a:prstGeom>
          <a:solidFill>
            <a:srgbClr val="EEF2F7"/>
          </a:solidFill>
          <a:ln w="12700">
            <a:solidFill>
              <a:srgbClr val="EEF2F7"/>
            </a:solidFill>
            <a:prstDash val="solid"/>
          </a:ln>
        </p:spPr>
      </p:sp>
      <p:sp>
        <p:nvSpPr>
          <p:cNvPr id="8" name="Text 6"/>
          <p:cNvSpPr txBox="1"/>
          <p:nvPr/>
        </p:nvSpPr>
        <p:spPr>
          <a:xfrm>
            <a:off x="640080" y="2624328"/>
            <a:ext cx="5029200" cy="365760"/>
          </a:xfrm>
          <a:prstGeom prst="rect">
            <a:avLst/>
          </a:prstGeom>
          <a:noFill/>
          <a:ln/>
        </p:spPr>
        <p:txBody>
          <a:bodyPr wrap="square" lIns="0" tIns="0" rIns="0" bIns="0" rtlCol="0" anchor="ctr"/>
          <a:lstStyle/>
          <a:p>
            <a:pPr indent="0" marL="0">
              <a:buNone/>
            </a:pPr>
            <a:r>
              <a:rPr lang="en-US" sz="2000" b="1" dirty="0">
                <a:solidFill>
                  <a:srgbClr val="12263F"/>
                </a:solidFill>
                <a:latin typeface="Calibri" pitchFamily="34" charset="0"/>
                <a:ea typeface="Calibri" pitchFamily="34" charset="-122"/>
                <a:cs typeface="Calibri" pitchFamily="34" charset="-120"/>
              </a:rPr>
              <a:t>Cavity</a:t>
            </a:r>
            <a:endParaRPr lang="en-US" sz="2000" dirty="0"/>
          </a:p>
        </p:txBody>
      </p:sp>
      <p:sp>
        <p:nvSpPr>
          <p:cNvPr id="9" name="Text 7"/>
          <p:cNvSpPr txBox="1"/>
          <p:nvPr/>
        </p:nvSpPr>
        <p:spPr>
          <a:xfrm>
            <a:off x="640080" y="3017520"/>
            <a:ext cx="5029200" cy="457200"/>
          </a:xfrm>
          <a:prstGeom prst="rect">
            <a:avLst/>
          </a:prstGeom>
          <a:noFill/>
          <a:ln/>
        </p:spPr>
        <p:txBody>
          <a:bodyPr wrap="square" lIns="0" tIns="0" rIns="0" bIns="0" rtlCol="0" anchor="ctr"/>
          <a:lstStyle/>
          <a:p>
            <a:pPr indent="0" marL="0">
              <a:buNone/>
            </a:pPr>
            <a:r>
              <a:rPr lang="en-US" sz="1600" dirty="0">
                <a:solidFill>
                  <a:srgbClr val="1B1B1B"/>
                </a:solidFill>
                <a:latin typeface="Calibri" pitchFamily="34" charset="0"/>
                <a:ea typeface="Calibri" pitchFamily="34" charset="-122"/>
                <a:cs typeface="Calibri" pitchFamily="34" charset="-120"/>
              </a:rPr>
              <a:t>One spot in the die. Each one makes a part.</a:t>
            </a:r>
            <a:endParaRPr lang="en-US" sz="1600" dirty="0"/>
          </a:p>
        </p:txBody>
      </p:sp>
      <p:sp>
        <p:nvSpPr>
          <p:cNvPr id="10" name="Shape 8"/>
          <p:cNvSpPr/>
          <p:nvPr/>
        </p:nvSpPr>
        <p:spPr>
          <a:xfrm>
            <a:off x="411480" y="3749040"/>
            <a:ext cx="5486400" cy="1051560"/>
          </a:xfrm>
          <a:prstGeom prst="roundRect">
            <a:avLst>
              <a:gd name="adj" fmla="val 6957"/>
            </a:avLst>
          </a:prstGeom>
          <a:solidFill>
            <a:srgbClr val="EEF2F7"/>
          </a:solidFill>
          <a:ln w="12700">
            <a:solidFill>
              <a:srgbClr val="EEF2F7"/>
            </a:solidFill>
            <a:prstDash val="solid"/>
          </a:ln>
        </p:spPr>
      </p:sp>
      <p:sp>
        <p:nvSpPr>
          <p:cNvPr id="11" name="Text 9"/>
          <p:cNvSpPr txBox="1"/>
          <p:nvPr/>
        </p:nvSpPr>
        <p:spPr>
          <a:xfrm>
            <a:off x="640080" y="3858768"/>
            <a:ext cx="5029200" cy="365760"/>
          </a:xfrm>
          <a:prstGeom prst="rect">
            <a:avLst/>
          </a:prstGeom>
          <a:noFill/>
          <a:ln/>
        </p:spPr>
        <p:txBody>
          <a:bodyPr wrap="square" lIns="0" tIns="0" rIns="0" bIns="0" rtlCol="0" anchor="ctr"/>
          <a:lstStyle/>
          <a:p>
            <a:pPr indent="0" marL="0">
              <a:buNone/>
            </a:pPr>
            <a:r>
              <a:rPr lang="en-US" sz="2000" b="1" dirty="0">
                <a:solidFill>
                  <a:srgbClr val="12263F"/>
                </a:solidFill>
                <a:latin typeface="Calibri" pitchFamily="34" charset="0"/>
                <a:ea typeface="Calibri" pitchFamily="34" charset="-122"/>
                <a:cs typeface="Calibri" pitchFamily="34" charset="-120"/>
              </a:rPr>
              <a:t>Basket</a:t>
            </a:r>
            <a:endParaRPr lang="en-US" sz="2000" dirty="0"/>
          </a:p>
        </p:txBody>
      </p:sp>
      <p:sp>
        <p:nvSpPr>
          <p:cNvPr id="12" name="Text 10"/>
          <p:cNvSpPr txBox="1"/>
          <p:nvPr/>
        </p:nvSpPr>
        <p:spPr>
          <a:xfrm>
            <a:off x="640080" y="4251960"/>
            <a:ext cx="5029200" cy="457200"/>
          </a:xfrm>
          <a:prstGeom prst="rect">
            <a:avLst/>
          </a:prstGeom>
          <a:noFill/>
          <a:ln/>
        </p:spPr>
        <p:txBody>
          <a:bodyPr wrap="square" lIns="0" tIns="0" rIns="0" bIns="0" rtlCol="0" anchor="ctr"/>
          <a:lstStyle/>
          <a:p>
            <a:pPr indent="0" marL="0">
              <a:buNone/>
            </a:pPr>
            <a:r>
              <a:rPr lang="en-US" sz="1600" dirty="0">
                <a:solidFill>
                  <a:srgbClr val="1B1B1B"/>
                </a:solidFill>
                <a:latin typeface="Calibri" pitchFamily="34" charset="0"/>
                <a:ea typeface="Calibri" pitchFamily="34" charset="-122"/>
                <a:cs typeface="Calibri" pitchFamily="34" charset="-120"/>
              </a:rPr>
              <a:t>The bin the parts drop into.</a:t>
            </a:r>
            <a:endParaRPr lang="en-US" sz="1600" dirty="0"/>
          </a:p>
        </p:txBody>
      </p:sp>
      <p:sp>
        <p:nvSpPr>
          <p:cNvPr id="13" name="Shape 11"/>
          <p:cNvSpPr/>
          <p:nvPr/>
        </p:nvSpPr>
        <p:spPr>
          <a:xfrm>
            <a:off x="411480" y="4983480"/>
            <a:ext cx="5486400" cy="1051560"/>
          </a:xfrm>
          <a:prstGeom prst="roundRect">
            <a:avLst>
              <a:gd name="adj" fmla="val 6957"/>
            </a:avLst>
          </a:prstGeom>
          <a:solidFill>
            <a:srgbClr val="EEF2F7"/>
          </a:solidFill>
          <a:ln w="12700">
            <a:solidFill>
              <a:srgbClr val="EEF2F7"/>
            </a:solidFill>
            <a:prstDash val="solid"/>
          </a:ln>
        </p:spPr>
      </p:sp>
      <p:sp>
        <p:nvSpPr>
          <p:cNvPr id="14" name="Text 12"/>
          <p:cNvSpPr txBox="1"/>
          <p:nvPr/>
        </p:nvSpPr>
        <p:spPr>
          <a:xfrm>
            <a:off x="640080" y="5093208"/>
            <a:ext cx="5029200" cy="365760"/>
          </a:xfrm>
          <a:prstGeom prst="rect">
            <a:avLst/>
          </a:prstGeom>
          <a:noFill/>
          <a:ln/>
        </p:spPr>
        <p:txBody>
          <a:bodyPr wrap="square" lIns="0" tIns="0" rIns="0" bIns="0" rtlCol="0" anchor="ctr"/>
          <a:lstStyle/>
          <a:p>
            <a:pPr indent="0" marL="0">
              <a:buNone/>
            </a:pPr>
            <a:r>
              <a:rPr lang="en-US" sz="2000" b="1" dirty="0">
                <a:solidFill>
                  <a:srgbClr val="12263F"/>
                </a:solidFill>
                <a:latin typeface="Calibri" pitchFamily="34" charset="0"/>
                <a:ea typeface="Calibri" pitchFamily="34" charset="-122"/>
                <a:cs typeface="Calibri" pitchFamily="34" charset="-120"/>
              </a:rPr>
              <a:t>Ticket (LTT)</a:t>
            </a:r>
            <a:endParaRPr lang="en-US" sz="2000" dirty="0"/>
          </a:p>
        </p:txBody>
      </p:sp>
      <p:sp>
        <p:nvSpPr>
          <p:cNvPr id="15" name="Text 13"/>
          <p:cNvSpPr txBox="1"/>
          <p:nvPr/>
        </p:nvSpPr>
        <p:spPr>
          <a:xfrm>
            <a:off x="640080" y="5486400"/>
            <a:ext cx="5029200" cy="457200"/>
          </a:xfrm>
          <a:prstGeom prst="rect">
            <a:avLst/>
          </a:prstGeom>
          <a:noFill/>
          <a:ln/>
        </p:spPr>
        <p:txBody>
          <a:bodyPr wrap="square" lIns="0" tIns="0" rIns="0" bIns="0" rtlCol="0" anchor="ctr"/>
          <a:lstStyle/>
          <a:p>
            <a:pPr indent="0" marL="0">
              <a:buNone/>
            </a:pPr>
            <a:r>
              <a:rPr lang="en-US" sz="1600" dirty="0">
                <a:solidFill>
                  <a:srgbClr val="1B1B1B"/>
                </a:solidFill>
                <a:latin typeface="Calibri" pitchFamily="34" charset="0"/>
                <a:ea typeface="Calibri" pitchFamily="34" charset="-122"/>
                <a:cs typeface="Calibri" pitchFamily="34" charset="-120"/>
              </a:rPr>
              <a:t>The barcode tag on the basket.</a:t>
            </a:r>
            <a:endParaRPr lang="en-US" sz="1600" dirty="0"/>
          </a:p>
        </p:txBody>
      </p:sp>
      <p:sp>
        <p:nvSpPr>
          <p:cNvPr id="16" name="Shape 14"/>
          <p:cNvSpPr/>
          <p:nvPr/>
        </p:nvSpPr>
        <p:spPr>
          <a:xfrm>
            <a:off x="6172200" y="1280160"/>
            <a:ext cx="5486400" cy="1051560"/>
          </a:xfrm>
          <a:prstGeom prst="roundRect">
            <a:avLst>
              <a:gd name="adj" fmla="val 6957"/>
            </a:avLst>
          </a:prstGeom>
          <a:solidFill>
            <a:srgbClr val="EEF2F7"/>
          </a:solidFill>
          <a:ln w="12700">
            <a:solidFill>
              <a:srgbClr val="EEF2F7"/>
            </a:solidFill>
            <a:prstDash val="solid"/>
          </a:ln>
        </p:spPr>
      </p:sp>
      <p:sp>
        <p:nvSpPr>
          <p:cNvPr id="17" name="Text 15"/>
          <p:cNvSpPr txBox="1"/>
          <p:nvPr/>
        </p:nvSpPr>
        <p:spPr>
          <a:xfrm>
            <a:off x="6400800" y="1389888"/>
            <a:ext cx="5029200" cy="365760"/>
          </a:xfrm>
          <a:prstGeom prst="rect">
            <a:avLst/>
          </a:prstGeom>
          <a:noFill/>
          <a:ln/>
        </p:spPr>
        <p:txBody>
          <a:bodyPr wrap="square" lIns="0" tIns="0" rIns="0" bIns="0" rtlCol="0" anchor="ctr"/>
          <a:lstStyle/>
          <a:p>
            <a:pPr indent="0" marL="0">
              <a:buNone/>
            </a:pPr>
            <a:r>
              <a:rPr lang="en-US" sz="2000" b="1" dirty="0">
                <a:solidFill>
                  <a:srgbClr val="12263F"/>
                </a:solidFill>
                <a:latin typeface="Calibri" pitchFamily="34" charset="0"/>
                <a:ea typeface="Calibri" pitchFamily="34" charset="-122"/>
                <a:cs typeface="Calibri" pitchFamily="34" charset="-120"/>
              </a:rPr>
              <a:t>Press counter</a:t>
            </a:r>
            <a:endParaRPr lang="en-US" sz="2000" dirty="0"/>
          </a:p>
        </p:txBody>
      </p:sp>
      <p:sp>
        <p:nvSpPr>
          <p:cNvPr id="18" name="Text 16"/>
          <p:cNvSpPr txBox="1"/>
          <p:nvPr/>
        </p:nvSpPr>
        <p:spPr>
          <a:xfrm>
            <a:off x="6400800" y="1783080"/>
            <a:ext cx="5029200" cy="457200"/>
          </a:xfrm>
          <a:prstGeom prst="rect">
            <a:avLst/>
          </a:prstGeom>
          <a:noFill/>
          <a:ln/>
        </p:spPr>
        <p:txBody>
          <a:bodyPr wrap="square" lIns="0" tIns="0" rIns="0" bIns="0" rtlCol="0" anchor="ctr"/>
          <a:lstStyle/>
          <a:p>
            <a:pPr indent="0" marL="0">
              <a:buNone/>
            </a:pPr>
            <a:r>
              <a:rPr lang="en-US" sz="1600" dirty="0">
                <a:solidFill>
                  <a:srgbClr val="1B1B1B"/>
                </a:solidFill>
                <a:latin typeface="Calibri" pitchFamily="34" charset="0"/>
                <a:ea typeface="Calibri" pitchFamily="34" charset="-122"/>
                <a:cs typeface="Calibri" pitchFamily="34" charset="-120"/>
              </a:rPr>
              <a:t>The shot number on the press.</a:t>
            </a:r>
            <a:endParaRPr lang="en-US" sz="1600" dirty="0"/>
          </a:p>
        </p:txBody>
      </p:sp>
      <p:sp>
        <p:nvSpPr>
          <p:cNvPr id="19" name="Shape 17"/>
          <p:cNvSpPr/>
          <p:nvPr/>
        </p:nvSpPr>
        <p:spPr>
          <a:xfrm>
            <a:off x="6172200" y="2514600"/>
            <a:ext cx="5486400" cy="1051560"/>
          </a:xfrm>
          <a:prstGeom prst="roundRect">
            <a:avLst>
              <a:gd name="adj" fmla="val 6957"/>
            </a:avLst>
          </a:prstGeom>
          <a:solidFill>
            <a:srgbClr val="EEF2F7"/>
          </a:solidFill>
          <a:ln w="12700">
            <a:solidFill>
              <a:srgbClr val="EEF2F7"/>
            </a:solidFill>
            <a:prstDash val="solid"/>
          </a:ln>
        </p:spPr>
      </p:sp>
      <p:sp>
        <p:nvSpPr>
          <p:cNvPr id="20" name="Text 18"/>
          <p:cNvSpPr txBox="1"/>
          <p:nvPr/>
        </p:nvSpPr>
        <p:spPr>
          <a:xfrm>
            <a:off x="6400800" y="2624328"/>
            <a:ext cx="5029200" cy="365760"/>
          </a:xfrm>
          <a:prstGeom prst="rect">
            <a:avLst/>
          </a:prstGeom>
          <a:noFill/>
          <a:ln/>
        </p:spPr>
        <p:txBody>
          <a:bodyPr wrap="square" lIns="0" tIns="0" rIns="0" bIns="0" rtlCol="0" anchor="ctr"/>
          <a:lstStyle/>
          <a:p>
            <a:pPr indent="0" marL="0">
              <a:buNone/>
            </a:pPr>
            <a:r>
              <a:rPr lang="en-US" sz="2000" b="1" dirty="0">
                <a:solidFill>
                  <a:srgbClr val="12263F"/>
                </a:solidFill>
                <a:latin typeface="Calibri" pitchFamily="34" charset="0"/>
                <a:ea typeface="Calibri" pitchFamily="34" charset="-122"/>
                <a:cs typeface="Calibri" pitchFamily="34" charset="-120"/>
              </a:rPr>
              <a:t>Shift</a:t>
            </a:r>
            <a:endParaRPr lang="en-US" sz="2000" dirty="0"/>
          </a:p>
        </p:txBody>
      </p:sp>
      <p:sp>
        <p:nvSpPr>
          <p:cNvPr id="21" name="Text 19"/>
          <p:cNvSpPr txBox="1"/>
          <p:nvPr/>
        </p:nvSpPr>
        <p:spPr>
          <a:xfrm>
            <a:off x="6400800" y="3017520"/>
            <a:ext cx="5029200" cy="457200"/>
          </a:xfrm>
          <a:prstGeom prst="rect">
            <a:avLst/>
          </a:prstGeom>
          <a:noFill/>
          <a:ln/>
        </p:spPr>
        <p:txBody>
          <a:bodyPr wrap="square" lIns="0" tIns="0" rIns="0" bIns="0" rtlCol="0" anchor="ctr"/>
          <a:lstStyle/>
          <a:p>
            <a:pPr indent="0" marL="0">
              <a:buNone/>
            </a:pPr>
            <a:r>
              <a:rPr lang="en-US" sz="1600" dirty="0">
                <a:solidFill>
                  <a:srgbClr val="1B1B1B"/>
                </a:solidFill>
                <a:latin typeface="Calibri" pitchFamily="34" charset="0"/>
                <a:ea typeface="Calibri" pitchFamily="34" charset="-122"/>
                <a:cs typeface="Calibri" pitchFamily="34" charset="-120"/>
              </a:rPr>
              <a:t>Your work time, such as Second Shift.</a:t>
            </a:r>
            <a:endParaRPr lang="en-US" sz="1600" dirty="0"/>
          </a:p>
        </p:txBody>
      </p:sp>
      <p:sp>
        <p:nvSpPr>
          <p:cNvPr id="22" name="Shape 20"/>
          <p:cNvSpPr/>
          <p:nvPr/>
        </p:nvSpPr>
        <p:spPr>
          <a:xfrm>
            <a:off x="6172200" y="3749040"/>
            <a:ext cx="5486400" cy="1051560"/>
          </a:xfrm>
          <a:prstGeom prst="roundRect">
            <a:avLst>
              <a:gd name="adj" fmla="val 6957"/>
            </a:avLst>
          </a:prstGeom>
          <a:solidFill>
            <a:srgbClr val="EEF2F7"/>
          </a:solidFill>
          <a:ln w="12700">
            <a:solidFill>
              <a:srgbClr val="EEF2F7"/>
            </a:solidFill>
            <a:prstDash val="solid"/>
          </a:ln>
        </p:spPr>
      </p:sp>
      <p:sp>
        <p:nvSpPr>
          <p:cNvPr id="23" name="Text 21"/>
          <p:cNvSpPr txBox="1"/>
          <p:nvPr/>
        </p:nvSpPr>
        <p:spPr>
          <a:xfrm>
            <a:off x="6400800" y="3858768"/>
            <a:ext cx="5029200" cy="365760"/>
          </a:xfrm>
          <a:prstGeom prst="rect">
            <a:avLst/>
          </a:prstGeom>
          <a:noFill/>
          <a:ln/>
        </p:spPr>
        <p:txBody>
          <a:bodyPr wrap="square" lIns="0" tIns="0" rIns="0" bIns="0" rtlCol="0" anchor="ctr"/>
          <a:lstStyle/>
          <a:p>
            <a:pPr indent="0" marL="0">
              <a:buNone/>
            </a:pPr>
            <a:r>
              <a:rPr lang="en-US" sz="2000" b="1" dirty="0">
                <a:solidFill>
                  <a:srgbClr val="12263F"/>
                </a:solidFill>
                <a:latin typeface="Calibri" pitchFamily="34" charset="0"/>
                <a:ea typeface="Calibri" pitchFamily="34" charset="-122"/>
                <a:cs typeface="Calibri" pitchFamily="34" charset="-120"/>
              </a:rPr>
              <a:t>Scrap</a:t>
            </a:r>
            <a:endParaRPr lang="en-US" sz="2000" dirty="0"/>
          </a:p>
        </p:txBody>
      </p:sp>
      <p:sp>
        <p:nvSpPr>
          <p:cNvPr id="24" name="Text 22"/>
          <p:cNvSpPr txBox="1"/>
          <p:nvPr/>
        </p:nvSpPr>
        <p:spPr>
          <a:xfrm>
            <a:off x="6400800" y="4251960"/>
            <a:ext cx="5029200" cy="457200"/>
          </a:xfrm>
          <a:prstGeom prst="rect">
            <a:avLst/>
          </a:prstGeom>
          <a:noFill/>
          <a:ln/>
        </p:spPr>
        <p:txBody>
          <a:bodyPr wrap="square" lIns="0" tIns="0" rIns="0" bIns="0" rtlCol="0" anchor="ctr"/>
          <a:lstStyle/>
          <a:p>
            <a:pPr indent="0" marL="0">
              <a:buNone/>
            </a:pPr>
            <a:r>
              <a:rPr lang="en-US" sz="1600" dirty="0">
                <a:solidFill>
                  <a:srgbClr val="1B1B1B"/>
                </a:solidFill>
                <a:latin typeface="Calibri" pitchFamily="34" charset="0"/>
                <a:ea typeface="Calibri" pitchFamily="34" charset="-122"/>
                <a:cs typeface="Calibri" pitchFamily="34" charset="-120"/>
              </a:rPr>
              <a:t>Parts we cannot use.</a:t>
            </a:r>
            <a:endParaRPr lang="en-US" sz="1600" dirty="0"/>
          </a:p>
        </p:txBody>
      </p:sp>
      <p:sp>
        <p:nvSpPr>
          <p:cNvPr id="25" name="Shape 23"/>
          <p:cNvSpPr/>
          <p:nvPr/>
        </p:nvSpPr>
        <p:spPr>
          <a:xfrm>
            <a:off x="6172200" y="4983480"/>
            <a:ext cx="5486400" cy="1051560"/>
          </a:xfrm>
          <a:prstGeom prst="roundRect">
            <a:avLst>
              <a:gd name="adj" fmla="val 6957"/>
            </a:avLst>
          </a:prstGeom>
          <a:solidFill>
            <a:srgbClr val="EEF2F7"/>
          </a:solidFill>
          <a:ln w="12700">
            <a:solidFill>
              <a:srgbClr val="EEF2F7"/>
            </a:solidFill>
            <a:prstDash val="solid"/>
          </a:ln>
        </p:spPr>
      </p:sp>
      <p:sp>
        <p:nvSpPr>
          <p:cNvPr id="26" name="Text 24"/>
          <p:cNvSpPr txBox="1"/>
          <p:nvPr/>
        </p:nvSpPr>
        <p:spPr>
          <a:xfrm>
            <a:off x="6400800" y="5093208"/>
            <a:ext cx="5029200" cy="365760"/>
          </a:xfrm>
          <a:prstGeom prst="rect">
            <a:avLst/>
          </a:prstGeom>
          <a:noFill/>
          <a:ln/>
        </p:spPr>
        <p:txBody>
          <a:bodyPr wrap="square" lIns="0" tIns="0" rIns="0" bIns="0" rtlCol="0" anchor="ctr"/>
          <a:lstStyle/>
          <a:p>
            <a:pPr indent="0" marL="0">
              <a:buNone/>
            </a:pPr>
            <a:r>
              <a:rPr lang="en-US" sz="2000" b="1" dirty="0">
                <a:solidFill>
                  <a:srgbClr val="12263F"/>
                </a:solidFill>
                <a:latin typeface="Calibri" pitchFamily="34" charset="0"/>
                <a:ea typeface="Calibri" pitchFamily="34" charset="-122"/>
                <a:cs typeface="Calibri" pitchFamily="34" charset="-120"/>
              </a:rPr>
              <a:t>Reconcile</a:t>
            </a:r>
            <a:endParaRPr lang="en-US" sz="2000" dirty="0"/>
          </a:p>
        </p:txBody>
      </p:sp>
      <p:sp>
        <p:nvSpPr>
          <p:cNvPr id="27" name="Text 25"/>
          <p:cNvSpPr txBox="1"/>
          <p:nvPr/>
        </p:nvSpPr>
        <p:spPr>
          <a:xfrm>
            <a:off x="6400800" y="5486400"/>
            <a:ext cx="5029200" cy="457200"/>
          </a:xfrm>
          <a:prstGeom prst="rect">
            <a:avLst/>
          </a:prstGeom>
          <a:noFill/>
          <a:ln/>
        </p:spPr>
        <p:txBody>
          <a:bodyPr wrap="square" lIns="0" tIns="0" rIns="0" bIns="0" rtlCol="0" anchor="ctr"/>
          <a:lstStyle/>
          <a:p>
            <a:pPr indent="0" marL="0">
              <a:buNone/>
            </a:pPr>
            <a:r>
              <a:rPr lang="en-US" sz="1600" dirty="0">
                <a:solidFill>
                  <a:srgbClr val="1B1B1B"/>
                </a:solidFill>
                <a:latin typeface="Calibri" pitchFamily="34" charset="0"/>
                <a:ea typeface="Calibri" pitchFamily="34" charset="-122"/>
                <a:cs typeface="Calibri" pitchFamily="34" charset="-120"/>
              </a:rPr>
              <a:t>Settle up the numbers at the end of the shift.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SCREEN TOUR</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The Lot Management screen</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2400" cy="4858207"/>
          </a:xfrm>
          <a:prstGeom prst="rect">
            <a:avLst/>
          </a:prstGeom>
        </p:spPr>
      </p:pic>
      <p:sp>
        <p:nvSpPr>
          <p:cNvPr id="5" name="Shape 2"/>
          <p:cNvSpPr/>
          <p:nvPr/>
        </p:nvSpPr>
        <p:spPr>
          <a:xfrm>
            <a:off x="830275" y="1211580"/>
            <a:ext cx="7299655" cy="280721"/>
          </a:xfrm>
          <a:prstGeom prst="rect">
            <a:avLst/>
          </a:prstGeom>
          <a:ln w="31750">
            <a:solidFill>
              <a:srgbClr val="000000">
                <a:alpha val="55000"/>
              </a:srgbClr>
            </a:solidFill>
            <a:prstDash val="solid"/>
          </a:ln>
        </p:spPr>
      </p:sp>
      <p:sp>
        <p:nvSpPr>
          <p:cNvPr id="6" name="Shape 3"/>
          <p:cNvSpPr/>
          <p:nvPr/>
        </p:nvSpPr>
        <p:spPr>
          <a:xfrm>
            <a:off x="839419" y="1220724"/>
            <a:ext cx="7281367" cy="262433"/>
          </a:xfrm>
          <a:prstGeom prst="rect">
            <a:avLst/>
          </a:prstGeom>
          <a:ln w="19050">
            <a:solidFill>
              <a:srgbClr val="2E86DE"/>
            </a:solidFill>
            <a:prstDash val="solid"/>
          </a:ln>
        </p:spPr>
      </p:sp>
      <p:sp>
        <p:nvSpPr>
          <p:cNvPr id="7" name="Shape 4"/>
          <p:cNvSpPr/>
          <p:nvPr/>
        </p:nvSpPr>
        <p:spPr>
          <a:xfrm>
            <a:off x="875995" y="1257300"/>
            <a:ext cx="237744" cy="237744"/>
          </a:xfrm>
          <a:prstGeom prst="roundRect">
            <a:avLst>
              <a:gd name="adj" fmla="val 15385"/>
            </a:avLst>
          </a:prstGeom>
          <a:solidFill>
            <a:srgbClr val="2E86DE"/>
          </a:solidFill>
          <a:ln w="9525">
            <a:solidFill>
              <a:srgbClr val="FFFFFF"/>
            </a:solidFill>
            <a:prstDash val="solid"/>
          </a:ln>
        </p:spPr>
      </p:sp>
      <p:sp>
        <p:nvSpPr>
          <p:cNvPr id="8" name="Text 5"/>
          <p:cNvSpPr txBox="1"/>
          <p:nvPr/>
        </p:nvSpPr>
        <p:spPr>
          <a:xfrm>
            <a:off x="875995" y="125730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a:t>
            </a:r>
            <a:endParaRPr lang="en-US" sz="1100" dirty="0"/>
          </a:p>
        </p:txBody>
      </p:sp>
      <p:sp>
        <p:nvSpPr>
          <p:cNvPr id="9" name="Shape 6"/>
          <p:cNvSpPr/>
          <p:nvPr/>
        </p:nvSpPr>
        <p:spPr>
          <a:xfrm>
            <a:off x="2553919" y="1634033"/>
            <a:ext cx="1505102" cy="213055"/>
          </a:xfrm>
          <a:prstGeom prst="rect">
            <a:avLst/>
          </a:prstGeom>
          <a:ln w="31750">
            <a:solidFill>
              <a:srgbClr val="000000">
                <a:alpha val="55000"/>
              </a:srgbClr>
            </a:solidFill>
            <a:prstDash val="solid"/>
          </a:ln>
        </p:spPr>
      </p:sp>
      <p:sp>
        <p:nvSpPr>
          <p:cNvPr id="10" name="Shape 7"/>
          <p:cNvSpPr/>
          <p:nvPr/>
        </p:nvSpPr>
        <p:spPr>
          <a:xfrm>
            <a:off x="2563063" y="1643177"/>
            <a:ext cx="1486814" cy="194767"/>
          </a:xfrm>
          <a:prstGeom prst="rect">
            <a:avLst/>
          </a:prstGeom>
          <a:ln w="19050">
            <a:solidFill>
              <a:srgbClr val="E67E22"/>
            </a:solidFill>
            <a:prstDash val="solid"/>
          </a:ln>
        </p:spPr>
      </p:sp>
      <p:sp>
        <p:nvSpPr>
          <p:cNvPr id="11" name="Shape 8"/>
          <p:cNvSpPr/>
          <p:nvPr/>
        </p:nvSpPr>
        <p:spPr>
          <a:xfrm>
            <a:off x="4095598" y="1643177"/>
            <a:ext cx="237744" cy="237744"/>
          </a:xfrm>
          <a:prstGeom prst="roundRect">
            <a:avLst>
              <a:gd name="adj" fmla="val 15385"/>
            </a:avLst>
          </a:prstGeom>
          <a:solidFill>
            <a:srgbClr val="E67E22"/>
          </a:solidFill>
          <a:ln w="9525">
            <a:solidFill>
              <a:srgbClr val="FFFFFF"/>
            </a:solidFill>
            <a:prstDash val="solid"/>
          </a:ln>
        </p:spPr>
      </p:sp>
      <p:sp>
        <p:nvSpPr>
          <p:cNvPr id="12" name="Text 9"/>
          <p:cNvSpPr txBox="1"/>
          <p:nvPr/>
        </p:nvSpPr>
        <p:spPr>
          <a:xfrm>
            <a:off x="4095598" y="16431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a:t>
            </a:r>
            <a:endParaRPr lang="en-US" sz="1100" dirty="0"/>
          </a:p>
        </p:txBody>
      </p:sp>
      <p:sp>
        <p:nvSpPr>
          <p:cNvPr id="13" name="Shape 10"/>
          <p:cNvSpPr/>
          <p:nvPr/>
        </p:nvSpPr>
        <p:spPr>
          <a:xfrm>
            <a:off x="427025" y="1858061"/>
            <a:ext cx="2087575" cy="217627"/>
          </a:xfrm>
          <a:prstGeom prst="rect">
            <a:avLst/>
          </a:prstGeom>
          <a:ln w="31750">
            <a:solidFill>
              <a:srgbClr val="000000">
                <a:alpha val="55000"/>
              </a:srgbClr>
            </a:solidFill>
            <a:prstDash val="solid"/>
          </a:ln>
        </p:spPr>
      </p:sp>
      <p:sp>
        <p:nvSpPr>
          <p:cNvPr id="14" name="Shape 11"/>
          <p:cNvSpPr/>
          <p:nvPr/>
        </p:nvSpPr>
        <p:spPr>
          <a:xfrm>
            <a:off x="436169" y="1867205"/>
            <a:ext cx="2069287" cy="199339"/>
          </a:xfrm>
          <a:prstGeom prst="rect">
            <a:avLst/>
          </a:prstGeom>
          <a:ln w="19050">
            <a:solidFill>
              <a:srgbClr val="8E44AD"/>
            </a:solidFill>
            <a:prstDash val="solid"/>
          </a:ln>
        </p:spPr>
      </p:sp>
      <p:sp>
        <p:nvSpPr>
          <p:cNvPr id="15" name="Shape 12"/>
          <p:cNvSpPr/>
          <p:nvPr/>
        </p:nvSpPr>
        <p:spPr>
          <a:xfrm>
            <a:off x="2551176" y="1867205"/>
            <a:ext cx="237744" cy="237744"/>
          </a:xfrm>
          <a:prstGeom prst="roundRect">
            <a:avLst>
              <a:gd name="adj" fmla="val 15385"/>
            </a:avLst>
          </a:prstGeom>
          <a:solidFill>
            <a:srgbClr val="8E44AD"/>
          </a:solidFill>
          <a:ln w="9525">
            <a:solidFill>
              <a:srgbClr val="FFFFFF"/>
            </a:solidFill>
            <a:prstDash val="solid"/>
          </a:ln>
        </p:spPr>
      </p:sp>
      <p:sp>
        <p:nvSpPr>
          <p:cNvPr id="16" name="Text 13"/>
          <p:cNvSpPr txBox="1"/>
          <p:nvPr/>
        </p:nvSpPr>
        <p:spPr>
          <a:xfrm>
            <a:off x="2551176" y="1867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a:t>
            </a:r>
            <a:endParaRPr lang="en-US" sz="1100" dirty="0"/>
          </a:p>
        </p:txBody>
      </p:sp>
      <p:sp>
        <p:nvSpPr>
          <p:cNvPr id="17" name="Shape 14"/>
          <p:cNvSpPr/>
          <p:nvPr/>
        </p:nvSpPr>
        <p:spPr>
          <a:xfrm>
            <a:off x="543154" y="2144268"/>
            <a:ext cx="7509053" cy="213055"/>
          </a:xfrm>
          <a:prstGeom prst="rect">
            <a:avLst/>
          </a:prstGeom>
          <a:ln w="31750">
            <a:solidFill>
              <a:srgbClr val="000000">
                <a:alpha val="55000"/>
              </a:srgbClr>
            </a:solidFill>
            <a:prstDash val="solid"/>
          </a:ln>
        </p:spPr>
      </p:sp>
      <p:sp>
        <p:nvSpPr>
          <p:cNvPr id="18" name="Shape 15"/>
          <p:cNvSpPr/>
          <p:nvPr/>
        </p:nvSpPr>
        <p:spPr>
          <a:xfrm>
            <a:off x="552298" y="2153412"/>
            <a:ext cx="7490765" cy="194767"/>
          </a:xfrm>
          <a:prstGeom prst="rect">
            <a:avLst/>
          </a:prstGeom>
          <a:ln w="19050">
            <a:solidFill>
              <a:srgbClr val="16A085"/>
            </a:solidFill>
            <a:prstDash val="solid"/>
          </a:ln>
        </p:spPr>
      </p:sp>
      <p:sp>
        <p:nvSpPr>
          <p:cNvPr id="19" name="Shape 16"/>
          <p:cNvSpPr/>
          <p:nvPr/>
        </p:nvSpPr>
        <p:spPr>
          <a:xfrm>
            <a:off x="588874" y="2189988"/>
            <a:ext cx="237744" cy="237744"/>
          </a:xfrm>
          <a:prstGeom prst="roundRect">
            <a:avLst>
              <a:gd name="adj" fmla="val 15385"/>
            </a:avLst>
          </a:prstGeom>
          <a:solidFill>
            <a:srgbClr val="16A085"/>
          </a:solidFill>
          <a:ln w="9525">
            <a:solidFill>
              <a:srgbClr val="FFFFFF"/>
            </a:solidFill>
            <a:prstDash val="solid"/>
          </a:ln>
        </p:spPr>
      </p:sp>
      <p:sp>
        <p:nvSpPr>
          <p:cNvPr id="20" name="Text 17"/>
          <p:cNvSpPr txBox="1"/>
          <p:nvPr/>
        </p:nvSpPr>
        <p:spPr>
          <a:xfrm>
            <a:off x="588874" y="218998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a:t>
            </a:r>
            <a:endParaRPr lang="en-US" sz="1100" dirty="0"/>
          </a:p>
        </p:txBody>
      </p:sp>
      <p:sp>
        <p:nvSpPr>
          <p:cNvPr id="21" name="Shape 18"/>
          <p:cNvSpPr/>
          <p:nvPr/>
        </p:nvSpPr>
        <p:spPr>
          <a:xfrm>
            <a:off x="543154" y="2557577"/>
            <a:ext cx="7460590" cy="2904134"/>
          </a:xfrm>
          <a:prstGeom prst="rect">
            <a:avLst/>
          </a:prstGeom>
          <a:ln w="31750">
            <a:solidFill>
              <a:srgbClr val="000000">
                <a:alpha val="55000"/>
              </a:srgbClr>
            </a:solidFill>
            <a:prstDash val="solid"/>
          </a:ln>
        </p:spPr>
      </p:sp>
      <p:sp>
        <p:nvSpPr>
          <p:cNvPr id="22" name="Shape 19"/>
          <p:cNvSpPr/>
          <p:nvPr/>
        </p:nvSpPr>
        <p:spPr>
          <a:xfrm>
            <a:off x="552298" y="2566721"/>
            <a:ext cx="7442302" cy="2885846"/>
          </a:xfrm>
          <a:prstGeom prst="rect">
            <a:avLst/>
          </a:prstGeom>
          <a:ln w="19050">
            <a:solidFill>
              <a:srgbClr val="C0392B"/>
            </a:solidFill>
            <a:prstDash val="solid"/>
          </a:ln>
        </p:spPr>
      </p:sp>
      <p:sp>
        <p:nvSpPr>
          <p:cNvPr id="23" name="Shape 20"/>
          <p:cNvSpPr/>
          <p:nvPr/>
        </p:nvSpPr>
        <p:spPr>
          <a:xfrm>
            <a:off x="588874" y="2603297"/>
            <a:ext cx="237744" cy="237744"/>
          </a:xfrm>
          <a:prstGeom prst="roundRect">
            <a:avLst>
              <a:gd name="adj" fmla="val 15385"/>
            </a:avLst>
          </a:prstGeom>
          <a:solidFill>
            <a:srgbClr val="C0392B"/>
          </a:solidFill>
          <a:ln w="9525">
            <a:solidFill>
              <a:srgbClr val="FFFFFF"/>
            </a:solidFill>
            <a:prstDash val="solid"/>
          </a:ln>
        </p:spPr>
      </p:sp>
      <p:sp>
        <p:nvSpPr>
          <p:cNvPr id="24" name="Text 21"/>
          <p:cNvSpPr txBox="1"/>
          <p:nvPr/>
        </p:nvSpPr>
        <p:spPr>
          <a:xfrm>
            <a:off x="588874" y="26032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a:t>
            </a:r>
            <a:endParaRPr lang="en-US" sz="1100" dirty="0"/>
          </a:p>
        </p:txBody>
      </p:sp>
      <p:sp>
        <p:nvSpPr>
          <p:cNvPr id="25" name="Shape 22"/>
          <p:cNvSpPr/>
          <p:nvPr/>
        </p:nvSpPr>
        <p:spPr>
          <a:xfrm>
            <a:off x="543154" y="5550408"/>
            <a:ext cx="3224174" cy="319126"/>
          </a:xfrm>
          <a:prstGeom prst="rect">
            <a:avLst/>
          </a:prstGeom>
          <a:ln w="31750">
            <a:solidFill>
              <a:srgbClr val="000000">
                <a:alpha val="55000"/>
              </a:srgbClr>
            </a:solidFill>
            <a:prstDash val="solid"/>
          </a:ln>
        </p:spPr>
      </p:sp>
      <p:sp>
        <p:nvSpPr>
          <p:cNvPr id="26" name="Shape 23"/>
          <p:cNvSpPr/>
          <p:nvPr/>
        </p:nvSpPr>
        <p:spPr>
          <a:xfrm>
            <a:off x="552298" y="5559552"/>
            <a:ext cx="3205886" cy="300838"/>
          </a:xfrm>
          <a:prstGeom prst="rect">
            <a:avLst/>
          </a:prstGeom>
          <a:ln w="19050">
            <a:solidFill>
              <a:srgbClr val="B7950B"/>
            </a:solidFill>
            <a:prstDash val="solid"/>
          </a:ln>
        </p:spPr>
      </p:sp>
      <p:sp>
        <p:nvSpPr>
          <p:cNvPr id="27" name="Shape 24"/>
          <p:cNvSpPr/>
          <p:nvPr/>
        </p:nvSpPr>
        <p:spPr>
          <a:xfrm>
            <a:off x="3803904" y="5591099"/>
            <a:ext cx="237744" cy="237744"/>
          </a:xfrm>
          <a:prstGeom prst="roundRect">
            <a:avLst>
              <a:gd name="adj" fmla="val 15385"/>
            </a:avLst>
          </a:prstGeom>
          <a:solidFill>
            <a:srgbClr val="B7950B"/>
          </a:solidFill>
          <a:ln w="9525">
            <a:solidFill>
              <a:srgbClr val="FFFFFF"/>
            </a:solidFill>
            <a:prstDash val="solid"/>
          </a:ln>
        </p:spPr>
      </p:sp>
      <p:sp>
        <p:nvSpPr>
          <p:cNvPr id="28" name="Text 25"/>
          <p:cNvSpPr txBox="1"/>
          <p:nvPr/>
        </p:nvSpPr>
        <p:spPr>
          <a:xfrm>
            <a:off x="3803904" y="559109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F</a:t>
            </a:r>
            <a:endParaRPr lang="en-US" sz="1100" dirty="0"/>
          </a:p>
        </p:txBody>
      </p:sp>
      <p:sp>
        <p:nvSpPr>
          <p:cNvPr id="29" name="Shape 26"/>
          <p:cNvSpPr/>
          <p:nvPr/>
        </p:nvSpPr>
        <p:spPr>
          <a:xfrm>
            <a:off x="8458200" y="1143000"/>
            <a:ext cx="310896" cy="310896"/>
          </a:xfrm>
          <a:prstGeom prst="roundRect">
            <a:avLst>
              <a:gd name="adj" fmla="val 14706"/>
            </a:avLst>
          </a:prstGeom>
          <a:solidFill>
            <a:srgbClr val="2E86DE"/>
          </a:solidFill>
          <a:ln w="12700">
            <a:solidFill>
              <a:srgbClr val="2E86DE"/>
            </a:solidFill>
            <a:prstDash val="solid"/>
          </a:ln>
        </p:spPr>
      </p:sp>
      <p:sp>
        <p:nvSpPr>
          <p:cNvPr id="30" name="Text 27"/>
          <p:cNvSpPr txBox="1"/>
          <p:nvPr/>
        </p:nvSpPr>
        <p:spPr>
          <a:xfrm>
            <a:off x="8458200" y="114300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31" name="Text 28"/>
          <p:cNvSpPr txBox="1"/>
          <p:nvPr/>
        </p:nvSpPr>
        <p:spPr>
          <a:xfrm>
            <a:off x="8915400" y="1115568"/>
            <a:ext cx="2880360" cy="548640"/>
          </a:xfrm>
          <a:prstGeom prst="rect">
            <a:avLst/>
          </a:prstGeom>
          <a:noFill/>
          <a:ln/>
        </p:spPr>
        <p:txBody>
          <a:bodyPr wrap="square" lIns="0" tIns="0" rIns="0" bIns="0" rtlCol="0" anchor="t"/>
          <a:lstStyle/>
          <a:p>
            <a:pPr indent="0" marL="0">
              <a:buNone/>
            </a:pPr>
            <a:r>
              <a:rPr lang="en-US" sz="1500" dirty="0">
                <a:solidFill>
                  <a:srgbClr val="1B1B1B"/>
                </a:solidFill>
                <a:latin typeface="Calibri" pitchFamily="34" charset="0"/>
                <a:ea typeface="Calibri" pitchFamily="34" charset="-122"/>
                <a:cs typeface="Calibri" pitchFamily="34" charset="-120"/>
              </a:rPr>
              <a:t>Top bar: shift, who is signed in, </a:t>
            </a:r>
            <a:pPr indent="0" marL="0">
              <a:buNone/>
            </a:pPr>
            <a:r>
              <a:rPr lang="en-US" sz="1500" b="1" dirty="0">
                <a:solidFill>
                  <a:srgbClr val="12263F"/>
                </a:solidFill>
                <a:latin typeface="Calibri" pitchFamily="34" charset="0"/>
                <a:ea typeface="Calibri" pitchFamily="34" charset="-122"/>
                <a:cs typeface="Calibri" pitchFamily="34" charset="-120"/>
              </a:rPr>
              <a:t>Downtime</a:t>
            </a:r>
            <a:endParaRPr lang="en-US" sz="1500" dirty="0"/>
          </a:p>
        </p:txBody>
      </p:sp>
      <p:sp>
        <p:nvSpPr>
          <p:cNvPr id="32" name="Shape 29"/>
          <p:cNvSpPr/>
          <p:nvPr/>
        </p:nvSpPr>
        <p:spPr>
          <a:xfrm>
            <a:off x="8458200" y="1801368"/>
            <a:ext cx="310896" cy="310896"/>
          </a:xfrm>
          <a:prstGeom prst="roundRect">
            <a:avLst>
              <a:gd name="adj" fmla="val 14706"/>
            </a:avLst>
          </a:prstGeom>
          <a:solidFill>
            <a:srgbClr val="E67E22"/>
          </a:solidFill>
          <a:ln w="12700">
            <a:solidFill>
              <a:srgbClr val="E67E22"/>
            </a:solidFill>
            <a:prstDash val="solid"/>
          </a:ln>
        </p:spPr>
      </p:sp>
      <p:sp>
        <p:nvSpPr>
          <p:cNvPr id="33" name="Text 30"/>
          <p:cNvSpPr txBox="1"/>
          <p:nvPr/>
        </p:nvSpPr>
        <p:spPr>
          <a:xfrm>
            <a:off x="8458200" y="180136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t>
            </a:r>
            <a:endParaRPr lang="en-US" sz="1400" dirty="0"/>
          </a:p>
        </p:txBody>
      </p:sp>
      <p:sp>
        <p:nvSpPr>
          <p:cNvPr id="34" name="Text 31"/>
          <p:cNvSpPr txBox="1"/>
          <p:nvPr/>
        </p:nvSpPr>
        <p:spPr>
          <a:xfrm>
            <a:off x="8915400" y="1773936"/>
            <a:ext cx="2880360" cy="548640"/>
          </a:xfrm>
          <a:prstGeom prst="rect">
            <a:avLst/>
          </a:prstGeom>
          <a:noFill/>
          <a:ln/>
        </p:spPr>
        <p:txBody>
          <a:bodyPr wrap="square" lIns="0" tIns="0" rIns="0" bIns="0" rtlCol="0" anchor="t"/>
          <a:lstStyle/>
          <a:p>
            <a:pPr indent="0" marL="0">
              <a:buNone/>
            </a:pPr>
            <a:r>
              <a:rPr lang="en-US" sz="1500" dirty="0">
                <a:solidFill>
                  <a:srgbClr val="1B1B1B"/>
                </a:solidFill>
                <a:latin typeface="Calibri" pitchFamily="34" charset="0"/>
                <a:ea typeface="Calibri" pitchFamily="34" charset="-122"/>
                <a:cs typeface="Calibri" pitchFamily="34" charset="-120"/>
              </a:rPr>
              <a:t>Your machine</a:t>
            </a:r>
            <a:endParaRPr lang="en-US" sz="1500" dirty="0"/>
          </a:p>
        </p:txBody>
      </p:sp>
      <p:sp>
        <p:nvSpPr>
          <p:cNvPr id="35" name="Shape 32"/>
          <p:cNvSpPr/>
          <p:nvPr/>
        </p:nvSpPr>
        <p:spPr>
          <a:xfrm>
            <a:off x="8458200" y="2459736"/>
            <a:ext cx="310896" cy="310896"/>
          </a:xfrm>
          <a:prstGeom prst="roundRect">
            <a:avLst>
              <a:gd name="adj" fmla="val 14706"/>
            </a:avLst>
          </a:prstGeom>
          <a:solidFill>
            <a:srgbClr val="8E44AD"/>
          </a:solidFill>
          <a:ln w="12700">
            <a:solidFill>
              <a:srgbClr val="8E44AD"/>
            </a:solidFill>
            <a:prstDash val="solid"/>
          </a:ln>
        </p:spPr>
      </p:sp>
      <p:sp>
        <p:nvSpPr>
          <p:cNvPr id="36" name="Text 33"/>
          <p:cNvSpPr txBox="1"/>
          <p:nvPr/>
        </p:nvSpPr>
        <p:spPr>
          <a:xfrm>
            <a:off x="8458200" y="2459736"/>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a:t>
            </a:r>
            <a:endParaRPr lang="en-US" sz="1400" dirty="0"/>
          </a:p>
        </p:txBody>
      </p:sp>
      <p:sp>
        <p:nvSpPr>
          <p:cNvPr id="37" name="Text 34"/>
          <p:cNvSpPr txBox="1"/>
          <p:nvPr/>
        </p:nvSpPr>
        <p:spPr>
          <a:xfrm>
            <a:off x="8915400" y="2432304"/>
            <a:ext cx="2880360" cy="548640"/>
          </a:xfrm>
          <a:prstGeom prst="rect">
            <a:avLst/>
          </a:prstGeom>
          <a:noFill/>
          <a:ln/>
        </p:spPr>
        <p:txBody>
          <a:bodyPr wrap="square" lIns="0" tIns="0" rIns="0" bIns="0" rtlCol="0" anchor="t"/>
          <a:lstStyle/>
          <a:p>
            <a:pPr indent="0" marL="0">
              <a:buNone/>
            </a:pPr>
            <a:r>
              <a:rPr lang="en-US" sz="1500" dirty="0">
                <a:solidFill>
                  <a:srgbClr val="1B1B1B"/>
                </a:solidFill>
                <a:latin typeface="Calibri" pitchFamily="34" charset="0"/>
                <a:ea typeface="Calibri" pitchFamily="34" charset="-122"/>
                <a:cs typeface="Calibri" pitchFamily="34" charset="-120"/>
              </a:rPr>
              <a:t>The two tabs</a:t>
            </a:r>
            <a:endParaRPr lang="en-US" sz="1500" dirty="0"/>
          </a:p>
        </p:txBody>
      </p:sp>
      <p:sp>
        <p:nvSpPr>
          <p:cNvPr id="38" name="Shape 35"/>
          <p:cNvSpPr/>
          <p:nvPr/>
        </p:nvSpPr>
        <p:spPr>
          <a:xfrm>
            <a:off x="8458200" y="3118104"/>
            <a:ext cx="310896" cy="310896"/>
          </a:xfrm>
          <a:prstGeom prst="roundRect">
            <a:avLst>
              <a:gd name="adj" fmla="val 14706"/>
            </a:avLst>
          </a:prstGeom>
          <a:solidFill>
            <a:srgbClr val="16A085"/>
          </a:solidFill>
          <a:ln w="12700">
            <a:solidFill>
              <a:srgbClr val="16A085"/>
            </a:solidFill>
            <a:prstDash val="solid"/>
          </a:ln>
        </p:spPr>
      </p:sp>
      <p:sp>
        <p:nvSpPr>
          <p:cNvPr id="39" name="Text 36"/>
          <p:cNvSpPr txBox="1"/>
          <p:nvPr/>
        </p:nvSpPr>
        <p:spPr>
          <a:xfrm>
            <a:off x="8458200" y="3118104"/>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40" name="Text 37"/>
          <p:cNvSpPr txBox="1"/>
          <p:nvPr/>
        </p:nvSpPr>
        <p:spPr>
          <a:xfrm>
            <a:off x="8915400" y="3090672"/>
            <a:ext cx="2880360" cy="548640"/>
          </a:xfrm>
          <a:prstGeom prst="rect">
            <a:avLst/>
          </a:prstGeom>
          <a:noFill/>
          <a:ln/>
        </p:spPr>
        <p:txBody>
          <a:bodyPr wrap="square" lIns="0" tIns="0" rIns="0" bIns="0" rtlCol="0" anchor="t"/>
          <a:lstStyle/>
          <a:p>
            <a:pPr indent="0" marL="0">
              <a:buNone/>
            </a:pPr>
            <a:r>
              <a:rPr lang="en-US" sz="1500" dirty="0">
                <a:solidFill>
                  <a:srgbClr val="1B1B1B"/>
                </a:solidFill>
                <a:latin typeface="Calibri" pitchFamily="34" charset="0"/>
                <a:ea typeface="Calibri" pitchFamily="34" charset="-122"/>
                <a:cs typeface="Calibri" pitchFamily="34" charset="-120"/>
              </a:rPr>
              <a:t>The die in this machine</a:t>
            </a:r>
            <a:endParaRPr lang="en-US" sz="1500" dirty="0"/>
          </a:p>
        </p:txBody>
      </p:sp>
      <p:sp>
        <p:nvSpPr>
          <p:cNvPr id="41" name="Shape 38"/>
          <p:cNvSpPr/>
          <p:nvPr/>
        </p:nvSpPr>
        <p:spPr>
          <a:xfrm>
            <a:off x="8458200" y="3776472"/>
            <a:ext cx="310896" cy="310896"/>
          </a:xfrm>
          <a:prstGeom prst="roundRect">
            <a:avLst>
              <a:gd name="adj" fmla="val 14706"/>
            </a:avLst>
          </a:prstGeom>
          <a:solidFill>
            <a:srgbClr val="C0392B"/>
          </a:solidFill>
          <a:ln w="12700">
            <a:solidFill>
              <a:srgbClr val="C0392B"/>
            </a:solidFill>
            <a:prstDash val="solid"/>
          </a:ln>
        </p:spPr>
      </p:sp>
      <p:sp>
        <p:nvSpPr>
          <p:cNvPr id="42" name="Text 39"/>
          <p:cNvSpPr txBox="1"/>
          <p:nvPr/>
        </p:nvSpPr>
        <p:spPr>
          <a:xfrm>
            <a:off x="8458200" y="3776472"/>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a:t>
            </a:r>
            <a:endParaRPr lang="en-US" sz="1400" dirty="0"/>
          </a:p>
        </p:txBody>
      </p:sp>
      <p:sp>
        <p:nvSpPr>
          <p:cNvPr id="43" name="Text 40"/>
          <p:cNvSpPr txBox="1"/>
          <p:nvPr/>
        </p:nvSpPr>
        <p:spPr>
          <a:xfrm>
            <a:off x="8915400" y="3749040"/>
            <a:ext cx="2880360" cy="548640"/>
          </a:xfrm>
          <a:prstGeom prst="rect">
            <a:avLst/>
          </a:prstGeom>
          <a:noFill/>
          <a:ln/>
        </p:spPr>
        <p:txBody>
          <a:bodyPr wrap="square" lIns="0" tIns="0" rIns="0" bIns="0" rtlCol="0" anchor="t"/>
          <a:lstStyle/>
          <a:p>
            <a:pPr indent="0" marL="0">
              <a:buNone/>
            </a:pPr>
            <a:r>
              <a:rPr lang="en-US" sz="1500" dirty="0">
                <a:solidFill>
                  <a:srgbClr val="1B1B1B"/>
                </a:solidFill>
                <a:latin typeface="Calibri" pitchFamily="34" charset="0"/>
                <a:ea typeface="Calibri" pitchFamily="34" charset="-122"/>
                <a:cs typeface="Calibri" pitchFamily="34" charset="-120"/>
              </a:rPr>
              <a:t>One row for each cavity</a:t>
            </a:r>
            <a:endParaRPr lang="en-US" sz="1500" dirty="0"/>
          </a:p>
        </p:txBody>
      </p:sp>
      <p:sp>
        <p:nvSpPr>
          <p:cNvPr id="44" name="Shape 41"/>
          <p:cNvSpPr/>
          <p:nvPr/>
        </p:nvSpPr>
        <p:spPr>
          <a:xfrm>
            <a:off x="8458200" y="4434840"/>
            <a:ext cx="310896" cy="310896"/>
          </a:xfrm>
          <a:prstGeom prst="roundRect">
            <a:avLst>
              <a:gd name="adj" fmla="val 14706"/>
            </a:avLst>
          </a:prstGeom>
          <a:solidFill>
            <a:srgbClr val="B7950B"/>
          </a:solidFill>
          <a:ln w="12700">
            <a:solidFill>
              <a:srgbClr val="B7950B"/>
            </a:solidFill>
            <a:prstDash val="solid"/>
          </a:ln>
        </p:spPr>
      </p:sp>
      <p:sp>
        <p:nvSpPr>
          <p:cNvPr id="45" name="Text 42"/>
          <p:cNvSpPr txBox="1"/>
          <p:nvPr/>
        </p:nvSpPr>
        <p:spPr>
          <a:xfrm>
            <a:off x="8458200" y="443484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a:t>
            </a:r>
            <a:endParaRPr lang="en-US" sz="1400" dirty="0"/>
          </a:p>
        </p:txBody>
      </p:sp>
      <p:sp>
        <p:nvSpPr>
          <p:cNvPr id="46" name="Text 43"/>
          <p:cNvSpPr txBox="1"/>
          <p:nvPr/>
        </p:nvSpPr>
        <p:spPr>
          <a:xfrm>
            <a:off x="8915400" y="4407408"/>
            <a:ext cx="2880360" cy="548640"/>
          </a:xfrm>
          <a:prstGeom prst="rect">
            <a:avLst/>
          </a:prstGeom>
          <a:noFill/>
          <a:ln/>
        </p:spPr>
        <p:txBody>
          <a:bodyPr wrap="square" lIns="0" tIns="0" rIns="0" bIns="0" rtlCol="0" anchor="t"/>
          <a:lstStyle/>
          <a:p>
            <a:pPr indent="0" marL="0">
              <a:buNone/>
            </a:pPr>
            <a:r>
              <a:rPr lang="en-US" sz="1500" dirty="0">
                <a:solidFill>
                  <a:srgbClr val="1B1B1B"/>
                </a:solidFill>
                <a:latin typeface="Calibri" pitchFamily="34" charset="0"/>
                <a:ea typeface="Calibri" pitchFamily="34" charset="-122"/>
                <a:cs typeface="Calibri" pitchFamily="34" charset="-120"/>
              </a:rPr>
              <a:t>Open many baskets at once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START OF SHIFT</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Sign in with your PIN</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1486" cy="5303520"/>
          </a:xfrm>
          <a:prstGeom prst="rect">
            <a:avLst/>
          </a:prstGeom>
        </p:spPr>
      </p:pic>
      <p:sp>
        <p:nvSpPr>
          <p:cNvPr id="5" name="Shape 2"/>
          <p:cNvSpPr/>
          <p:nvPr/>
        </p:nvSpPr>
        <p:spPr>
          <a:xfrm>
            <a:off x="6016752" y="1619402"/>
            <a:ext cx="887882" cy="181966"/>
          </a:xfrm>
          <a:prstGeom prst="rect">
            <a:avLst/>
          </a:prstGeom>
          <a:ln w="31750">
            <a:solidFill>
              <a:srgbClr val="000000">
                <a:alpha val="55000"/>
              </a:srgbClr>
            </a:solidFill>
            <a:prstDash val="solid"/>
          </a:ln>
        </p:spPr>
      </p:sp>
      <p:sp>
        <p:nvSpPr>
          <p:cNvPr id="6" name="Shape 3"/>
          <p:cNvSpPr/>
          <p:nvPr/>
        </p:nvSpPr>
        <p:spPr>
          <a:xfrm>
            <a:off x="6025896" y="1628546"/>
            <a:ext cx="869594" cy="163678"/>
          </a:xfrm>
          <a:prstGeom prst="rect">
            <a:avLst/>
          </a:prstGeom>
          <a:ln w="19050">
            <a:solidFill>
              <a:srgbClr val="FFB400"/>
            </a:solidFill>
            <a:prstDash val="solid"/>
          </a:ln>
        </p:spPr>
      </p:sp>
      <p:sp>
        <p:nvSpPr>
          <p:cNvPr id="7" name="Shape 4"/>
          <p:cNvSpPr/>
          <p:nvPr/>
        </p:nvSpPr>
        <p:spPr>
          <a:xfrm>
            <a:off x="5879592" y="1482242"/>
            <a:ext cx="256032" cy="256032"/>
          </a:xfrm>
          <a:prstGeom prst="ellipse">
            <a:avLst/>
          </a:prstGeom>
          <a:solidFill>
            <a:srgbClr val="FFB400"/>
          </a:solidFill>
          <a:ln w="9525">
            <a:solidFill>
              <a:srgbClr val="111111"/>
            </a:solidFill>
            <a:prstDash val="solid"/>
          </a:ln>
        </p:spPr>
      </p:sp>
      <p:sp>
        <p:nvSpPr>
          <p:cNvPr id="8" name="Text 5"/>
          <p:cNvSpPr txBox="1"/>
          <p:nvPr/>
        </p:nvSpPr>
        <p:spPr>
          <a:xfrm>
            <a:off x="5879592" y="1482242"/>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9" name="Shape 6"/>
          <p:cNvSpPr/>
          <p:nvPr/>
        </p:nvSpPr>
        <p:spPr>
          <a:xfrm>
            <a:off x="2559406" y="3567989"/>
            <a:ext cx="2210105" cy="2402129"/>
          </a:xfrm>
          <a:prstGeom prst="rect">
            <a:avLst/>
          </a:prstGeom>
          <a:ln w="31750">
            <a:solidFill>
              <a:srgbClr val="000000">
                <a:alpha val="55000"/>
              </a:srgbClr>
            </a:solidFill>
            <a:prstDash val="solid"/>
          </a:ln>
        </p:spPr>
      </p:sp>
      <p:sp>
        <p:nvSpPr>
          <p:cNvPr id="10" name="Shape 7"/>
          <p:cNvSpPr/>
          <p:nvPr/>
        </p:nvSpPr>
        <p:spPr>
          <a:xfrm>
            <a:off x="2568550" y="3577133"/>
            <a:ext cx="2191817" cy="2383841"/>
          </a:xfrm>
          <a:prstGeom prst="rect">
            <a:avLst/>
          </a:prstGeom>
          <a:ln w="19050">
            <a:solidFill>
              <a:srgbClr val="FFB400"/>
            </a:solidFill>
            <a:prstDash val="solid"/>
          </a:ln>
        </p:spPr>
      </p:sp>
      <p:sp>
        <p:nvSpPr>
          <p:cNvPr id="11" name="Shape 8"/>
          <p:cNvSpPr/>
          <p:nvPr/>
        </p:nvSpPr>
        <p:spPr>
          <a:xfrm>
            <a:off x="2422246" y="3430829"/>
            <a:ext cx="256032" cy="256032"/>
          </a:xfrm>
          <a:prstGeom prst="ellipse">
            <a:avLst/>
          </a:prstGeom>
          <a:solidFill>
            <a:srgbClr val="FFB400"/>
          </a:solidFill>
          <a:ln w="9525">
            <a:solidFill>
              <a:srgbClr val="111111"/>
            </a:solidFill>
            <a:prstDash val="solid"/>
          </a:ln>
        </p:spPr>
      </p:sp>
      <p:sp>
        <p:nvSpPr>
          <p:cNvPr id="12" name="Text 9"/>
          <p:cNvSpPr txBox="1"/>
          <p:nvPr/>
        </p:nvSpPr>
        <p:spPr>
          <a:xfrm>
            <a:off x="2422246" y="3430829"/>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3" name="Shape 10"/>
          <p:cNvSpPr/>
          <p:nvPr/>
        </p:nvSpPr>
        <p:spPr>
          <a:xfrm>
            <a:off x="2926994" y="1862633"/>
            <a:ext cx="1475842" cy="351130"/>
          </a:xfrm>
          <a:prstGeom prst="rect">
            <a:avLst/>
          </a:prstGeom>
          <a:ln w="31750">
            <a:solidFill>
              <a:srgbClr val="000000">
                <a:alpha val="55000"/>
              </a:srgbClr>
            </a:solidFill>
            <a:prstDash val="solid"/>
          </a:ln>
        </p:spPr>
      </p:sp>
      <p:sp>
        <p:nvSpPr>
          <p:cNvPr id="14" name="Shape 11"/>
          <p:cNvSpPr/>
          <p:nvPr/>
        </p:nvSpPr>
        <p:spPr>
          <a:xfrm>
            <a:off x="2936138" y="1871777"/>
            <a:ext cx="1457554" cy="332842"/>
          </a:xfrm>
          <a:prstGeom prst="rect">
            <a:avLst/>
          </a:prstGeom>
          <a:ln w="19050">
            <a:solidFill>
              <a:srgbClr val="FFB400"/>
            </a:solidFill>
            <a:prstDash val="solid"/>
          </a:ln>
        </p:spPr>
      </p:sp>
      <p:sp>
        <p:nvSpPr>
          <p:cNvPr id="15" name="Shape 12"/>
          <p:cNvSpPr/>
          <p:nvPr/>
        </p:nvSpPr>
        <p:spPr>
          <a:xfrm>
            <a:off x="2789834" y="1725473"/>
            <a:ext cx="256032" cy="256032"/>
          </a:xfrm>
          <a:prstGeom prst="ellipse">
            <a:avLst/>
          </a:prstGeom>
          <a:solidFill>
            <a:srgbClr val="FFB400"/>
          </a:solidFill>
          <a:ln w="9525">
            <a:solidFill>
              <a:srgbClr val="111111"/>
            </a:solidFill>
            <a:prstDash val="solid"/>
          </a:ln>
        </p:spPr>
      </p:sp>
      <p:sp>
        <p:nvSpPr>
          <p:cNvPr id="16" name="Text 13"/>
          <p:cNvSpPr txBox="1"/>
          <p:nvPr/>
        </p:nvSpPr>
        <p:spPr>
          <a:xfrm>
            <a:off x="2789834" y="1725473"/>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17" name="Shape 14"/>
          <p:cNvSpPr/>
          <p:nvPr/>
        </p:nvSpPr>
        <p:spPr>
          <a:xfrm>
            <a:off x="8458200" y="1179576"/>
            <a:ext cx="310896" cy="310896"/>
          </a:xfrm>
          <a:prstGeom prst="ellipse">
            <a:avLst/>
          </a:prstGeom>
          <a:solidFill>
            <a:srgbClr val="FFB400"/>
          </a:solidFill>
          <a:ln w="9525">
            <a:solidFill>
              <a:srgbClr val="111111"/>
            </a:solidFill>
            <a:prstDash val="solid"/>
          </a:ln>
        </p:spPr>
      </p:sp>
      <p:sp>
        <p:nvSpPr>
          <p:cNvPr id="18" name="Text 15"/>
          <p:cNvSpPr txBox="1"/>
          <p:nvPr/>
        </p:nvSpPr>
        <p:spPr>
          <a:xfrm>
            <a:off x="8458200" y="11795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19" name="Text 16"/>
          <p:cNvSpPr txBox="1"/>
          <p:nvPr/>
        </p:nvSpPr>
        <p:spPr>
          <a:xfrm>
            <a:off x="8897112" y="11430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No number pad? Tap your name here.</a:t>
            </a:r>
            <a:endParaRPr lang="en-US" sz="1700" dirty="0"/>
          </a:p>
        </p:txBody>
      </p:sp>
      <p:sp>
        <p:nvSpPr>
          <p:cNvPr id="20" name="Shape 17"/>
          <p:cNvSpPr/>
          <p:nvPr/>
        </p:nvSpPr>
        <p:spPr>
          <a:xfrm>
            <a:off x="8458200" y="2093976"/>
            <a:ext cx="310896" cy="310896"/>
          </a:xfrm>
          <a:prstGeom prst="ellipse">
            <a:avLst/>
          </a:prstGeom>
          <a:solidFill>
            <a:srgbClr val="FFB400"/>
          </a:solidFill>
          <a:ln w="9525">
            <a:solidFill>
              <a:srgbClr val="111111"/>
            </a:solidFill>
            <a:prstDash val="solid"/>
          </a:ln>
        </p:spPr>
      </p:sp>
      <p:sp>
        <p:nvSpPr>
          <p:cNvPr id="21" name="Text 18"/>
          <p:cNvSpPr txBox="1"/>
          <p:nvPr/>
        </p:nvSpPr>
        <p:spPr>
          <a:xfrm>
            <a:off x="8458200" y="20939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22" name="Text 19"/>
          <p:cNvSpPr txBox="1"/>
          <p:nvPr/>
        </p:nvSpPr>
        <p:spPr>
          <a:xfrm>
            <a:off x="8897112" y="20574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Type your five-digit PIN.</a:t>
            </a:r>
            <a:endParaRPr lang="en-US" sz="1700" dirty="0"/>
          </a:p>
        </p:txBody>
      </p:sp>
      <p:sp>
        <p:nvSpPr>
          <p:cNvPr id="23" name="Shape 20"/>
          <p:cNvSpPr/>
          <p:nvPr/>
        </p:nvSpPr>
        <p:spPr>
          <a:xfrm>
            <a:off x="8458200" y="3008376"/>
            <a:ext cx="310896" cy="310896"/>
          </a:xfrm>
          <a:prstGeom prst="ellipse">
            <a:avLst/>
          </a:prstGeom>
          <a:solidFill>
            <a:srgbClr val="FFB400"/>
          </a:solidFill>
          <a:ln w="9525">
            <a:solidFill>
              <a:srgbClr val="111111"/>
            </a:solidFill>
            <a:prstDash val="solid"/>
          </a:ln>
        </p:spPr>
      </p:sp>
      <p:sp>
        <p:nvSpPr>
          <p:cNvPr id="24" name="Text 21"/>
          <p:cNvSpPr txBox="1"/>
          <p:nvPr/>
        </p:nvSpPr>
        <p:spPr>
          <a:xfrm>
            <a:off x="8458200" y="30083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25" name="Text 22"/>
          <p:cNvSpPr txBox="1"/>
          <p:nvPr/>
        </p:nvSpPr>
        <p:spPr>
          <a:xfrm>
            <a:off x="8897112" y="29718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Check the number shows here.</a:t>
            </a:r>
            <a:endParaRPr lang="en-US" sz="1700" dirty="0"/>
          </a:p>
        </p:txBody>
      </p:sp>
      <p:sp>
        <p:nvSpPr>
          <p:cNvPr id="26" name="Text 23"/>
          <p:cNvSpPr txBox="1"/>
          <p:nvPr/>
        </p:nvSpPr>
        <p:spPr>
          <a:xfrm>
            <a:off x="8458200" y="3977640"/>
            <a:ext cx="3337560" cy="822960"/>
          </a:xfrm>
          <a:prstGeom prst="rect">
            <a:avLst/>
          </a:prstGeom>
          <a:solidFill>
            <a:srgbClr val="EEF2F7"/>
          </a:solidFill>
          <a:ln/>
        </p:spPr>
        <p:txBody>
          <a:bodyPr wrap="square" lIns="101600" tIns="101600" rIns="101600" bIns="101600" rtlCol="0" anchor="t"/>
          <a:lstStyle/>
          <a:p>
            <a:pPr indent="0" marL="0">
              <a:buNone/>
            </a:pPr>
            <a:r>
              <a:rPr lang="en-US" sz="1300" dirty="0">
                <a:solidFill>
                  <a:srgbClr val="5A6472"/>
                </a:solidFill>
                <a:latin typeface="Calibri" pitchFamily="34" charset="0"/>
                <a:ea typeface="Calibri" pitchFamily="34" charset="-122"/>
                <a:cs typeface="Calibri" pitchFamily="34" charset="-120"/>
              </a:rPr>
              <a:t>Does your PIN start with 0? Type the 0. It counts.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START OF SHIFT</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PIN not recognized</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2400" cy="5302606"/>
          </a:xfrm>
          <a:prstGeom prst="rect">
            <a:avLst/>
          </a:prstGeom>
        </p:spPr>
      </p:pic>
      <p:sp>
        <p:nvSpPr>
          <p:cNvPr id="5" name="Shape 2"/>
          <p:cNvSpPr/>
          <p:nvPr/>
        </p:nvSpPr>
        <p:spPr>
          <a:xfrm>
            <a:off x="4711903" y="3655771"/>
            <a:ext cx="933602" cy="286207"/>
          </a:xfrm>
          <a:prstGeom prst="rect">
            <a:avLst/>
          </a:prstGeom>
          <a:ln w="31750">
            <a:solidFill>
              <a:srgbClr val="000000">
                <a:alpha val="55000"/>
              </a:srgbClr>
            </a:solidFill>
            <a:prstDash val="solid"/>
          </a:ln>
        </p:spPr>
      </p:sp>
      <p:sp>
        <p:nvSpPr>
          <p:cNvPr id="6" name="Shape 3"/>
          <p:cNvSpPr/>
          <p:nvPr/>
        </p:nvSpPr>
        <p:spPr>
          <a:xfrm>
            <a:off x="4721047" y="3664915"/>
            <a:ext cx="915314" cy="267919"/>
          </a:xfrm>
          <a:prstGeom prst="rect">
            <a:avLst/>
          </a:prstGeom>
          <a:ln w="19050">
            <a:solidFill>
              <a:srgbClr val="FFB400"/>
            </a:solidFill>
            <a:prstDash val="solid"/>
          </a:ln>
        </p:spPr>
      </p:sp>
      <p:sp>
        <p:nvSpPr>
          <p:cNvPr id="7" name="Shape 4"/>
          <p:cNvSpPr/>
          <p:nvPr/>
        </p:nvSpPr>
        <p:spPr>
          <a:xfrm>
            <a:off x="4574743" y="3518611"/>
            <a:ext cx="256032" cy="256032"/>
          </a:xfrm>
          <a:prstGeom prst="ellipse">
            <a:avLst/>
          </a:prstGeom>
          <a:solidFill>
            <a:srgbClr val="FFB400"/>
          </a:solidFill>
          <a:ln w="9525">
            <a:solidFill>
              <a:srgbClr val="111111"/>
            </a:solidFill>
            <a:prstDash val="solid"/>
          </a:ln>
        </p:spPr>
      </p:sp>
      <p:sp>
        <p:nvSpPr>
          <p:cNvPr id="8" name="Text 5"/>
          <p:cNvSpPr txBox="1"/>
          <p:nvPr/>
        </p:nvSpPr>
        <p:spPr>
          <a:xfrm>
            <a:off x="4574743" y="3518611"/>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9" name="Shape 6"/>
          <p:cNvSpPr/>
          <p:nvPr/>
        </p:nvSpPr>
        <p:spPr>
          <a:xfrm>
            <a:off x="2941625" y="3655771"/>
            <a:ext cx="1409090" cy="286207"/>
          </a:xfrm>
          <a:prstGeom prst="rect">
            <a:avLst/>
          </a:prstGeom>
          <a:ln w="31750">
            <a:solidFill>
              <a:srgbClr val="000000">
                <a:alpha val="55000"/>
              </a:srgbClr>
            </a:solidFill>
            <a:prstDash val="solid"/>
          </a:ln>
        </p:spPr>
      </p:sp>
      <p:sp>
        <p:nvSpPr>
          <p:cNvPr id="10" name="Shape 7"/>
          <p:cNvSpPr/>
          <p:nvPr/>
        </p:nvSpPr>
        <p:spPr>
          <a:xfrm>
            <a:off x="2950769" y="3664915"/>
            <a:ext cx="1390802" cy="267919"/>
          </a:xfrm>
          <a:prstGeom prst="rect">
            <a:avLst/>
          </a:prstGeom>
          <a:ln w="19050">
            <a:solidFill>
              <a:srgbClr val="FFB400"/>
            </a:solidFill>
            <a:prstDash val="solid"/>
          </a:ln>
        </p:spPr>
      </p:sp>
      <p:sp>
        <p:nvSpPr>
          <p:cNvPr id="11" name="Shape 8"/>
          <p:cNvSpPr/>
          <p:nvPr/>
        </p:nvSpPr>
        <p:spPr>
          <a:xfrm>
            <a:off x="2804465" y="3518611"/>
            <a:ext cx="256032" cy="256032"/>
          </a:xfrm>
          <a:prstGeom prst="ellipse">
            <a:avLst/>
          </a:prstGeom>
          <a:solidFill>
            <a:srgbClr val="FFB400"/>
          </a:solidFill>
          <a:ln w="9525">
            <a:solidFill>
              <a:srgbClr val="111111"/>
            </a:solidFill>
            <a:prstDash val="solid"/>
          </a:ln>
        </p:spPr>
      </p:sp>
      <p:sp>
        <p:nvSpPr>
          <p:cNvPr id="12" name="Text 9"/>
          <p:cNvSpPr txBox="1"/>
          <p:nvPr/>
        </p:nvSpPr>
        <p:spPr>
          <a:xfrm>
            <a:off x="2804465" y="3518611"/>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3" name="Shape 10"/>
          <p:cNvSpPr/>
          <p:nvPr/>
        </p:nvSpPr>
        <p:spPr>
          <a:xfrm>
            <a:off x="8458200" y="1179576"/>
            <a:ext cx="310896" cy="310896"/>
          </a:xfrm>
          <a:prstGeom prst="ellipse">
            <a:avLst/>
          </a:prstGeom>
          <a:solidFill>
            <a:srgbClr val="FFB400"/>
          </a:solidFill>
          <a:ln w="9525">
            <a:solidFill>
              <a:srgbClr val="111111"/>
            </a:solidFill>
            <a:prstDash val="solid"/>
          </a:ln>
        </p:spPr>
      </p:sp>
      <p:sp>
        <p:nvSpPr>
          <p:cNvPr id="14" name="Text 11"/>
          <p:cNvSpPr txBox="1"/>
          <p:nvPr/>
        </p:nvSpPr>
        <p:spPr>
          <a:xfrm>
            <a:off x="8458200" y="11795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15" name="Text 12"/>
          <p:cNvSpPr txBox="1"/>
          <p:nvPr/>
        </p:nvSpPr>
        <p:spPr>
          <a:xfrm>
            <a:off x="8897112" y="11430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Most of the time it is a typo. Tap </a:t>
            </a:r>
            <a:pPr indent="0" marL="0">
              <a:buNone/>
            </a:pPr>
            <a:r>
              <a:rPr lang="en-US" sz="1700" b="1" dirty="0">
                <a:solidFill>
                  <a:srgbClr val="12263F"/>
                </a:solidFill>
                <a:latin typeface="Calibri" pitchFamily="34" charset="0"/>
                <a:ea typeface="Calibri" pitchFamily="34" charset="-122"/>
                <a:cs typeface="Calibri" pitchFamily="34" charset="-120"/>
              </a:rPr>
              <a:t>Re-type PIN</a:t>
            </a:r>
            <a:pPr indent="0" marL="0">
              <a:buNone/>
            </a:pPr>
            <a:r>
              <a:rPr lang="en-US" sz="1700" dirty="0">
                <a:solidFill>
                  <a:srgbClr val="1B1B1B"/>
                </a:solidFill>
                <a:latin typeface="Calibri" pitchFamily="34" charset="0"/>
                <a:ea typeface="Calibri" pitchFamily="34" charset="-122"/>
                <a:cs typeface="Calibri" pitchFamily="34" charset="-120"/>
              </a:rPr>
              <a:t>.</a:t>
            </a:r>
            <a:endParaRPr lang="en-US" sz="1700" dirty="0"/>
          </a:p>
        </p:txBody>
      </p:sp>
      <p:sp>
        <p:nvSpPr>
          <p:cNvPr id="16" name="Shape 13"/>
          <p:cNvSpPr/>
          <p:nvPr/>
        </p:nvSpPr>
        <p:spPr>
          <a:xfrm>
            <a:off x="8458200" y="2093976"/>
            <a:ext cx="310896" cy="310896"/>
          </a:xfrm>
          <a:prstGeom prst="ellipse">
            <a:avLst/>
          </a:prstGeom>
          <a:solidFill>
            <a:srgbClr val="FFB400"/>
          </a:solidFill>
          <a:ln w="9525">
            <a:solidFill>
              <a:srgbClr val="111111"/>
            </a:solidFill>
            <a:prstDash val="solid"/>
          </a:ln>
        </p:spPr>
      </p:sp>
      <p:sp>
        <p:nvSpPr>
          <p:cNvPr id="17" name="Text 14"/>
          <p:cNvSpPr txBox="1"/>
          <p:nvPr/>
        </p:nvSpPr>
        <p:spPr>
          <a:xfrm>
            <a:off x="8458200" y="20939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8897112" y="20574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New here? Tap </a:t>
            </a:r>
            <a:pPr indent="0" marL="0">
              <a:buNone/>
            </a:pPr>
            <a:r>
              <a:rPr lang="en-US" sz="1700" b="1" dirty="0">
                <a:solidFill>
                  <a:srgbClr val="12263F"/>
                </a:solidFill>
                <a:latin typeface="Calibri" pitchFamily="34" charset="0"/>
                <a:ea typeface="Calibri" pitchFamily="34" charset="-122"/>
                <a:cs typeface="Calibri" pitchFamily="34" charset="-120"/>
              </a:rPr>
              <a:t>Register New User</a:t>
            </a:r>
            <a:pPr indent="0" marL="0">
              <a:buNone/>
            </a:pPr>
            <a:r>
              <a:rPr lang="en-US" sz="1700" dirty="0">
                <a:solidFill>
                  <a:srgbClr val="1B1B1B"/>
                </a:solidFill>
                <a:latin typeface="Calibri" pitchFamily="34" charset="0"/>
                <a:ea typeface="Calibri" pitchFamily="34" charset="-122"/>
                <a:cs typeface="Calibri" pitchFamily="34" charset="-120"/>
              </a:rPr>
              <a:t>. Add your initials and name.</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START OF SHIFT</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Pick your machine and check the die</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2400" cy="5299862"/>
          </a:xfrm>
          <a:prstGeom prst="rect">
            <a:avLst/>
          </a:prstGeom>
        </p:spPr>
      </p:pic>
      <p:sp>
        <p:nvSpPr>
          <p:cNvPr id="5" name="Shape 2"/>
          <p:cNvSpPr/>
          <p:nvPr/>
        </p:nvSpPr>
        <p:spPr>
          <a:xfrm>
            <a:off x="4144975" y="1997050"/>
            <a:ext cx="2626157" cy="373990"/>
          </a:xfrm>
          <a:prstGeom prst="rect">
            <a:avLst/>
          </a:prstGeom>
          <a:ln w="31750">
            <a:solidFill>
              <a:srgbClr val="000000">
                <a:alpha val="55000"/>
              </a:srgbClr>
            </a:solidFill>
            <a:prstDash val="solid"/>
          </a:ln>
        </p:spPr>
      </p:sp>
      <p:sp>
        <p:nvSpPr>
          <p:cNvPr id="6" name="Shape 3"/>
          <p:cNvSpPr/>
          <p:nvPr/>
        </p:nvSpPr>
        <p:spPr>
          <a:xfrm>
            <a:off x="4154119" y="2006194"/>
            <a:ext cx="2607869" cy="355702"/>
          </a:xfrm>
          <a:prstGeom prst="rect">
            <a:avLst/>
          </a:prstGeom>
          <a:ln w="19050">
            <a:solidFill>
              <a:srgbClr val="FFB400"/>
            </a:solidFill>
            <a:prstDash val="solid"/>
          </a:ln>
        </p:spPr>
      </p:sp>
      <p:sp>
        <p:nvSpPr>
          <p:cNvPr id="7" name="Shape 4"/>
          <p:cNvSpPr/>
          <p:nvPr/>
        </p:nvSpPr>
        <p:spPr>
          <a:xfrm>
            <a:off x="4007815" y="1859890"/>
            <a:ext cx="256032" cy="256032"/>
          </a:xfrm>
          <a:prstGeom prst="ellipse">
            <a:avLst/>
          </a:prstGeom>
          <a:solidFill>
            <a:srgbClr val="FFB400"/>
          </a:solidFill>
          <a:ln w="9525">
            <a:solidFill>
              <a:srgbClr val="111111"/>
            </a:solidFill>
            <a:prstDash val="solid"/>
          </a:ln>
        </p:spPr>
      </p:sp>
      <p:sp>
        <p:nvSpPr>
          <p:cNvPr id="8" name="Text 5"/>
          <p:cNvSpPr txBox="1"/>
          <p:nvPr/>
        </p:nvSpPr>
        <p:spPr>
          <a:xfrm>
            <a:off x="4007815" y="1859890"/>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9" name="Shape 6"/>
          <p:cNvSpPr/>
          <p:nvPr/>
        </p:nvSpPr>
        <p:spPr>
          <a:xfrm>
            <a:off x="436169" y="1912925"/>
            <a:ext cx="2820924" cy="543154"/>
          </a:xfrm>
          <a:prstGeom prst="rect">
            <a:avLst/>
          </a:prstGeom>
          <a:ln w="31750">
            <a:solidFill>
              <a:srgbClr val="000000">
                <a:alpha val="55000"/>
              </a:srgbClr>
            </a:solidFill>
            <a:prstDash val="solid"/>
          </a:ln>
        </p:spPr>
      </p:sp>
      <p:sp>
        <p:nvSpPr>
          <p:cNvPr id="10" name="Shape 7"/>
          <p:cNvSpPr/>
          <p:nvPr/>
        </p:nvSpPr>
        <p:spPr>
          <a:xfrm>
            <a:off x="445313" y="1922069"/>
            <a:ext cx="2802636" cy="524866"/>
          </a:xfrm>
          <a:prstGeom prst="rect">
            <a:avLst/>
          </a:prstGeom>
          <a:ln w="19050">
            <a:solidFill>
              <a:srgbClr val="FFB400"/>
            </a:solidFill>
            <a:prstDash val="solid"/>
          </a:ln>
        </p:spPr>
      </p:sp>
      <p:sp>
        <p:nvSpPr>
          <p:cNvPr id="11" name="Shape 8"/>
          <p:cNvSpPr/>
          <p:nvPr/>
        </p:nvSpPr>
        <p:spPr>
          <a:xfrm>
            <a:off x="411480" y="1775765"/>
            <a:ext cx="256032" cy="256032"/>
          </a:xfrm>
          <a:prstGeom prst="ellipse">
            <a:avLst/>
          </a:prstGeom>
          <a:solidFill>
            <a:srgbClr val="FFB400"/>
          </a:solidFill>
          <a:ln w="9525">
            <a:solidFill>
              <a:srgbClr val="111111"/>
            </a:solidFill>
            <a:prstDash val="solid"/>
          </a:ln>
        </p:spPr>
      </p:sp>
      <p:sp>
        <p:nvSpPr>
          <p:cNvPr id="12" name="Text 9"/>
          <p:cNvSpPr txBox="1"/>
          <p:nvPr/>
        </p:nvSpPr>
        <p:spPr>
          <a:xfrm>
            <a:off x="411480" y="1775765"/>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3" name="Shape 10"/>
          <p:cNvSpPr/>
          <p:nvPr/>
        </p:nvSpPr>
        <p:spPr>
          <a:xfrm>
            <a:off x="8458200" y="1179576"/>
            <a:ext cx="310896" cy="310896"/>
          </a:xfrm>
          <a:prstGeom prst="ellipse">
            <a:avLst/>
          </a:prstGeom>
          <a:solidFill>
            <a:srgbClr val="FFB400"/>
          </a:solidFill>
          <a:ln w="9525">
            <a:solidFill>
              <a:srgbClr val="111111"/>
            </a:solidFill>
            <a:prstDash val="solid"/>
          </a:ln>
        </p:spPr>
      </p:sp>
      <p:sp>
        <p:nvSpPr>
          <p:cNvPr id="14" name="Text 11"/>
          <p:cNvSpPr txBox="1"/>
          <p:nvPr/>
        </p:nvSpPr>
        <p:spPr>
          <a:xfrm>
            <a:off x="8458200" y="11795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15" name="Text 12"/>
          <p:cNvSpPr txBox="1"/>
          <p:nvPr/>
        </p:nvSpPr>
        <p:spPr>
          <a:xfrm>
            <a:off x="8897112" y="11430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Tap the machine box. Pick your machine.</a:t>
            </a:r>
            <a:endParaRPr lang="en-US" sz="1700" dirty="0"/>
          </a:p>
        </p:txBody>
      </p:sp>
      <p:sp>
        <p:nvSpPr>
          <p:cNvPr id="16" name="Shape 13"/>
          <p:cNvSpPr/>
          <p:nvPr/>
        </p:nvSpPr>
        <p:spPr>
          <a:xfrm>
            <a:off x="8458200" y="2093976"/>
            <a:ext cx="310896" cy="310896"/>
          </a:xfrm>
          <a:prstGeom prst="ellipse">
            <a:avLst/>
          </a:prstGeom>
          <a:solidFill>
            <a:srgbClr val="FFB400"/>
          </a:solidFill>
          <a:ln w="9525">
            <a:solidFill>
              <a:srgbClr val="111111"/>
            </a:solidFill>
            <a:prstDash val="solid"/>
          </a:ln>
        </p:spPr>
      </p:sp>
      <p:sp>
        <p:nvSpPr>
          <p:cNvPr id="17" name="Text 14"/>
          <p:cNvSpPr txBox="1"/>
          <p:nvPr/>
        </p:nvSpPr>
        <p:spPr>
          <a:xfrm>
            <a:off x="8458200" y="20939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8897112" y="20574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Check the die name. It must match the die in the press.</a:t>
            </a:r>
            <a:endParaRPr lang="en-US" sz="1700" dirty="0"/>
          </a:p>
        </p:txBody>
      </p:sp>
      <p:sp>
        <p:nvSpPr>
          <p:cNvPr id="19" name="Text 16"/>
          <p:cNvSpPr txBox="1"/>
          <p:nvPr/>
        </p:nvSpPr>
        <p:spPr>
          <a:xfrm>
            <a:off x="8458200" y="3063240"/>
            <a:ext cx="3337560" cy="822960"/>
          </a:xfrm>
          <a:prstGeom prst="rect">
            <a:avLst/>
          </a:prstGeom>
          <a:solidFill>
            <a:srgbClr val="EEF2F7"/>
          </a:solidFill>
          <a:ln/>
        </p:spPr>
        <p:txBody>
          <a:bodyPr wrap="square" lIns="101600" tIns="101600" rIns="101600" bIns="101600" rtlCol="0" anchor="t"/>
          <a:lstStyle/>
          <a:p>
            <a:pPr indent="0" marL="0">
              <a:buNone/>
            </a:pPr>
            <a:r>
              <a:rPr lang="en-US" sz="1300" dirty="0">
                <a:solidFill>
                  <a:srgbClr val="5A6472"/>
                </a:solidFill>
                <a:latin typeface="Calibri" pitchFamily="34" charset="0"/>
                <a:ea typeface="Calibri" pitchFamily="34" charset="-122"/>
                <a:cs typeface="Calibri" pitchFamily="34" charset="-120"/>
              </a:rPr>
              <a:t>Wrong die on the screen? Stop and call your team lead.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BASKETS</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Open a basket</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2400" cy="4858207"/>
          </a:xfrm>
          <a:prstGeom prst="rect">
            <a:avLst/>
          </a:prstGeom>
        </p:spPr>
      </p:pic>
      <p:sp>
        <p:nvSpPr>
          <p:cNvPr id="5" name="Shape 2"/>
          <p:cNvSpPr/>
          <p:nvPr/>
        </p:nvSpPr>
        <p:spPr>
          <a:xfrm>
            <a:off x="538582" y="2906878"/>
            <a:ext cx="7469734" cy="392278"/>
          </a:xfrm>
          <a:prstGeom prst="rect">
            <a:avLst/>
          </a:prstGeom>
          <a:ln w="31750">
            <a:solidFill>
              <a:srgbClr val="000000">
                <a:alpha val="55000"/>
              </a:srgbClr>
            </a:solidFill>
            <a:prstDash val="solid"/>
          </a:ln>
        </p:spPr>
      </p:sp>
      <p:sp>
        <p:nvSpPr>
          <p:cNvPr id="6" name="Shape 3"/>
          <p:cNvSpPr/>
          <p:nvPr/>
        </p:nvSpPr>
        <p:spPr>
          <a:xfrm>
            <a:off x="547726" y="2916022"/>
            <a:ext cx="7451446" cy="373990"/>
          </a:xfrm>
          <a:prstGeom prst="rect">
            <a:avLst/>
          </a:prstGeom>
          <a:ln w="19050">
            <a:solidFill>
              <a:srgbClr val="FFB400"/>
            </a:solidFill>
            <a:prstDash val="solid"/>
          </a:ln>
        </p:spPr>
      </p:sp>
      <p:sp>
        <p:nvSpPr>
          <p:cNvPr id="7" name="Shape 4"/>
          <p:cNvSpPr/>
          <p:nvPr/>
        </p:nvSpPr>
        <p:spPr>
          <a:xfrm>
            <a:off x="411480" y="2769718"/>
            <a:ext cx="256032" cy="256032"/>
          </a:xfrm>
          <a:prstGeom prst="ellipse">
            <a:avLst/>
          </a:prstGeom>
          <a:solidFill>
            <a:srgbClr val="FFB400"/>
          </a:solidFill>
          <a:ln w="9525">
            <a:solidFill>
              <a:srgbClr val="111111"/>
            </a:solidFill>
            <a:prstDash val="solid"/>
          </a:ln>
        </p:spPr>
      </p:sp>
      <p:sp>
        <p:nvSpPr>
          <p:cNvPr id="8" name="Text 5"/>
          <p:cNvSpPr txBox="1"/>
          <p:nvPr/>
        </p:nvSpPr>
        <p:spPr>
          <a:xfrm>
            <a:off x="411480" y="2769718"/>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9" name="Shape 6"/>
          <p:cNvSpPr/>
          <p:nvPr/>
        </p:nvSpPr>
        <p:spPr>
          <a:xfrm>
            <a:off x="5740603" y="2994660"/>
            <a:ext cx="1028700" cy="222199"/>
          </a:xfrm>
          <a:prstGeom prst="rect">
            <a:avLst/>
          </a:prstGeom>
          <a:ln w="31750">
            <a:solidFill>
              <a:srgbClr val="000000">
                <a:alpha val="55000"/>
              </a:srgbClr>
            </a:solidFill>
            <a:prstDash val="solid"/>
          </a:ln>
        </p:spPr>
      </p:sp>
      <p:sp>
        <p:nvSpPr>
          <p:cNvPr id="10" name="Shape 7"/>
          <p:cNvSpPr/>
          <p:nvPr/>
        </p:nvSpPr>
        <p:spPr>
          <a:xfrm>
            <a:off x="5749747" y="3003804"/>
            <a:ext cx="1010412" cy="203911"/>
          </a:xfrm>
          <a:prstGeom prst="rect">
            <a:avLst/>
          </a:prstGeom>
          <a:ln w="19050">
            <a:solidFill>
              <a:srgbClr val="FFB400"/>
            </a:solidFill>
            <a:prstDash val="solid"/>
          </a:ln>
        </p:spPr>
      </p:sp>
      <p:sp>
        <p:nvSpPr>
          <p:cNvPr id="11" name="Shape 8"/>
          <p:cNvSpPr/>
          <p:nvPr/>
        </p:nvSpPr>
        <p:spPr>
          <a:xfrm>
            <a:off x="5603443" y="2857500"/>
            <a:ext cx="256032" cy="256032"/>
          </a:xfrm>
          <a:prstGeom prst="ellipse">
            <a:avLst/>
          </a:prstGeom>
          <a:solidFill>
            <a:srgbClr val="FFB400"/>
          </a:solidFill>
          <a:ln w="9525">
            <a:solidFill>
              <a:srgbClr val="111111"/>
            </a:solidFill>
            <a:prstDash val="solid"/>
          </a:ln>
        </p:spPr>
      </p:sp>
      <p:sp>
        <p:nvSpPr>
          <p:cNvPr id="12" name="Text 9"/>
          <p:cNvSpPr txBox="1"/>
          <p:nvPr/>
        </p:nvSpPr>
        <p:spPr>
          <a:xfrm>
            <a:off x="5603443" y="2857500"/>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3" name="Shape 10"/>
          <p:cNvSpPr/>
          <p:nvPr/>
        </p:nvSpPr>
        <p:spPr>
          <a:xfrm>
            <a:off x="538582" y="5544922"/>
            <a:ext cx="1150315" cy="329184"/>
          </a:xfrm>
          <a:prstGeom prst="rect">
            <a:avLst/>
          </a:prstGeom>
          <a:ln w="31750">
            <a:solidFill>
              <a:srgbClr val="000000">
                <a:alpha val="55000"/>
              </a:srgbClr>
            </a:solidFill>
            <a:prstDash val="solid"/>
          </a:ln>
        </p:spPr>
      </p:sp>
      <p:sp>
        <p:nvSpPr>
          <p:cNvPr id="14" name="Shape 11"/>
          <p:cNvSpPr/>
          <p:nvPr/>
        </p:nvSpPr>
        <p:spPr>
          <a:xfrm>
            <a:off x="547726" y="5554066"/>
            <a:ext cx="1132027" cy="310896"/>
          </a:xfrm>
          <a:prstGeom prst="rect">
            <a:avLst/>
          </a:prstGeom>
          <a:ln w="19050">
            <a:solidFill>
              <a:srgbClr val="FFB400"/>
            </a:solidFill>
            <a:prstDash val="solid"/>
          </a:ln>
        </p:spPr>
      </p:sp>
      <p:sp>
        <p:nvSpPr>
          <p:cNvPr id="15" name="Shape 12"/>
          <p:cNvSpPr/>
          <p:nvPr/>
        </p:nvSpPr>
        <p:spPr>
          <a:xfrm>
            <a:off x="411480" y="5407762"/>
            <a:ext cx="256032" cy="256032"/>
          </a:xfrm>
          <a:prstGeom prst="ellipse">
            <a:avLst/>
          </a:prstGeom>
          <a:solidFill>
            <a:srgbClr val="FFB400"/>
          </a:solidFill>
          <a:ln w="9525">
            <a:solidFill>
              <a:srgbClr val="111111"/>
            </a:solidFill>
            <a:prstDash val="solid"/>
          </a:ln>
        </p:spPr>
      </p:sp>
      <p:sp>
        <p:nvSpPr>
          <p:cNvPr id="16" name="Text 13"/>
          <p:cNvSpPr txBox="1"/>
          <p:nvPr/>
        </p:nvSpPr>
        <p:spPr>
          <a:xfrm>
            <a:off x="411480" y="5407762"/>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17" name="Shape 14"/>
          <p:cNvSpPr/>
          <p:nvPr/>
        </p:nvSpPr>
        <p:spPr>
          <a:xfrm>
            <a:off x="8458200" y="1179576"/>
            <a:ext cx="310896" cy="310896"/>
          </a:xfrm>
          <a:prstGeom prst="ellipse">
            <a:avLst/>
          </a:prstGeom>
          <a:solidFill>
            <a:srgbClr val="FFB400"/>
          </a:solidFill>
          <a:ln w="9525">
            <a:solidFill>
              <a:srgbClr val="111111"/>
            </a:solidFill>
            <a:prstDash val="solid"/>
          </a:ln>
        </p:spPr>
      </p:sp>
      <p:sp>
        <p:nvSpPr>
          <p:cNvPr id="18" name="Text 15"/>
          <p:cNvSpPr txBox="1"/>
          <p:nvPr/>
        </p:nvSpPr>
        <p:spPr>
          <a:xfrm>
            <a:off x="8458200" y="11795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19" name="Text 16"/>
          <p:cNvSpPr txBox="1"/>
          <p:nvPr/>
        </p:nvSpPr>
        <p:spPr>
          <a:xfrm>
            <a:off x="8897112" y="11430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Find the cavity that says </a:t>
            </a:r>
            <a:pPr indent="0" marL="0">
              <a:buNone/>
            </a:pPr>
            <a:r>
              <a:rPr lang="en-US" sz="1700" b="1" dirty="0">
                <a:solidFill>
                  <a:srgbClr val="12263F"/>
                </a:solidFill>
                <a:latin typeface="Calibri" pitchFamily="34" charset="0"/>
                <a:ea typeface="Calibri" pitchFamily="34" charset="-122"/>
                <a:cs typeface="Calibri" pitchFamily="34" charset="-120"/>
              </a:rPr>
              <a:t>no basket</a:t>
            </a:r>
            <a:pPr indent="0" marL="0">
              <a:buNone/>
            </a:pPr>
            <a:r>
              <a:rPr lang="en-US" sz="1700" dirty="0">
                <a:solidFill>
                  <a:srgbClr val="1B1B1B"/>
                </a:solidFill>
                <a:latin typeface="Calibri" pitchFamily="34" charset="0"/>
                <a:ea typeface="Calibri" pitchFamily="34" charset="-122"/>
                <a:cs typeface="Calibri" pitchFamily="34" charset="-120"/>
              </a:rPr>
              <a:t>.</a:t>
            </a:r>
            <a:endParaRPr lang="en-US" sz="1700" dirty="0"/>
          </a:p>
        </p:txBody>
      </p:sp>
      <p:sp>
        <p:nvSpPr>
          <p:cNvPr id="20" name="Shape 17"/>
          <p:cNvSpPr/>
          <p:nvPr/>
        </p:nvSpPr>
        <p:spPr>
          <a:xfrm>
            <a:off x="8458200" y="2093976"/>
            <a:ext cx="310896" cy="310896"/>
          </a:xfrm>
          <a:prstGeom prst="ellipse">
            <a:avLst/>
          </a:prstGeom>
          <a:solidFill>
            <a:srgbClr val="FFB400"/>
          </a:solidFill>
          <a:ln w="9525">
            <a:solidFill>
              <a:srgbClr val="111111"/>
            </a:solidFill>
            <a:prstDash val="solid"/>
          </a:ln>
        </p:spPr>
      </p:sp>
      <p:sp>
        <p:nvSpPr>
          <p:cNvPr id="21" name="Text 18"/>
          <p:cNvSpPr txBox="1"/>
          <p:nvPr/>
        </p:nvSpPr>
        <p:spPr>
          <a:xfrm>
            <a:off x="8458200" y="20939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22" name="Text 19"/>
          <p:cNvSpPr txBox="1"/>
          <p:nvPr/>
        </p:nvSpPr>
        <p:spPr>
          <a:xfrm>
            <a:off x="8897112" y="20574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Tap </a:t>
            </a:r>
            <a:pPr indent="0" marL="0">
              <a:buNone/>
            </a:pPr>
            <a:r>
              <a:rPr lang="en-US" sz="1700" b="1" dirty="0">
                <a:solidFill>
                  <a:srgbClr val="12263F"/>
                </a:solidFill>
                <a:latin typeface="Calibri" pitchFamily="34" charset="0"/>
                <a:ea typeface="Calibri" pitchFamily="34" charset="-122"/>
                <a:cs typeface="Calibri" pitchFamily="34" charset="-120"/>
              </a:rPr>
              <a:t>Scan LTT</a:t>
            </a:r>
            <a:pPr indent="0" marL="0">
              <a:buNone/>
            </a:pPr>
            <a:r>
              <a:rPr lang="en-US" sz="1700" dirty="0">
                <a:solidFill>
                  <a:srgbClr val="1B1B1B"/>
                </a:solidFill>
                <a:latin typeface="Calibri" pitchFamily="34" charset="0"/>
                <a:ea typeface="Calibri" pitchFamily="34" charset="-122"/>
                <a:cs typeface="Calibri" pitchFamily="34" charset="-120"/>
              </a:rPr>
              <a:t>. Scan the ticket on the basket.</a:t>
            </a:r>
            <a:endParaRPr lang="en-US" sz="1700" dirty="0"/>
          </a:p>
        </p:txBody>
      </p:sp>
      <p:sp>
        <p:nvSpPr>
          <p:cNvPr id="23" name="Shape 20"/>
          <p:cNvSpPr/>
          <p:nvPr/>
        </p:nvSpPr>
        <p:spPr>
          <a:xfrm>
            <a:off x="8458200" y="3008376"/>
            <a:ext cx="310896" cy="310896"/>
          </a:xfrm>
          <a:prstGeom prst="ellipse">
            <a:avLst/>
          </a:prstGeom>
          <a:solidFill>
            <a:srgbClr val="FFB400"/>
          </a:solidFill>
          <a:ln w="9525">
            <a:solidFill>
              <a:srgbClr val="111111"/>
            </a:solidFill>
            <a:prstDash val="solid"/>
          </a:ln>
        </p:spPr>
      </p:sp>
      <p:sp>
        <p:nvSpPr>
          <p:cNvPr id="24" name="Text 21"/>
          <p:cNvSpPr txBox="1"/>
          <p:nvPr/>
        </p:nvSpPr>
        <p:spPr>
          <a:xfrm>
            <a:off x="8458200" y="30083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25" name="Text 22"/>
          <p:cNvSpPr txBox="1"/>
          <p:nvPr/>
        </p:nvSpPr>
        <p:spPr>
          <a:xfrm>
            <a:off x="8897112" y="29718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Tap </a:t>
            </a:r>
            <a:pPr indent="0" marL="0">
              <a:buNone/>
            </a:pPr>
            <a:r>
              <a:rPr lang="en-US" sz="1700" b="1" dirty="0">
                <a:solidFill>
                  <a:srgbClr val="12263F"/>
                </a:solidFill>
                <a:latin typeface="Calibri" pitchFamily="34" charset="0"/>
                <a:ea typeface="Calibri" pitchFamily="34" charset="-122"/>
                <a:cs typeface="Calibri" pitchFamily="34" charset="-120"/>
              </a:rPr>
              <a:t>Open 1 basket(s)</a:t>
            </a:r>
            <a:pPr indent="0" marL="0">
              <a:buNone/>
            </a:pPr>
            <a:r>
              <a:rPr lang="en-US" sz="1700" dirty="0">
                <a:solidFill>
                  <a:srgbClr val="1B1B1B"/>
                </a:solidFill>
                <a:latin typeface="Calibri" pitchFamily="34" charset="0"/>
                <a:ea typeface="Calibri" pitchFamily="34" charset="-122"/>
                <a:cs typeface="Calibri" pitchFamily="34" charset="-120"/>
              </a:rPr>
              <a:t>.</a:t>
            </a:r>
            <a:endParaRPr lang="en-US" sz="1700" dirty="0"/>
          </a:p>
        </p:txBody>
      </p:sp>
      <p:sp>
        <p:nvSpPr>
          <p:cNvPr id="26" name="Text 23"/>
          <p:cNvSpPr txBox="1"/>
          <p:nvPr/>
        </p:nvSpPr>
        <p:spPr>
          <a:xfrm>
            <a:off x="8458200" y="3977640"/>
            <a:ext cx="3337560" cy="822960"/>
          </a:xfrm>
          <a:prstGeom prst="rect">
            <a:avLst/>
          </a:prstGeom>
          <a:solidFill>
            <a:srgbClr val="EEF2F7"/>
          </a:solidFill>
          <a:ln/>
        </p:spPr>
        <p:txBody>
          <a:bodyPr wrap="square" lIns="101600" tIns="101600" rIns="101600" bIns="101600" rtlCol="0" anchor="t"/>
          <a:lstStyle/>
          <a:p>
            <a:pPr indent="0" marL="0">
              <a:buNone/>
            </a:pPr>
            <a:r>
              <a:rPr lang="en-US" sz="1300" dirty="0">
                <a:solidFill>
                  <a:srgbClr val="5A6472"/>
                </a:solidFill>
                <a:latin typeface="Calibri" pitchFamily="34" charset="0"/>
                <a:ea typeface="Calibri" pitchFamily="34" charset="-122"/>
                <a:cs typeface="Calibri" pitchFamily="34" charset="-120"/>
              </a:rPr>
              <a:t>Scanning alone does not open it. You must tap the button.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CHANGEOVER</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Start many baskets at once</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2400" cy="5302606"/>
          </a:xfrm>
          <a:prstGeom prst="rect">
            <a:avLst/>
          </a:prstGeom>
        </p:spPr>
      </p:pic>
      <p:sp>
        <p:nvSpPr>
          <p:cNvPr id="5" name="Shape 2"/>
          <p:cNvSpPr/>
          <p:nvPr/>
        </p:nvSpPr>
        <p:spPr>
          <a:xfrm>
            <a:off x="6289243" y="3565246"/>
            <a:ext cx="1132027" cy="1437437"/>
          </a:xfrm>
          <a:prstGeom prst="rect">
            <a:avLst/>
          </a:prstGeom>
          <a:ln w="31750">
            <a:solidFill>
              <a:srgbClr val="000000">
                <a:alpha val="55000"/>
              </a:srgbClr>
            </a:solidFill>
            <a:prstDash val="solid"/>
          </a:ln>
        </p:spPr>
      </p:sp>
      <p:sp>
        <p:nvSpPr>
          <p:cNvPr id="6" name="Shape 3"/>
          <p:cNvSpPr/>
          <p:nvPr/>
        </p:nvSpPr>
        <p:spPr>
          <a:xfrm>
            <a:off x="6298387" y="3574390"/>
            <a:ext cx="1113739" cy="1419149"/>
          </a:xfrm>
          <a:prstGeom prst="rect">
            <a:avLst/>
          </a:prstGeom>
          <a:ln w="19050">
            <a:solidFill>
              <a:srgbClr val="FFB400"/>
            </a:solidFill>
            <a:prstDash val="solid"/>
          </a:ln>
        </p:spPr>
      </p:sp>
      <p:sp>
        <p:nvSpPr>
          <p:cNvPr id="7" name="Shape 4"/>
          <p:cNvSpPr/>
          <p:nvPr/>
        </p:nvSpPr>
        <p:spPr>
          <a:xfrm>
            <a:off x="6152083" y="3428086"/>
            <a:ext cx="256032" cy="256032"/>
          </a:xfrm>
          <a:prstGeom prst="ellipse">
            <a:avLst/>
          </a:prstGeom>
          <a:solidFill>
            <a:srgbClr val="FFB400"/>
          </a:solidFill>
          <a:ln w="9525">
            <a:solidFill>
              <a:srgbClr val="111111"/>
            </a:solidFill>
            <a:prstDash val="solid"/>
          </a:ln>
        </p:spPr>
      </p:sp>
      <p:sp>
        <p:nvSpPr>
          <p:cNvPr id="8" name="Text 5"/>
          <p:cNvSpPr txBox="1"/>
          <p:nvPr/>
        </p:nvSpPr>
        <p:spPr>
          <a:xfrm>
            <a:off x="6152083" y="3428086"/>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9" name="Shape 6"/>
          <p:cNvSpPr/>
          <p:nvPr/>
        </p:nvSpPr>
        <p:spPr>
          <a:xfrm>
            <a:off x="552298" y="5943600"/>
            <a:ext cx="1266444" cy="361188"/>
          </a:xfrm>
          <a:prstGeom prst="rect">
            <a:avLst/>
          </a:prstGeom>
          <a:ln w="31750">
            <a:solidFill>
              <a:srgbClr val="000000">
                <a:alpha val="55000"/>
              </a:srgbClr>
            </a:solidFill>
            <a:prstDash val="solid"/>
          </a:ln>
        </p:spPr>
      </p:sp>
      <p:sp>
        <p:nvSpPr>
          <p:cNvPr id="10" name="Shape 7"/>
          <p:cNvSpPr/>
          <p:nvPr/>
        </p:nvSpPr>
        <p:spPr>
          <a:xfrm>
            <a:off x="561442" y="5952744"/>
            <a:ext cx="1248156" cy="342900"/>
          </a:xfrm>
          <a:prstGeom prst="rect">
            <a:avLst/>
          </a:prstGeom>
          <a:ln w="19050">
            <a:solidFill>
              <a:srgbClr val="FFB400"/>
            </a:solidFill>
            <a:prstDash val="solid"/>
          </a:ln>
        </p:spPr>
      </p:sp>
      <p:sp>
        <p:nvSpPr>
          <p:cNvPr id="11" name="Shape 8"/>
          <p:cNvSpPr/>
          <p:nvPr/>
        </p:nvSpPr>
        <p:spPr>
          <a:xfrm>
            <a:off x="415138" y="5806440"/>
            <a:ext cx="256032" cy="256032"/>
          </a:xfrm>
          <a:prstGeom prst="ellipse">
            <a:avLst/>
          </a:prstGeom>
          <a:solidFill>
            <a:srgbClr val="FFB400"/>
          </a:solidFill>
          <a:ln w="9525">
            <a:solidFill>
              <a:srgbClr val="111111"/>
            </a:solidFill>
            <a:prstDash val="solid"/>
          </a:ln>
        </p:spPr>
      </p:sp>
      <p:sp>
        <p:nvSpPr>
          <p:cNvPr id="12" name="Text 9"/>
          <p:cNvSpPr txBox="1"/>
          <p:nvPr/>
        </p:nvSpPr>
        <p:spPr>
          <a:xfrm>
            <a:off x="415138" y="5806440"/>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3" name="Shape 10"/>
          <p:cNvSpPr/>
          <p:nvPr/>
        </p:nvSpPr>
        <p:spPr>
          <a:xfrm>
            <a:off x="8458200" y="1179576"/>
            <a:ext cx="310896" cy="310896"/>
          </a:xfrm>
          <a:prstGeom prst="ellipse">
            <a:avLst/>
          </a:prstGeom>
          <a:solidFill>
            <a:srgbClr val="FFB400"/>
          </a:solidFill>
          <a:ln w="9525">
            <a:solidFill>
              <a:srgbClr val="111111"/>
            </a:solidFill>
            <a:prstDash val="solid"/>
          </a:ln>
        </p:spPr>
      </p:sp>
      <p:sp>
        <p:nvSpPr>
          <p:cNvPr id="14" name="Text 11"/>
          <p:cNvSpPr txBox="1"/>
          <p:nvPr/>
        </p:nvSpPr>
        <p:spPr>
          <a:xfrm>
            <a:off x="8458200" y="11795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15" name="Text 12"/>
          <p:cNvSpPr txBox="1"/>
          <p:nvPr/>
        </p:nvSpPr>
        <p:spPr>
          <a:xfrm>
            <a:off x="8897112" y="11430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Scan a ticket into each empty row.</a:t>
            </a:r>
            <a:endParaRPr lang="en-US" sz="1700" dirty="0"/>
          </a:p>
        </p:txBody>
      </p:sp>
      <p:sp>
        <p:nvSpPr>
          <p:cNvPr id="16" name="Shape 13"/>
          <p:cNvSpPr/>
          <p:nvPr/>
        </p:nvSpPr>
        <p:spPr>
          <a:xfrm>
            <a:off x="8458200" y="2093976"/>
            <a:ext cx="310896" cy="310896"/>
          </a:xfrm>
          <a:prstGeom prst="ellipse">
            <a:avLst/>
          </a:prstGeom>
          <a:solidFill>
            <a:srgbClr val="FFB400"/>
          </a:solidFill>
          <a:ln w="9525">
            <a:solidFill>
              <a:srgbClr val="111111"/>
            </a:solidFill>
            <a:prstDash val="solid"/>
          </a:ln>
        </p:spPr>
      </p:sp>
      <p:sp>
        <p:nvSpPr>
          <p:cNvPr id="17" name="Text 14"/>
          <p:cNvSpPr txBox="1"/>
          <p:nvPr/>
        </p:nvSpPr>
        <p:spPr>
          <a:xfrm>
            <a:off x="8458200" y="20939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8897112" y="20574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Tap the </a:t>
            </a:r>
            <a:pPr indent="0" marL="0">
              <a:buNone/>
            </a:pPr>
            <a:r>
              <a:rPr lang="en-US" sz="1700" b="1" dirty="0">
                <a:solidFill>
                  <a:srgbClr val="12263F"/>
                </a:solidFill>
                <a:latin typeface="Calibri" pitchFamily="34" charset="0"/>
                <a:ea typeface="Calibri" pitchFamily="34" charset="-122"/>
                <a:cs typeface="Calibri" pitchFamily="34" charset="-120"/>
              </a:rPr>
              <a:t>Open</a:t>
            </a:r>
            <a:pPr indent="0" marL="0">
              <a:buNone/>
            </a:pPr>
            <a:r>
              <a:rPr lang="en-US" sz="1700" dirty="0">
                <a:solidFill>
                  <a:srgbClr val="1B1B1B"/>
                </a:solidFill>
                <a:latin typeface="Calibri" pitchFamily="34" charset="0"/>
                <a:ea typeface="Calibri" pitchFamily="34" charset="-122"/>
                <a:cs typeface="Calibri" pitchFamily="34" charset="-120"/>
              </a:rPr>
              <a:t> button. It counts your scans.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BASKETS</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Release a full basket</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2400" cy="5301691"/>
          </a:xfrm>
          <a:prstGeom prst="rect">
            <a:avLst/>
          </a:prstGeom>
        </p:spPr>
      </p:pic>
      <p:sp>
        <p:nvSpPr>
          <p:cNvPr id="5" name="Shape 2"/>
          <p:cNvSpPr/>
          <p:nvPr/>
        </p:nvSpPr>
        <p:spPr>
          <a:xfrm>
            <a:off x="6836054" y="2780690"/>
            <a:ext cx="781812" cy="299009"/>
          </a:xfrm>
          <a:prstGeom prst="rect">
            <a:avLst/>
          </a:prstGeom>
          <a:ln w="31750">
            <a:solidFill>
              <a:srgbClr val="000000">
                <a:alpha val="55000"/>
              </a:srgbClr>
            </a:solidFill>
            <a:prstDash val="solid"/>
          </a:ln>
        </p:spPr>
      </p:sp>
      <p:sp>
        <p:nvSpPr>
          <p:cNvPr id="6" name="Shape 3"/>
          <p:cNvSpPr/>
          <p:nvPr/>
        </p:nvSpPr>
        <p:spPr>
          <a:xfrm>
            <a:off x="6845198" y="2789834"/>
            <a:ext cx="763524" cy="280721"/>
          </a:xfrm>
          <a:prstGeom prst="rect">
            <a:avLst/>
          </a:prstGeom>
          <a:ln w="19050">
            <a:solidFill>
              <a:srgbClr val="FFB400"/>
            </a:solidFill>
            <a:prstDash val="solid"/>
          </a:ln>
        </p:spPr>
      </p:sp>
      <p:sp>
        <p:nvSpPr>
          <p:cNvPr id="7" name="Shape 4"/>
          <p:cNvSpPr/>
          <p:nvPr/>
        </p:nvSpPr>
        <p:spPr>
          <a:xfrm>
            <a:off x="6698894" y="2643530"/>
            <a:ext cx="256032" cy="256032"/>
          </a:xfrm>
          <a:prstGeom prst="ellipse">
            <a:avLst/>
          </a:prstGeom>
          <a:solidFill>
            <a:srgbClr val="FFB400"/>
          </a:solidFill>
          <a:ln w="9525">
            <a:solidFill>
              <a:srgbClr val="111111"/>
            </a:solidFill>
            <a:prstDash val="solid"/>
          </a:ln>
        </p:spPr>
      </p:sp>
      <p:sp>
        <p:nvSpPr>
          <p:cNvPr id="8" name="Text 5"/>
          <p:cNvSpPr txBox="1"/>
          <p:nvPr/>
        </p:nvSpPr>
        <p:spPr>
          <a:xfrm>
            <a:off x="6698894" y="2643530"/>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9" name="Shape 6"/>
          <p:cNvSpPr/>
          <p:nvPr/>
        </p:nvSpPr>
        <p:spPr>
          <a:xfrm>
            <a:off x="978408" y="3543300"/>
            <a:ext cx="1209751" cy="299009"/>
          </a:xfrm>
          <a:prstGeom prst="rect">
            <a:avLst/>
          </a:prstGeom>
          <a:ln w="31750">
            <a:solidFill>
              <a:srgbClr val="000000">
                <a:alpha val="55000"/>
              </a:srgbClr>
            </a:solidFill>
            <a:prstDash val="solid"/>
          </a:ln>
        </p:spPr>
      </p:sp>
      <p:sp>
        <p:nvSpPr>
          <p:cNvPr id="10" name="Shape 7"/>
          <p:cNvSpPr/>
          <p:nvPr/>
        </p:nvSpPr>
        <p:spPr>
          <a:xfrm>
            <a:off x="987552" y="3552444"/>
            <a:ext cx="1191463" cy="280721"/>
          </a:xfrm>
          <a:prstGeom prst="rect">
            <a:avLst/>
          </a:prstGeom>
          <a:ln w="19050">
            <a:solidFill>
              <a:srgbClr val="FFB400"/>
            </a:solidFill>
            <a:prstDash val="solid"/>
          </a:ln>
        </p:spPr>
      </p:sp>
      <p:sp>
        <p:nvSpPr>
          <p:cNvPr id="11" name="Shape 8"/>
          <p:cNvSpPr/>
          <p:nvPr/>
        </p:nvSpPr>
        <p:spPr>
          <a:xfrm>
            <a:off x="841248" y="3406140"/>
            <a:ext cx="256032" cy="256032"/>
          </a:xfrm>
          <a:prstGeom prst="ellipse">
            <a:avLst/>
          </a:prstGeom>
          <a:solidFill>
            <a:srgbClr val="FFB400"/>
          </a:solidFill>
          <a:ln w="9525">
            <a:solidFill>
              <a:srgbClr val="111111"/>
            </a:solidFill>
            <a:prstDash val="solid"/>
          </a:ln>
        </p:spPr>
      </p:sp>
      <p:sp>
        <p:nvSpPr>
          <p:cNvPr id="12" name="Text 9"/>
          <p:cNvSpPr txBox="1"/>
          <p:nvPr/>
        </p:nvSpPr>
        <p:spPr>
          <a:xfrm>
            <a:off x="841248" y="3406140"/>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3" name="Shape 10"/>
          <p:cNvSpPr/>
          <p:nvPr/>
        </p:nvSpPr>
        <p:spPr>
          <a:xfrm>
            <a:off x="978408" y="3865169"/>
            <a:ext cx="4825289" cy="607162"/>
          </a:xfrm>
          <a:prstGeom prst="rect">
            <a:avLst/>
          </a:prstGeom>
          <a:ln w="31750">
            <a:solidFill>
              <a:srgbClr val="000000">
                <a:alpha val="55000"/>
              </a:srgbClr>
            </a:solidFill>
            <a:prstDash val="solid"/>
          </a:ln>
        </p:spPr>
      </p:sp>
      <p:sp>
        <p:nvSpPr>
          <p:cNvPr id="14" name="Shape 11"/>
          <p:cNvSpPr/>
          <p:nvPr/>
        </p:nvSpPr>
        <p:spPr>
          <a:xfrm>
            <a:off x="987552" y="3874313"/>
            <a:ext cx="4807001" cy="588874"/>
          </a:xfrm>
          <a:prstGeom prst="rect">
            <a:avLst/>
          </a:prstGeom>
          <a:ln w="19050">
            <a:solidFill>
              <a:srgbClr val="FFB400"/>
            </a:solidFill>
            <a:prstDash val="solid"/>
          </a:ln>
        </p:spPr>
      </p:sp>
      <p:sp>
        <p:nvSpPr>
          <p:cNvPr id="15" name="Shape 12"/>
          <p:cNvSpPr/>
          <p:nvPr/>
        </p:nvSpPr>
        <p:spPr>
          <a:xfrm>
            <a:off x="841248" y="3728009"/>
            <a:ext cx="256032" cy="256032"/>
          </a:xfrm>
          <a:prstGeom prst="ellipse">
            <a:avLst/>
          </a:prstGeom>
          <a:solidFill>
            <a:srgbClr val="FFB400"/>
          </a:solidFill>
          <a:ln w="9525">
            <a:solidFill>
              <a:srgbClr val="111111"/>
            </a:solidFill>
            <a:prstDash val="solid"/>
          </a:ln>
        </p:spPr>
      </p:sp>
      <p:sp>
        <p:nvSpPr>
          <p:cNvPr id="16" name="Text 13"/>
          <p:cNvSpPr txBox="1"/>
          <p:nvPr/>
        </p:nvSpPr>
        <p:spPr>
          <a:xfrm>
            <a:off x="841248" y="3728009"/>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17" name="Shape 14"/>
          <p:cNvSpPr/>
          <p:nvPr/>
        </p:nvSpPr>
        <p:spPr>
          <a:xfrm>
            <a:off x="4332427" y="4494276"/>
            <a:ext cx="1471270" cy="312725"/>
          </a:xfrm>
          <a:prstGeom prst="rect">
            <a:avLst/>
          </a:prstGeom>
          <a:ln w="31750">
            <a:solidFill>
              <a:srgbClr val="000000">
                <a:alpha val="55000"/>
              </a:srgbClr>
            </a:solidFill>
            <a:prstDash val="solid"/>
          </a:ln>
        </p:spPr>
      </p:sp>
      <p:sp>
        <p:nvSpPr>
          <p:cNvPr id="18" name="Shape 15"/>
          <p:cNvSpPr/>
          <p:nvPr/>
        </p:nvSpPr>
        <p:spPr>
          <a:xfrm>
            <a:off x="4341571" y="4503420"/>
            <a:ext cx="1452982" cy="294437"/>
          </a:xfrm>
          <a:prstGeom prst="rect">
            <a:avLst/>
          </a:prstGeom>
          <a:ln w="19050">
            <a:solidFill>
              <a:srgbClr val="FFB400"/>
            </a:solidFill>
            <a:prstDash val="solid"/>
          </a:ln>
        </p:spPr>
      </p:sp>
      <p:sp>
        <p:nvSpPr>
          <p:cNvPr id="19" name="Shape 16"/>
          <p:cNvSpPr/>
          <p:nvPr/>
        </p:nvSpPr>
        <p:spPr>
          <a:xfrm>
            <a:off x="4195267" y="4357116"/>
            <a:ext cx="256032" cy="256032"/>
          </a:xfrm>
          <a:prstGeom prst="ellipse">
            <a:avLst/>
          </a:prstGeom>
          <a:solidFill>
            <a:srgbClr val="FFB400"/>
          </a:solidFill>
          <a:ln w="9525">
            <a:solidFill>
              <a:srgbClr val="111111"/>
            </a:solidFill>
            <a:prstDash val="solid"/>
          </a:ln>
        </p:spPr>
      </p:sp>
      <p:sp>
        <p:nvSpPr>
          <p:cNvPr id="20" name="Text 17"/>
          <p:cNvSpPr txBox="1"/>
          <p:nvPr/>
        </p:nvSpPr>
        <p:spPr>
          <a:xfrm>
            <a:off x="4195267" y="4357116"/>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4</a:t>
            </a:r>
            <a:endParaRPr lang="en-US" sz="1200" dirty="0"/>
          </a:p>
        </p:txBody>
      </p:sp>
      <p:sp>
        <p:nvSpPr>
          <p:cNvPr id="21" name="Shape 18"/>
          <p:cNvSpPr/>
          <p:nvPr/>
        </p:nvSpPr>
        <p:spPr>
          <a:xfrm>
            <a:off x="8458200" y="1179576"/>
            <a:ext cx="310896" cy="310896"/>
          </a:xfrm>
          <a:prstGeom prst="ellipse">
            <a:avLst/>
          </a:prstGeom>
          <a:solidFill>
            <a:srgbClr val="FFB400"/>
          </a:solidFill>
          <a:ln w="9525">
            <a:solidFill>
              <a:srgbClr val="111111"/>
            </a:solidFill>
            <a:prstDash val="solid"/>
          </a:ln>
        </p:spPr>
      </p:sp>
      <p:sp>
        <p:nvSpPr>
          <p:cNvPr id="22" name="Text 19"/>
          <p:cNvSpPr txBox="1"/>
          <p:nvPr/>
        </p:nvSpPr>
        <p:spPr>
          <a:xfrm>
            <a:off x="8458200" y="11795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23" name="Text 20"/>
          <p:cNvSpPr txBox="1"/>
          <p:nvPr/>
        </p:nvSpPr>
        <p:spPr>
          <a:xfrm>
            <a:off x="8897112" y="11430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Tap </a:t>
            </a:r>
            <a:pPr indent="0" marL="0">
              <a:buNone/>
            </a:pPr>
            <a:r>
              <a:rPr lang="en-US" sz="1700" b="1" dirty="0">
                <a:solidFill>
                  <a:srgbClr val="12263F"/>
                </a:solidFill>
                <a:latin typeface="Calibri" pitchFamily="34" charset="0"/>
                <a:ea typeface="Calibri" pitchFamily="34" charset="-122"/>
                <a:cs typeface="Calibri" pitchFamily="34" charset="-120"/>
              </a:rPr>
              <a:t>Release</a:t>
            </a:r>
            <a:pPr indent="0" marL="0">
              <a:buNone/>
            </a:pPr>
            <a:r>
              <a:rPr lang="en-US" sz="1700" dirty="0">
                <a:solidFill>
                  <a:srgbClr val="1B1B1B"/>
                </a:solidFill>
                <a:latin typeface="Calibri" pitchFamily="34" charset="0"/>
                <a:ea typeface="Calibri" pitchFamily="34" charset="-122"/>
                <a:cs typeface="Calibri" pitchFamily="34" charset="-120"/>
              </a:rPr>
              <a:t> on the full basket.</a:t>
            </a:r>
            <a:endParaRPr lang="en-US" sz="1700" dirty="0"/>
          </a:p>
        </p:txBody>
      </p:sp>
      <p:sp>
        <p:nvSpPr>
          <p:cNvPr id="24" name="Shape 21"/>
          <p:cNvSpPr/>
          <p:nvPr/>
        </p:nvSpPr>
        <p:spPr>
          <a:xfrm>
            <a:off x="8458200" y="2093976"/>
            <a:ext cx="310896" cy="310896"/>
          </a:xfrm>
          <a:prstGeom prst="ellipse">
            <a:avLst/>
          </a:prstGeom>
          <a:solidFill>
            <a:srgbClr val="FFB400"/>
          </a:solidFill>
          <a:ln w="9525">
            <a:solidFill>
              <a:srgbClr val="111111"/>
            </a:solidFill>
            <a:prstDash val="solid"/>
          </a:ln>
        </p:spPr>
      </p:sp>
      <p:sp>
        <p:nvSpPr>
          <p:cNvPr id="25" name="Text 22"/>
          <p:cNvSpPr txBox="1"/>
          <p:nvPr/>
        </p:nvSpPr>
        <p:spPr>
          <a:xfrm>
            <a:off x="8458200" y="20939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26" name="Text 23"/>
          <p:cNvSpPr txBox="1"/>
          <p:nvPr/>
        </p:nvSpPr>
        <p:spPr>
          <a:xfrm>
            <a:off x="8897112" y="20574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Type the number on the press counter.</a:t>
            </a:r>
            <a:endParaRPr lang="en-US" sz="1700" dirty="0"/>
          </a:p>
        </p:txBody>
      </p:sp>
      <p:sp>
        <p:nvSpPr>
          <p:cNvPr id="27" name="Shape 24"/>
          <p:cNvSpPr/>
          <p:nvPr/>
        </p:nvSpPr>
        <p:spPr>
          <a:xfrm>
            <a:off x="8458200" y="3008376"/>
            <a:ext cx="310896" cy="310896"/>
          </a:xfrm>
          <a:prstGeom prst="ellipse">
            <a:avLst/>
          </a:prstGeom>
          <a:solidFill>
            <a:srgbClr val="FFB400"/>
          </a:solidFill>
          <a:ln w="9525">
            <a:solidFill>
              <a:srgbClr val="111111"/>
            </a:solidFill>
            <a:prstDash val="solid"/>
          </a:ln>
        </p:spPr>
      </p:sp>
      <p:sp>
        <p:nvSpPr>
          <p:cNvPr id="28" name="Text 25"/>
          <p:cNvSpPr txBox="1"/>
          <p:nvPr/>
        </p:nvSpPr>
        <p:spPr>
          <a:xfrm>
            <a:off x="8458200" y="30083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29" name="Text 26"/>
          <p:cNvSpPr txBox="1"/>
          <p:nvPr/>
        </p:nvSpPr>
        <p:spPr>
          <a:xfrm>
            <a:off x="8897112" y="29718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Check the three boxes. They add up for you.</a:t>
            </a:r>
            <a:endParaRPr lang="en-US" sz="1700" dirty="0"/>
          </a:p>
        </p:txBody>
      </p:sp>
      <p:sp>
        <p:nvSpPr>
          <p:cNvPr id="30" name="Shape 27"/>
          <p:cNvSpPr/>
          <p:nvPr/>
        </p:nvSpPr>
        <p:spPr>
          <a:xfrm>
            <a:off x="8458200" y="3922776"/>
            <a:ext cx="310896" cy="310896"/>
          </a:xfrm>
          <a:prstGeom prst="ellipse">
            <a:avLst/>
          </a:prstGeom>
          <a:solidFill>
            <a:srgbClr val="FFB400"/>
          </a:solidFill>
          <a:ln w="9525">
            <a:solidFill>
              <a:srgbClr val="111111"/>
            </a:solidFill>
            <a:prstDash val="solid"/>
          </a:ln>
        </p:spPr>
      </p:sp>
      <p:sp>
        <p:nvSpPr>
          <p:cNvPr id="31" name="Text 28"/>
          <p:cNvSpPr txBox="1"/>
          <p:nvPr/>
        </p:nvSpPr>
        <p:spPr>
          <a:xfrm>
            <a:off x="8458200" y="39227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4</a:t>
            </a:r>
            <a:endParaRPr lang="en-US" sz="1200" dirty="0"/>
          </a:p>
        </p:txBody>
      </p:sp>
      <p:sp>
        <p:nvSpPr>
          <p:cNvPr id="32" name="Text 29"/>
          <p:cNvSpPr txBox="1"/>
          <p:nvPr/>
        </p:nvSpPr>
        <p:spPr>
          <a:xfrm>
            <a:off x="8897112" y="38862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Scrap in this basket? Tap </a:t>
            </a:r>
            <a:pPr indent="0" marL="0">
              <a:buNone/>
            </a:pPr>
            <a:r>
              <a:rPr lang="en-US" sz="1700" b="1" dirty="0">
                <a:solidFill>
                  <a:srgbClr val="12263F"/>
                </a:solidFill>
                <a:latin typeface="Calibri" pitchFamily="34" charset="0"/>
                <a:ea typeface="Calibri" pitchFamily="34" charset="-122"/>
                <a:cs typeface="Calibri" pitchFamily="34" charset="-120"/>
              </a:rPr>
              <a:t>Add scrap reason</a:t>
            </a:r>
            <a:pPr indent="0" marL="0">
              <a:buNone/>
            </a:pPr>
            <a:r>
              <a:rPr lang="en-US" sz="1700" dirty="0">
                <a:solidFill>
                  <a:srgbClr val="1B1B1B"/>
                </a:solidFill>
                <a:latin typeface="Calibri" pitchFamily="34" charset="0"/>
                <a:ea typeface="Calibri" pitchFamily="34" charset="-122"/>
                <a:cs typeface="Calibri" pitchFamily="34" charset="-120"/>
              </a:rPr>
              <a:t>.</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BASKETS</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Release a full basket (continued)</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2400" cy="5302606"/>
          </a:xfrm>
          <a:prstGeom prst="rect">
            <a:avLst/>
          </a:prstGeom>
        </p:spPr>
      </p:pic>
      <p:sp>
        <p:nvSpPr>
          <p:cNvPr id="5" name="Shape 2"/>
          <p:cNvSpPr/>
          <p:nvPr/>
        </p:nvSpPr>
        <p:spPr>
          <a:xfrm>
            <a:off x="5065776" y="3984041"/>
            <a:ext cx="1780337" cy="570586"/>
          </a:xfrm>
          <a:prstGeom prst="rect">
            <a:avLst/>
          </a:prstGeom>
          <a:ln w="31750">
            <a:solidFill>
              <a:srgbClr val="000000">
                <a:alpha val="55000"/>
              </a:srgbClr>
            </a:solidFill>
            <a:prstDash val="solid"/>
          </a:ln>
        </p:spPr>
      </p:sp>
      <p:sp>
        <p:nvSpPr>
          <p:cNvPr id="6" name="Shape 3"/>
          <p:cNvSpPr/>
          <p:nvPr/>
        </p:nvSpPr>
        <p:spPr>
          <a:xfrm>
            <a:off x="5074920" y="3993185"/>
            <a:ext cx="1762049" cy="552298"/>
          </a:xfrm>
          <a:prstGeom prst="rect">
            <a:avLst/>
          </a:prstGeom>
          <a:ln w="19050">
            <a:solidFill>
              <a:srgbClr val="FFB400"/>
            </a:solidFill>
            <a:prstDash val="solid"/>
          </a:ln>
        </p:spPr>
      </p:sp>
      <p:sp>
        <p:nvSpPr>
          <p:cNvPr id="7" name="Shape 4"/>
          <p:cNvSpPr/>
          <p:nvPr/>
        </p:nvSpPr>
        <p:spPr>
          <a:xfrm>
            <a:off x="4928616" y="3846881"/>
            <a:ext cx="256032" cy="256032"/>
          </a:xfrm>
          <a:prstGeom prst="ellipse">
            <a:avLst/>
          </a:prstGeom>
          <a:solidFill>
            <a:srgbClr val="FFB400"/>
          </a:solidFill>
          <a:ln w="9525">
            <a:solidFill>
              <a:srgbClr val="111111"/>
            </a:solidFill>
            <a:prstDash val="solid"/>
          </a:ln>
        </p:spPr>
      </p:sp>
      <p:sp>
        <p:nvSpPr>
          <p:cNvPr id="8" name="Text 5"/>
          <p:cNvSpPr txBox="1"/>
          <p:nvPr/>
        </p:nvSpPr>
        <p:spPr>
          <a:xfrm>
            <a:off x="4928616" y="3846881"/>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9" name="Shape 6"/>
          <p:cNvSpPr/>
          <p:nvPr/>
        </p:nvSpPr>
        <p:spPr>
          <a:xfrm>
            <a:off x="1741018" y="4079138"/>
            <a:ext cx="2470709" cy="381305"/>
          </a:xfrm>
          <a:prstGeom prst="rect">
            <a:avLst/>
          </a:prstGeom>
          <a:ln w="31750">
            <a:solidFill>
              <a:srgbClr val="000000">
                <a:alpha val="55000"/>
              </a:srgbClr>
            </a:solidFill>
            <a:prstDash val="solid"/>
          </a:ln>
        </p:spPr>
      </p:sp>
      <p:sp>
        <p:nvSpPr>
          <p:cNvPr id="10" name="Shape 7"/>
          <p:cNvSpPr/>
          <p:nvPr/>
        </p:nvSpPr>
        <p:spPr>
          <a:xfrm>
            <a:off x="1750162" y="4088282"/>
            <a:ext cx="2452421" cy="363017"/>
          </a:xfrm>
          <a:prstGeom prst="rect">
            <a:avLst/>
          </a:prstGeom>
          <a:ln w="19050">
            <a:solidFill>
              <a:srgbClr val="FFB400"/>
            </a:solidFill>
            <a:prstDash val="solid"/>
          </a:ln>
        </p:spPr>
      </p:sp>
      <p:sp>
        <p:nvSpPr>
          <p:cNvPr id="11" name="Shape 8"/>
          <p:cNvSpPr/>
          <p:nvPr/>
        </p:nvSpPr>
        <p:spPr>
          <a:xfrm>
            <a:off x="1603858" y="3941978"/>
            <a:ext cx="256032" cy="256032"/>
          </a:xfrm>
          <a:prstGeom prst="ellipse">
            <a:avLst/>
          </a:prstGeom>
          <a:solidFill>
            <a:srgbClr val="FFB400"/>
          </a:solidFill>
          <a:ln w="9525">
            <a:solidFill>
              <a:srgbClr val="111111"/>
            </a:solidFill>
            <a:prstDash val="solid"/>
          </a:ln>
        </p:spPr>
      </p:sp>
      <p:sp>
        <p:nvSpPr>
          <p:cNvPr id="12" name="Text 9"/>
          <p:cNvSpPr txBox="1"/>
          <p:nvPr/>
        </p:nvSpPr>
        <p:spPr>
          <a:xfrm>
            <a:off x="1603858" y="3941978"/>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3" name="Shape 10"/>
          <p:cNvSpPr/>
          <p:nvPr/>
        </p:nvSpPr>
        <p:spPr>
          <a:xfrm>
            <a:off x="8458200" y="1179576"/>
            <a:ext cx="310896" cy="310896"/>
          </a:xfrm>
          <a:prstGeom prst="ellipse">
            <a:avLst/>
          </a:prstGeom>
          <a:solidFill>
            <a:srgbClr val="FFB400"/>
          </a:solidFill>
          <a:ln w="9525">
            <a:solidFill>
              <a:srgbClr val="111111"/>
            </a:solidFill>
            <a:prstDash val="solid"/>
          </a:ln>
        </p:spPr>
      </p:sp>
      <p:sp>
        <p:nvSpPr>
          <p:cNvPr id="14" name="Text 11"/>
          <p:cNvSpPr txBox="1"/>
          <p:nvPr/>
        </p:nvSpPr>
        <p:spPr>
          <a:xfrm>
            <a:off x="8458200" y="11795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15" name="Text 12"/>
          <p:cNvSpPr txBox="1"/>
          <p:nvPr/>
        </p:nvSpPr>
        <p:spPr>
          <a:xfrm>
            <a:off x="8897112" y="11430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Scroll down in the box. Tap </a:t>
            </a:r>
            <a:pPr indent="0" marL="0">
              <a:buNone/>
            </a:pPr>
            <a:r>
              <a:rPr lang="en-US" sz="1700" b="1" dirty="0">
                <a:solidFill>
                  <a:srgbClr val="12263F"/>
                </a:solidFill>
                <a:latin typeface="Calibri" pitchFamily="34" charset="0"/>
                <a:ea typeface="Calibri" pitchFamily="34" charset="-122"/>
                <a:cs typeface="Calibri" pitchFamily="34" charset="-120"/>
              </a:rPr>
              <a:t>Release basket</a:t>
            </a:r>
            <a:pPr indent="0" marL="0">
              <a:buNone/>
            </a:pPr>
            <a:r>
              <a:rPr lang="en-US" sz="1700" dirty="0">
                <a:solidFill>
                  <a:srgbClr val="1B1B1B"/>
                </a:solidFill>
                <a:latin typeface="Calibri" pitchFamily="34" charset="0"/>
                <a:ea typeface="Calibri" pitchFamily="34" charset="-122"/>
                <a:cs typeface="Calibri" pitchFamily="34" charset="-120"/>
              </a:rPr>
              <a:t>.</a:t>
            </a:r>
            <a:endParaRPr lang="en-US" sz="1700" dirty="0"/>
          </a:p>
        </p:txBody>
      </p:sp>
      <p:sp>
        <p:nvSpPr>
          <p:cNvPr id="16" name="Shape 13"/>
          <p:cNvSpPr/>
          <p:nvPr/>
        </p:nvSpPr>
        <p:spPr>
          <a:xfrm>
            <a:off x="8458200" y="2093976"/>
            <a:ext cx="310896" cy="310896"/>
          </a:xfrm>
          <a:prstGeom prst="ellipse">
            <a:avLst/>
          </a:prstGeom>
          <a:solidFill>
            <a:srgbClr val="FFB400"/>
          </a:solidFill>
          <a:ln w="9525">
            <a:solidFill>
              <a:srgbClr val="111111"/>
            </a:solidFill>
            <a:prstDash val="solid"/>
          </a:ln>
        </p:spPr>
      </p:sp>
      <p:sp>
        <p:nvSpPr>
          <p:cNvPr id="17" name="Text 14"/>
          <p:cNvSpPr txBox="1"/>
          <p:nvPr/>
        </p:nvSpPr>
        <p:spPr>
          <a:xfrm>
            <a:off x="8458200" y="20939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8897112" y="20574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Counter was reset? Tap </a:t>
            </a:r>
            <a:pPr indent="0" marL="0">
              <a:buNone/>
            </a:pPr>
            <a:r>
              <a:rPr lang="en-US" sz="1700" b="1" dirty="0">
                <a:solidFill>
                  <a:srgbClr val="12263F"/>
                </a:solidFill>
                <a:latin typeface="Calibri" pitchFamily="34" charset="0"/>
                <a:ea typeface="Calibri" pitchFamily="34" charset="-122"/>
                <a:cs typeface="Calibri" pitchFamily="34" charset="-120"/>
              </a:rPr>
              <a:t>Counter reset / wrong total?</a:t>
            </a:r>
            <a:pPr indent="0" marL="0">
              <a:buNone/>
            </a:pPr>
            <a:r>
              <a:rPr lang="en-US" sz="1700" dirty="0">
                <a:solidFill>
                  <a:srgbClr val="1B1B1B"/>
                </a:solidFill>
                <a:latin typeface="Calibri" pitchFamily="34" charset="0"/>
                <a:ea typeface="Calibri" pitchFamily="34" charset="-122"/>
                <a:cs typeface="Calibri" pitchFamily="34" charset="-120"/>
              </a:rPr>
              <a:t> here.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BASKETS</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Void an empty basket</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2400" cy="5302606"/>
          </a:xfrm>
          <a:prstGeom prst="rect">
            <a:avLst/>
          </a:prstGeom>
        </p:spPr>
      </p:pic>
      <p:sp>
        <p:nvSpPr>
          <p:cNvPr id="5" name="Shape 2"/>
          <p:cNvSpPr/>
          <p:nvPr/>
        </p:nvSpPr>
        <p:spPr>
          <a:xfrm>
            <a:off x="4573829" y="2593238"/>
            <a:ext cx="760781" cy="381305"/>
          </a:xfrm>
          <a:prstGeom prst="rect">
            <a:avLst/>
          </a:prstGeom>
          <a:ln w="31750">
            <a:solidFill>
              <a:srgbClr val="000000">
                <a:alpha val="55000"/>
              </a:srgbClr>
            </a:solidFill>
            <a:prstDash val="solid"/>
          </a:ln>
        </p:spPr>
      </p:sp>
      <p:sp>
        <p:nvSpPr>
          <p:cNvPr id="6" name="Shape 3"/>
          <p:cNvSpPr/>
          <p:nvPr/>
        </p:nvSpPr>
        <p:spPr>
          <a:xfrm>
            <a:off x="4582973" y="2602382"/>
            <a:ext cx="742493" cy="363017"/>
          </a:xfrm>
          <a:prstGeom prst="rect">
            <a:avLst/>
          </a:prstGeom>
          <a:ln w="19050">
            <a:solidFill>
              <a:srgbClr val="FFB400"/>
            </a:solidFill>
            <a:prstDash val="solid"/>
          </a:ln>
        </p:spPr>
      </p:sp>
      <p:sp>
        <p:nvSpPr>
          <p:cNvPr id="7" name="Shape 4"/>
          <p:cNvSpPr/>
          <p:nvPr/>
        </p:nvSpPr>
        <p:spPr>
          <a:xfrm>
            <a:off x="4436669" y="2456078"/>
            <a:ext cx="256032" cy="256032"/>
          </a:xfrm>
          <a:prstGeom prst="ellipse">
            <a:avLst/>
          </a:prstGeom>
          <a:solidFill>
            <a:srgbClr val="FFB400"/>
          </a:solidFill>
          <a:ln w="9525">
            <a:solidFill>
              <a:srgbClr val="111111"/>
            </a:solidFill>
            <a:prstDash val="solid"/>
          </a:ln>
        </p:spPr>
      </p:sp>
      <p:sp>
        <p:nvSpPr>
          <p:cNvPr id="8" name="Text 5"/>
          <p:cNvSpPr txBox="1"/>
          <p:nvPr/>
        </p:nvSpPr>
        <p:spPr>
          <a:xfrm>
            <a:off x="4436669" y="2456078"/>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9" name="Shape 6"/>
          <p:cNvSpPr/>
          <p:nvPr/>
        </p:nvSpPr>
        <p:spPr>
          <a:xfrm>
            <a:off x="4573829" y="4623206"/>
            <a:ext cx="760781" cy="381305"/>
          </a:xfrm>
          <a:prstGeom prst="rect">
            <a:avLst/>
          </a:prstGeom>
          <a:ln w="31750">
            <a:solidFill>
              <a:srgbClr val="000000">
                <a:alpha val="55000"/>
              </a:srgbClr>
            </a:solidFill>
            <a:prstDash val="solid"/>
          </a:ln>
        </p:spPr>
      </p:sp>
      <p:sp>
        <p:nvSpPr>
          <p:cNvPr id="10" name="Shape 7"/>
          <p:cNvSpPr/>
          <p:nvPr/>
        </p:nvSpPr>
        <p:spPr>
          <a:xfrm>
            <a:off x="4582973" y="4632350"/>
            <a:ext cx="742493" cy="363017"/>
          </a:xfrm>
          <a:prstGeom prst="rect">
            <a:avLst/>
          </a:prstGeom>
          <a:ln w="19050">
            <a:solidFill>
              <a:srgbClr val="FFB400"/>
            </a:solidFill>
            <a:prstDash val="solid"/>
          </a:ln>
        </p:spPr>
      </p:sp>
      <p:sp>
        <p:nvSpPr>
          <p:cNvPr id="11" name="Shape 8"/>
          <p:cNvSpPr/>
          <p:nvPr/>
        </p:nvSpPr>
        <p:spPr>
          <a:xfrm>
            <a:off x="4436669" y="4486046"/>
            <a:ext cx="256032" cy="256032"/>
          </a:xfrm>
          <a:prstGeom prst="ellipse">
            <a:avLst/>
          </a:prstGeom>
          <a:solidFill>
            <a:srgbClr val="FFB400"/>
          </a:solidFill>
          <a:ln w="9525">
            <a:solidFill>
              <a:srgbClr val="111111"/>
            </a:solidFill>
            <a:prstDash val="solid"/>
          </a:ln>
        </p:spPr>
      </p:sp>
      <p:sp>
        <p:nvSpPr>
          <p:cNvPr id="12" name="Text 9"/>
          <p:cNvSpPr txBox="1"/>
          <p:nvPr/>
        </p:nvSpPr>
        <p:spPr>
          <a:xfrm>
            <a:off x="4436669" y="4486046"/>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3" name="Shape 10"/>
          <p:cNvSpPr/>
          <p:nvPr/>
        </p:nvSpPr>
        <p:spPr>
          <a:xfrm>
            <a:off x="8458200" y="1179576"/>
            <a:ext cx="310896" cy="310896"/>
          </a:xfrm>
          <a:prstGeom prst="ellipse">
            <a:avLst/>
          </a:prstGeom>
          <a:solidFill>
            <a:srgbClr val="FFB400"/>
          </a:solidFill>
          <a:ln w="9525">
            <a:solidFill>
              <a:srgbClr val="111111"/>
            </a:solidFill>
            <a:prstDash val="solid"/>
          </a:ln>
        </p:spPr>
      </p:sp>
      <p:sp>
        <p:nvSpPr>
          <p:cNvPr id="14" name="Text 11"/>
          <p:cNvSpPr txBox="1"/>
          <p:nvPr/>
        </p:nvSpPr>
        <p:spPr>
          <a:xfrm>
            <a:off x="8458200" y="11795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15" name="Text 12"/>
          <p:cNvSpPr txBox="1"/>
          <p:nvPr/>
        </p:nvSpPr>
        <p:spPr>
          <a:xfrm>
            <a:off x="8897112" y="11430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Tap </a:t>
            </a:r>
            <a:pPr indent="0" marL="0">
              <a:buNone/>
            </a:pPr>
            <a:r>
              <a:rPr lang="en-US" sz="1700" b="1" dirty="0">
                <a:solidFill>
                  <a:srgbClr val="12263F"/>
                </a:solidFill>
                <a:latin typeface="Calibri" pitchFamily="34" charset="0"/>
                <a:ea typeface="Calibri" pitchFamily="34" charset="-122"/>
                <a:cs typeface="Calibri" pitchFamily="34" charset="-120"/>
              </a:rPr>
              <a:t>Void</a:t>
            </a:r>
            <a:pPr indent="0" marL="0">
              <a:buNone/>
            </a:pPr>
            <a:r>
              <a:rPr lang="en-US" sz="1700" dirty="0">
                <a:solidFill>
                  <a:srgbClr val="1B1B1B"/>
                </a:solidFill>
                <a:latin typeface="Calibri" pitchFamily="34" charset="0"/>
                <a:ea typeface="Calibri" pitchFamily="34" charset="-122"/>
                <a:cs typeface="Calibri" pitchFamily="34" charset="-120"/>
              </a:rPr>
              <a:t> on the basket.</a:t>
            </a:r>
            <a:endParaRPr lang="en-US" sz="1700" dirty="0"/>
          </a:p>
        </p:txBody>
      </p:sp>
      <p:sp>
        <p:nvSpPr>
          <p:cNvPr id="16" name="Shape 13"/>
          <p:cNvSpPr/>
          <p:nvPr/>
        </p:nvSpPr>
        <p:spPr>
          <a:xfrm>
            <a:off x="8458200" y="2093976"/>
            <a:ext cx="310896" cy="310896"/>
          </a:xfrm>
          <a:prstGeom prst="ellipse">
            <a:avLst/>
          </a:prstGeom>
          <a:solidFill>
            <a:srgbClr val="FFB400"/>
          </a:solidFill>
          <a:ln w="9525">
            <a:solidFill>
              <a:srgbClr val="111111"/>
            </a:solidFill>
            <a:prstDash val="solid"/>
          </a:ln>
        </p:spPr>
      </p:sp>
      <p:sp>
        <p:nvSpPr>
          <p:cNvPr id="17" name="Text 14"/>
          <p:cNvSpPr txBox="1"/>
          <p:nvPr/>
        </p:nvSpPr>
        <p:spPr>
          <a:xfrm>
            <a:off x="8458200" y="20939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8897112" y="20574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Check the ticket number. Tap </a:t>
            </a:r>
            <a:pPr indent="0" marL="0">
              <a:buNone/>
            </a:pPr>
            <a:r>
              <a:rPr lang="en-US" sz="1700" b="1" dirty="0">
                <a:solidFill>
                  <a:srgbClr val="12263F"/>
                </a:solidFill>
                <a:latin typeface="Calibri" pitchFamily="34" charset="0"/>
                <a:ea typeface="Calibri" pitchFamily="34" charset="-122"/>
                <a:cs typeface="Calibri" pitchFamily="34" charset="-120"/>
              </a:rPr>
              <a:t>Void</a:t>
            </a:r>
            <a:pPr indent="0" marL="0">
              <a:buNone/>
            </a:pPr>
            <a:r>
              <a:rPr lang="en-US" sz="1700" dirty="0">
                <a:solidFill>
                  <a:srgbClr val="1B1B1B"/>
                </a:solidFill>
                <a:latin typeface="Calibri" pitchFamily="34" charset="0"/>
                <a:ea typeface="Calibri" pitchFamily="34" charset="-122"/>
                <a:cs typeface="Calibri" pitchFamily="34" charset="-120"/>
              </a:rPr>
              <a:t> to confirm.</a:t>
            </a:r>
            <a:endParaRPr lang="en-US" sz="1700" dirty="0"/>
          </a:p>
        </p:txBody>
      </p:sp>
      <p:sp>
        <p:nvSpPr>
          <p:cNvPr id="19" name="Text 16"/>
          <p:cNvSpPr txBox="1"/>
          <p:nvPr/>
        </p:nvSpPr>
        <p:spPr>
          <a:xfrm>
            <a:off x="8458200" y="3063240"/>
            <a:ext cx="3337560" cy="822960"/>
          </a:xfrm>
          <a:prstGeom prst="rect">
            <a:avLst/>
          </a:prstGeom>
          <a:solidFill>
            <a:srgbClr val="EEF2F7"/>
          </a:solidFill>
          <a:ln/>
        </p:spPr>
        <p:txBody>
          <a:bodyPr wrap="square" lIns="101600" tIns="101600" rIns="101600" bIns="101600" rtlCol="0" anchor="t"/>
          <a:lstStyle/>
          <a:p>
            <a:pPr indent="0" marL="0">
              <a:buNone/>
            </a:pPr>
            <a:r>
              <a:rPr lang="en-US" sz="1300" dirty="0">
                <a:solidFill>
                  <a:srgbClr val="5A6472"/>
                </a:solidFill>
                <a:latin typeface="Calibri" pitchFamily="34" charset="0"/>
                <a:ea typeface="Calibri" pitchFamily="34" charset="-122"/>
                <a:cs typeface="Calibri" pitchFamily="34" charset="-120"/>
              </a:rPr>
              <a:t>Only for a basket with nothing in it. It cannot be undone.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SCREEN TOUR</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The Reconcile Shift screen</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2400" cy="4858207"/>
          </a:xfrm>
          <a:prstGeom prst="rect">
            <a:avLst/>
          </a:prstGeom>
        </p:spPr>
      </p:pic>
      <p:sp>
        <p:nvSpPr>
          <p:cNvPr id="5" name="Shape 2"/>
          <p:cNvSpPr/>
          <p:nvPr/>
        </p:nvSpPr>
        <p:spPr>
          <a:xfrm>
            <a:off x="543154" y="2144268"/>
            <a:ext cx="3229661" cy="159106"/>
          </a:xfrm>
          <a:prstGeom prst="rect">
            <a:avLst/>
          </a:prstGeom>
          <a:ln w="31750">
            <a:solidFill>
              <a:srgbClr val="000000">
                <a:alpha val="55000"/>
              </a:srgbClr>
            </a:solidFill>
            <a:prstDash val="solid"/>
          </a:ln>
        </p:spPr>
      </p:sp>
      <p:sp>
        <p:nvSpPr>
          <p:cNvPr id="6" name="Shape 3"/>
          <p:cNvSpPr/>
          <p:nvPr/>
        </p:nvSpPr>
        <p:spPr>
          <a:xfrm>
            <a:off x="552298" y="2153412"/>
            <a:ext cx="3211373" cy="140818"/>
          </a:xfrm>
          <a:prstGeom prst="rect">
            <a:avLst/>
          </a:prstGeom>
          <a:ln w="19050">
            <a:solidFill>
              <a:srgbClr val="2E86DE"/>
            </a:solidFill>
            <a:prstDash val="solid"/>
          </a:ln>
        </p:spPr>
      </p:sp>
      <p:sp>
        <p:nvSpPr>
          <p:cNvPr id="7" name="Shape 4"/>
          <p:cNvSpPr/>
          <p:nvPr/>
        </p:nvSpPr>
        <p:spPr>
          <a:xfrm>
            <a:off x="3809390" y="2153412"/>
            <a:ext cx="237744" cy="237744"/>
          </a:xfrm>
          <a:prstGeom prst="roundRect">
            <a:avLst>
              <a:gd name="adj" fmla="val 15385"/>
            </a:avLst>
          </a:prstGeom>
          <a:solidFill>
            <a:srgbClr val="2E86DE"/>
          </a:solidFill>
          <a:ln w="9525">
            <a:solidFill>
              <a:srgbClr val="FFFFFF"/>
            </a:solidFill>
            <a:prstDash val="solid"/>
          </a:ln>
        </p:spPr>
      </p:sp>
      <p:sp>
        <p:nvSpPr>
          <p:cNvPr id="8" name="Text 5"/>
          <p:cNvSpPr txBox="1"/>
          <p:nvPr/>
        </p:nvSpPr>
        <p:spPr>
          <a:xfrm>
            <a:off x="3809390" y="215341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a:t>
            </a:r>
            <a:endParaRPr lang="en-US" sz="1100" dirty="0"/>
          </a:p>
        </p:txBody>
      </p:sp>
      <p:sp>
        <p:nvSpPr>
          <p:cNvPr id="9" name="Shape 6"/>
          <p:cNvSpPr/>
          <p:nvPr/>
        </p:nvSpPr>
        <p:spPr>
          <a:xfrm>
            <a:off x="3783787" y="2144268"/>
            <a:ext cx="4268419" cy="159106"/>
          </a:xfrm>
          <a:prstGeom prst="rect">
            <a:avLst/>
          </a:prstGeom>
          <a:ln w="31750">
            <a:solidFill>
              <a:srgbClr val="000000">
                <a:alpha val="55000"/>
              </a:srgbClr>
            </a:solidFill>
            <a:prstDash val="solid"/>
          </a:ln>
        </p:spPr>
      </p:sp>
      <p:sp>
        <p:nvSpPr>
          <p:cNvPr id="10" name="Shape 7"/>
          <p:cNvSpPr/>
          <p:nvPr/>
        </p:nvSpPr>
        <p:spPr>
          <a:xfrm>
            <a:off x="3792931" y="2153412"/>
            <a:ext cx="4250131" cy="140818"/>
          </a:xfrm>
          <a:prstGeom prst="rect">
            <a:avLst/>
          </a:prstGeom>
          <a:ln w="19050">
            <a:solidFill>
              <a:srgbClr val="E67E22"/>
            </a:solidFill>
            <a:prstDash val="solid"/>
          </a:ln>
        </p:spPr>
      </p:sp>
      <p:sp>
        <p:nvSpPr>
          <p:cNvPr id="11" name="Shape 8"/>
          <p:cNvSpPr/>
          <p:nvPr/>
        </p:nvSpPr>
        <p:spPr>
          <a:xfrm>
            <a:off x="3829507" y="2189988"/>
            <a:ext cx="237744" cy="237744"/>
          </a:xfrm>
          <a:prstGeom prst="roundRect">
            <a:avLst>
              <a:gd name="adj" fmla="val 15385"/>
            </a:avLst>
          </a:prstGeom>
          <a:solidFill>
            <a:srgbClr val="E67E22"/>
          </a:solidFill>
          <a:ln w="9525">
            <a:solidFill>
              <a:srgbClr val="FFFFFF"/>
            </a:solidFill>
            <a:prstDash val="solid"/>
          </a:ln>
        </p:spPr>
      </p:sp>
      <p:sp>
        <p:nvSpPr>
          <p:cNvPr id="12" name="Text 9"/>
          <p:cNvSpPr txBox="1"/>
          <p:nvPr/>
        </p:nvSpPr>
        <p:spPr>
          <a:xfrm>
            <a:off x="3829507" y="218998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a:t>
            </a:r>
            <a:endParaRPr lang="en-US" sz="1100" dirty="0"/>
          </a:p>
        </p:txBody>
      </p:sp>
      <p:sp>
        <p:nvSpPr>
          <p:cNvPr id="13" name="Shape 10"/>
          <p:cNvSpPr/>
          <p:nvPr/>
        </p:nvSpPr>
        <p:spPr>
          <a:xfrm>
            <a:off x="543154" y="3135478"/>
            <a:ext cx="7509053" cy="163678"/>
          </a:xfrm>
          <a:prstGeom prst="rect">
            <a:avLst/>
          </a:prstGeom>
          <a:ln w="31750">
            <a:solidFill>
              <a:srgbClr val="000000">
                <a:alpha val="55000"/>
              </a:srgbClr>
            </a:solidFill>
            <a:prstDash val="solid"/>
          </a:ln>
        </p:spPr>
      </p:sp>
      <p:sp>
        <p:nvSpPr>
          <p:cNvPr id="14" name="Shape 11"/>
          <p:cNvSpPr/>
          <p:nvPr/>
        </p:nvSpPr>
        <p:spPr>
          <a:xfrm>
            <a:off x="552298" y="3144622"/>
            <a:ext cx="7490765" cy="145390"/>
          </a:xfrm>
          <a:prstGeom prst="rect">
            <a:avLst/>
          </a:prstGeom>
          <a:ln w="19050">
            <a:solidFill>
              <a:srgbClr val="8E44AD"/>
            </a:solidFill>
            <a:prstDash val="solid"/>
          </a:ln>
        </p:spPr>
      </p:sp>
      <p:sp>
        <p:nvSpPr>
          <p:cNvPr id="15" name="Shape 12"/>
          <p:cNvSpPr/>
          <p:nvPr/>
        </p:nvSpPr>
        <p:spPr>
          <a:xfrm>
            <a:off x="588874" y="3181198"/>
            <a:ext cx="237744" cy="237744"/>
          </a:xfrm>
          <a:prstGeom prst="roundRect">
            <a:avLst>
              <a:gd name="adj" fmla="val 15385"/>
            </a:avLst>
          </a:prstGeom>
          <a:solidFill>
            <a:srgbClr val="8E44AD"/>
          </a:solidFill>
          <a:ln w="9525">
            <a:solidFill>
              <a:srgbClr val="FFFFFF"/>
            </a:solidFill>
            <a:prstDash val="solid"/>
          </a:ln>
        </p:spPr>
      </p:sp>
      <p:sp>
        <p:nvSpPr>
          <p:cNvPr id="16" name="Text 13"/>
          <p:cNvSpPr txBox="1"/>
          <p:nvPr/>
        </p:nvSpPr>
        <p:spPr>
          <a:xfrm>
            <a:off x="588874" y="318119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a:t>
            </a:r>
            <a:endParaRPr lang="en-US" sz="1100" dirty="0"/>
          </a:p>
        </p:txBody>
      </p:sp>
      <p:sp>
        <p:nvSpPr>
          <p:cNvPr id="17" name="Shape 14"/>
          <p:cNvSpPr/>
          <p:nvPr/>
        </p:nvSpPr>
        <p:spPr>
          <a:xfrm>
            <a:off x="543154" y="5418734"/>
            <a:ext cx="7509053" cy="450799"/>
          </a:xfrm>
          <a:prstGeom prst="rect">
            <a:avLst/>
          </a:prstGeom>
          <a:ln w="31750">
            <a:solidFill>
              <a:srgbClr val="000000">
                <a:alpha val="55000"/>
              </a:srgbClr>
            </a:solidFill>
            <a:prstDash val="solid"/>
          </a:ln>
        </p:spPr>
      </p:sp>
      <p:sp>
        <p:nvSpPr>
          <p:cNvPr id="18" name="Shape 15"/>
          <p:cNvSpPr/>
          <p:nvPr/>
        </p:nvSpPr>
        <p:spPr>
          <a:xfrm>
            <a:off x="552298" y="5427878"/>
            <a:ext cx="7490765" cy="432511"/>
          </a:xfrm>
          <a:prstGeom prst="rect">
            <a:avLst/>
          </a:prstGeom>
          <a:ln w="19050">
            <a:solidFill>
              <a:srgbClr val="16A085"/>
            </a:solidFill>
            <a:prstDash val="solid"/>
          </a:ln>
        </p:spPr>
      </p:sp>
      <p:sp>
        <p:nvSpPr>
          <p:cNvPr id="19" name="Shape 16"/>
          <p:cNvSpPr/>
          <p:nvPr/>
        </p:nvSpPr>
        <p:spPr>
          <a:xfrm>
            <a:off x="588874" y="5464454"/>
            <a:ext cx="237744" cy="237744"/>
          </a:xfrm>
          <a:prstGeom prst="roundRect">
            <a:avLst>
              <a:gd name="adj" fmla="val 15385"/>
            </a:avLst>
          </a:prstGeom>
          <a:solidFill>
            <a:srgbClr val="16A085"/>
          </a:solidFill>
          <a:ln w="9525">
            <a:solidFill>
              <a:srgbClr val="FFFFFF"/>
            </a:solidFill>
            <a:prstDash val="solid"/>
          </a:ln>
        </p:spPr>
      </p:sp>
      <p:sp>
        <p:nvSpPr>
          <p:cNvPr id="20" name="Text 17"/>
          <p:cNvSpPr txBox="1"/>
          <p:nvPr/>
        </p:nvSpPr>
        <p:spPr>
          <a:xfrm>
            <a:off x="588874" y="546445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a:t>
            </a:r>
            <a:endParaRPr lang="en-US" sz="1100" dirty="0"/>
          </a:p>
        </p:txBody>
      </p:sp>
      <p:sp>
        <p:nvSpPr>
          <p:cNvPr id="21" name="Shape 18"/>
          <p:cNvSpPr/>
          <p:nvPr/>
        </p:nvSpPr>
        <p:spPr>
          <a:xfrm>
            <a:off x="8458200" y="1143000"/>
            <a:ext cx="310896" cy="310896"/>
          </a:xfrm>
          <a:prstGeom prst="roundRect">
            <a:avLst>
              <a:gd name="adj" fmla="val 14706"/>
            </a:avLst>
          </a:prstGeom>
          <a:solidFill>
            <a:srgbClr val="2E86DE"/>
          </a:solidFill>
          <a:ln w="12700">
            <a:solidFill>
              <a:srgbClr val="2E86DE"/>
            </a:solidFill>
            <a:prstDash val="solid"/>
          </a:ln>
        </p:spPr>
      </p:sp>
      <p:sp>
        <p:nvSpPr>
          <p:cNvPr id="22" name="Text 19"/>
          <p:cNvSpPr txBox="1"/>
          <p:nvPr/>
        </p:nvSpPr>
        <p:spPr>
          <a:xfrm>
            <a:off x="8458200" y="1143000"/>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a:t>
            </a:r>
            <a:endParaRPr lang="en-US" sz="1400" dirty="0"/>
          </a:p>
        </p:txBody>
      </p:sp>
      <p:sp>
        <p:nvSpPr>
          <p:cNvPr id="23" name="Text 20"/>
          <p:cNvSpPr txBox="1"/>
          <p:nvPr/>
        </p:nvSpPr>
        <p:spPr>
          <a:xfrm>
            <a:off x="8915400" y="1115568"/>
            <a:ext cx="2880360" cy="548640"/>
          </a:xfrm>
          <a:prstGeom prst="rect">
            <a:avLst/>
          </a:prstGeom>
          <a:noFill/>
          <a:ln/>
        </p:spPr>
        <p:txBody>
          <a:bodyPr wrap="square" lIns="0" tIns="0" rIns="0" bIns="0" rtlCol="0" anchor="t"/>
          <a:lstStyle/>
          <a:p>
            <a:pPr indent="0" marL="0">
              <a:buNone/>
            </a:pPr>
            <a:r>
              <a:rPr lang="en-US" sz="1500" dirty="0">
                <a:solidFill>
                  <a:srgbClr val="1B1B1B"/>
                </a:solidFill>
                <a:latin typeface="Calibri" pitchFamily="34" charset="0"/>
                <a:ea typeface="Calibri" pitchFamily="34" charset="-122"/>
                <a:cs typeface="Calibri" pitchFamily="34" charset="-120"/>
              </a:rPr>
              <a:t>Your shift and the press counter</a:t>
            </a:r>
            <a:endParaRPr lang="en-US" sz="1500" dirty="0"/>
          </a:p>
        </p:txBody>
      </p:sp>
      <p:sp>
        <p:nvSpPr>
          <p:cNvPr id="24" name="Shape 21"/>
          <p:cNvSpPr/>
          <p:nvPr/>
        </p:nvSpPr>
        <p:spPr>
          <a:xfrm>
            <a:off x="8458200" y="1801368"/>
            <a:ext cx="310896" cy="310896"/>
          </a:xfrm>
          <a:prstGeom prst="roundRect">
            <a:avLst>
              <a:gd name="adj" fmla="val 14706"/>
            </a:avLst>
          </a:prstGeom>
          <a:solidFill>
            <a:srgbClr val="E67E22"/>
          </a:solidFill>
          <a:ln w="12700">
            <a:solidFill>
              <a:srgbClr val="E67E22"/>
            </a:solidFill>
            <a:prstDash val="solid"/>
          </a:ln>
        </p:spPr>
      </p:sp>
      <p:sp>
        <p:nvSpPr>
          <p:cNvPr id="25" name="Text 22"/>
          <p:cNvSpPr txBox="1"/>
          <p:nvPr/>
        </p:nvSpPr>
        <p:spPr>
          <a:xfrm>
            <a:off x="8458200" y="180136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a:t>
            </a:r>
            <a:endParaRPr lang="en-US" sz="1400" dirty="0"/>
          </a:p>
        </p:txBody>
      </p:sp>
      <p:sp>
        <p:nvSpPr>
          <p:cNvPr id="26" name="Text 23"/>
          <p:cNvSpPr txBox="1"/>
          <p:nvPr/>
        </p:nvSpPr>
        <p:spPr>
          <a:xfrm>
            <a:off x="8915400" y="1773936"/>
            <a:ext cx="2880360" cy="548640"/>
          </a:xfrm>
          <a:prstGeom prst="rect">
            <a:avLst/>
          </a:prstGeom>
          <a:noFill/>
          <a:ln/>
        </p:spPr>
        <p:txBody>
          <a:bodyPr wrap="square" lIns="0" tIns="0" rIns="0" bIns="0" rtlCol="0" anchor="t"/>
          <a:lstStyle/>
          <a:p>
            <a:pPr indent="0" marL="0">
              <a:buNone/>
            </a:pPr>
            <a:r>
              <a:rPr lang="en-US" sz="1500" dirty="0">
                <a:solidFill>
                  <a:srgbClr val="1B1B1B"/>
                </a:solidFill>
                <a:latin typeface="Calibri" pitchFamily="34" charset="0"/>
                <a:ea typeface="Calibri" pitchFamily="34" charset="-122"/>
                <a:cs typeface="Calibri" pitchFamily="34" charset="-120"/>
              </a:rPr>
              <a:t>Shots lost on the whole die</a:t>
            </a:r>
            <a:endParaRPr lang="en-US" sz="1500" dirty="0"/>
          </a:p>
        </p:txBody>
      </p:sp>
      <p:sp>
        <p:nvSpPr>
          <p:cNvPr id="27" name="Shape 24"/>
          <p:cNvSpPr/>
          <p:nvPr/>
        </p:nvSpPr>
        <p:spPr>
          <a:xfrm>
            <a:off x="8458200" y="2459736"/>
            <a:ext cx="310896" cy="310896"/>
          </a:xfrm>
          <a:prstGeom prst="roundRect">
            <a:avLst>
              <a:gd name="adj" fmla="val 14706"/>
            </a:avLst>
          </a:prstGeom>
          <a:solidFill>
            <a:srgbClr val="8E44AD"/>
          </a:solidFill>
          <a:ln w="12700">
            <a:solidFill>
              <a:srgbClr val="8E44AD"/>
            </a:solidFill>
            <a:prstDash val="solid"/>
          </a:ln>
        </p:spPr>
      </p:sp>
      <p:sp>
        <p:nvSpPr>
          <p:cNvPr id="28" name="Text 25"/>
          <p:cNvSpPr txBox="1"/>
          <p:nvPr/>
        </p:nvSpPr>
        <p:spPr>
          <a:xfrm>
            <a:off x="8458200" y="2459736"/>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a:t>
            </a:r>
            <a:endParaRPr lang="en-US" sz="1400" dirty="0"/>
          </a:p>
        </p:txBody>
      </p:sp>
      <p:sp>
        <p:nvSpPr>
          <p:cNvPr id="29" name="Text 26"/>
          <p:cNvSpPr txBox="1"/>
          <p:nvPr/>
        </p:nvSpPr>
        <p:spPr>
          <a:xfrm>
            <a:off x="8915400" y="2432304"/>
            <a:ext cx="2880360" cy="548640"/>
          </a:xfrm>
          <a:prstGeom prst="rect">
            <a:avLst/>
          </a:prstGeom>
          <a:noFill/>
          <a:ln/>
        </p:spPr>
        <p:txBody>
          <a:bodyPr wrap="square" lIns="0" tIns="0" rIns="0" bIns="0" rtlCol="0" anchor="t"/>
          <a:lstStyle/>
          <a:p>
            <a:pPr indent="0" marL="0">
              <a:buNone/>
            </a:pPr>
            <a:r>
              <a:rPr lang="en-US" sz="1500" dirty="0">
                <a:solidFill>
                  <a:srgbClr val="1B1B1B"/>
                </a:solidFill>
                <a:latin typeface="Calibri" pitchFamily="34" charset="0"/>
                <a:ea typeface="Calibri" pitchFamily="34" charset="-122"/>
                <a:cs typeface="Calibri" pitchFamily="34" charset="-120"/>
              </a:rPr>
              <a:t>Each cavity, after </a:t>
            </a:r>
            <a:pPr indent="0" marL="0">
              <a:buNone/>
            </a:pPr>
            <a:r>
              <a:rPr lang="en-US" sz="1500" b="1" dirty="0">
                <a:solidFill>
                  <a:srgbClr val="12263F"/>
                </a:solidFill>
                <a:latin typeface="Calibri" pitchFamily="34" charset="0"/>
                <a:ea typeface="Calibri" pitchFamily="34" charset="-122"/>
                <a:cs typeface="Calibri" pitchFamily="34" charset="-120"/>
              </a:rPr>
              <a:t>Compute</a:t>
            </a:r>
            <a:endParaRPr lang="en-US" sz="1500" dirty="0"/>
          </a:p>
        </p:txBody>
      </p:sp>
      <p:sp>
        <p:nvSpPr>
          <p:cNvPr id="30" name="Shape 27"/>
          <p:cNvSpPr/>
          <p:nvPr/>
        </p:nvSpPr>
        <p:spPr>
          <a:xfrm>
            <a:off x="8458200" y="3118104"/>
            <a:ext cx="310896" cy="310896"/>
          </a:xfrm>
          <a:prstGeom prst="roundRect">
            <a:avLst>
              <a:gd name="adj" fmla="val 14706"/>
            </a:avLst>
          </a:prstGeom>
          <a:solidFill>
            <a:srgbClr val="16A085"/>
          </a:solidFill>
          <a:ln w="12700">
            <a:solidFill>
              <a:srgbClr val="16A085"/>
            </a:solidFill>
            <a:prstDash val="solid"/>
          </a:ln>
        </p:spPr>
      </p:sp>
      <p:sp>
        <p:nvSpPr>
          <p:cNvPr id="31" name="Text 28"/>
          <p:cNvSpPr txBox="1"/>
          <p:nvPr/>
        </p:nvSpPr>
        <p:spPr>
          <a:xfrm>
            <a:off x="8458200" y="3118104"/>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D</a:t>
            </a:r>
            <a:endParaRPr lang="en-US" sz="1400" dirty="0"/>
          </a:p>
        </p:txBody>
      </p:sp>
      <p:sp>
        <p:nvSpPr>
          <p:cNvPr id="32" name="Text 29"/>
          <p:cNvSpPr txBox="1"/>
          <p:nvPr/>
        </p:nvSpPr>
        <p:spPr>
          <a:xfrm>
            <a:off x="8915400" y="3090672"/>
            <a:ext cx="2880360" cy="548640"/>
          </a:xfrm>
          <a:prstGeom prst="rect">
            <a:avLst/>
          </a:prstGeom>
          <a:noFill/>
          <a:ln/>
        </p:spPr>
        <p:txBody>
          <a:bodyPr wrap="square" lIns="0" tIns="0" rIns="0" bIns="0" rtlCol="0" anchor="t"/>
          <a:lstStyle/>
          <a:p>
            <a:pPr indent="0" marL="0">
              <a:buNone/>
            </a:pPr>
            <a:r>
              <a:rPr lang="en-US" sz="1500" dirty="0">
                <a:solidFill>
                  <a:srgbClr val="1B1B1B"/>
                </a:solidFill>
                <a:latin typeface="Calibri" pitchFamily="34" charset="0"/>
                <a:ea typeface="Calibri" pitchFamily="34" charset="-122"/>
                <a:cs typeface="Calibri" pitchFamily="34" charset="-120"/>
              </a:rPr>
              <a:t>The totals, and the button to send</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END OF SHIFT</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Start the shift entry</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2400" cy="5302606"/>
          </a:xfrm>
          <a:prstGeom prst="rect">
            <a:avLst/>
          </a:prstGeom>
        </p:spPr>
      </p:pic>
      <p:sp>
        <p:nvSpPr>
          <p:cNvPr id="5" name="Shape 2"/>
          <p:cNvSpPr/>
          <p:nvPr/>
        </p:nvSpPr>
        <p:spPr>
          <a:xfrm>
            <a:off x="756209" y="3439973"/>
            <a:ext cx="2073859" cy="614477"/>
          </a:xfrm>
          <a:prstGeom prst="rect">
            <a:avLst/>
          </a:prstGeom>
          <a:ln w="31750">
            <a:solidFill>
              <a:srgbClr val="000000">
                <a:alpha val="55000"/>
              </a:srgbClr>
            </a:solidFill>
            <a:prstDash val="solid"/>
          </a:ln>
        </p:spPr>
      </p:sp>
      <p:sp>
        <p:nvSpPr>
          <p:cNvPr id="6" name="Shape 3"/>
          <p:cNvSpPr/>
          <p:nvPr/>
        </p:nvSpPr>
        <p:spPr>
          <a:xfrm>
            <a:off x="765353" y="3449117"/>
            <a:ext cx="2055571" cy="596189"/>
          </a:xfrm>
          <a:prstGeom prst="rect">
            <a:avLst/>
          </a:prstGeom>
          <a:ln w="19050">
            <a:solidFill>
              <a:srgbClr val="FFB400"/>
            </a:solidFill>
            <a:prstDash val="solid"/>
          </a:ln>
        </p:spPr>
      </p:sp>
      <p:sp>
        <p:nvSpPr>
          <p:cNvPr id="7" name="Shape 4"/>
          <p:cNvSpPr/>
          <p:nvPr/>
        </p:nvSpPr>
        <p:spPr>
          <a:xfrm>
            <a:off x="619049" y="3302813"/>
            <a:ext cx="256032" cy="256032"/>
          </a:xfrm>
          <a:prstGeom prst="ellipse">
            <a:avLst/>
          </a:prstGeom>
          <a:solidFill>
            <a:srgbClr val="FFB400"/>
          </a:solidFill>
          <a:ln w="9525">
            <a:solidFill>
              <a:srgbClr val="111111"/>
            </a:solidFill>
            <a:prstDash val="solid"/>
          </a:ln>
        </p:spPr>
      </p:sp>
      <p:sp>
        <p:nvSpPr>
          <p:cNvPr id="8" name="Text 5"/>
          <p:cNvSpPr txBox="1"/>
          <p:nvPr/>
        </p:nvSpPr>
        <p:spPr>
          <a:xfrm>
            <a:off x="619049" y="3302813"/>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9" name="Shape 6"/>
          <p:cNvSpPr/>
          <p:nvPr/>
        </p:nvSpPr>
        <p:spPr>
          <a:xfrm>
            <a:off x="2829154" y="3249778"/>
            <a:ext cx="1555394" cy="803758"/>
          </a:xfrm>
          <a:prstGeom prst="rect">
            <a:avLst/>
          </a:prstGeom>
          <a:ln w="31750">
            <a:solidFill>
              <a:srgbClr val="000000">
                <a:alpha val="55000"/>
              </a:srgbClr>
            </a:solidFill>
            <a:prstDash val="solid"/>
          </a:ln>
        </p:spPr>
      </p:sp>
      <p:sp>
        <p:nvSpPr>
          <p:cNvPr id="10" name="Shape 7"/>
          <p:cNvSpPr/>
          <p:nvPr/>
        </p:nvSpPr>
        <p:spPr>
          <a:xfrm>
            <a:off x="2838298" y="3258922"/>
            <a:ext cx="1537106" cy="785470"/>
          </a:xfrm>
          <a:prstGeom prst="rect">
            <a:avLst/>
          </a:prstGeom>
          <a:ln w="19050">
            <a:solidFill>
              <a:srgbClr val="FFB400"/>
            </a:solidFill>
            <a:prstDash val="solid"/>
          </a:ln>
        </p:spPr>
      </p:sp>
      <p:sp>
        <p:nvSpPr>
          <p:cNvPr id="11" name="Shape 8"/>
          <p:cNvSpPr/>
          <p:nvPr/>
        </p:nvSpPr>
        <p:spPr>
          <a:xfrm>
            <a:off x="2691994" y="3112618"/>
            <a:ext cx="256032" cy="256032"/>
          </a:xfrm>
          <a:prstGeom prst="ellipse">
            <a:avLst/>
          </a:prstGeom>
          <a:solidFill>
            <a:srgbClr val="FFB400"/>
          </a:solidFill>
          <a:ln w="9525">
            <a:solidFill>
              <a:srgbClr val="111111"/>
            </a:solidFill>
            <a:prstDash val="solid"/>
          </a:ln>
        </p:spPr>
      </p:sp>
      <p:sp>
        <p:nvSpPr>
          <p:cNvPr id="12" name="Text 9"/>
          <p:cNvSpPr txBox="1"/>
          <p:nvPr/>
        </p:nvSpPr>
        <p:spPr>
          <a:xfrm>
            <a:off x="2691994" y="3112618"/>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3" name="Shape 10"/>
          <p:cNvSpPr/>
          <p:nvPr/>
        </p:nvSpPr>
        <p:spPr>
          <a:xfrm>
            <a:off x="4383634" y="3482950"/>
            <a:ext cx="1322222" cy="570586"/>
          </a:xfrm>
          <a:prstGeom prst="rect">
            <a:avLst/>
          </a:prstGeom>
          <a:ln w="31750">
            <a:solidFill>
              <a:srgbClr val="000000">
                <a:alpha val="55000"/>
              </a:srgbClr>
            </a:solidFill>
            <a:prstDash val="solid"/>
          </a:ln>
        </p:spPr>
      </p:sp>
      <p:sp>
        <p:nvSpPr>
          <p:cNvPr id="14" name="Shape 11"/>
          <p:cNvSpPr/>
          <p:nvPr/>
        </p:nvSpPr>
        <p:spPr>
          <a:xfrm>
            <a:off x="4392778" y="3492094"/>
            <a:ext cx="1303934" cy="552298"/>
          </a:xfrm>
          <a:prstGeom prst="rect">
            <a:avLst/>
          </a:prstGeom>
          <a:ln w="19050">
            <a:solidFill>
              <a:srgbClr val="FFB400"/>
            </a:solidFill>
            <a:prstDash val="solid"/>
          </a:ln>
        </p:spPr>
      </p:sp>
      <p:sp>
        <p:nvSpPr>
          <p:cNvPr id="15" name="Shape 12"/>
          <p:cNvSpPr/>
          <p:nvPr/>
        </p:nvSpPr>
        <p:spPr>
          <a:xfrm>
            <a:off x="4246474" y="3345790"/>
            <a:ext cx="256032" cy="256032"/>
          </a:xfrm>
          <a:prstGeom prst="ellipse">
            <a:avLst/>
          </a:prstGeom>
          <a:solidFill>
            <a:srgbClr val="FFB400"/>
          </a:solidFill>
          <a:ln w="9525">
            <a:solidFill>
              <a:srgbClr val="111111"/>
            </a:solidFill>
            <a:prstDash val="solid"/>
          </a:ln>
        </p:spPr>
      </p:sp>
      <p:sp>
        <p:nvSpPr>
          <p:cNvPr id="16" name="Text 13"/>
          <p:cNvSpPr txBox="1"/>
          <p:nvPr/>
        </p:nvSpPr>
        <p:spPr>
          <a:xfrm>
            <a:off x="4246474" y="3345790"/>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17" name="Shape 14"/>
          <p:cNvSpPr/>
          <p:nvPr/>
        </p:nvSpPr>
        <p:spPr>
          <a:xfrm>
            <a:off x="8458200" y="1179576"/>
            <a:ext cx="310896" cy="310896"/>
          </a:xfrm>
          <a:prstGeom prst="ellipse">
            <a:avLst/>
          </a:prstGeom>
          <a:solidFill>
            <a:srgbClr val="FFB400"/>
          </a:solidFill>
          <a:ln w="9525">
            <a:solidFill>
              <a:srgbClr val="111111"/>
            </a:solidFill>
            <a:prstDash val="solid"/>
          </a:ln>
        </p:spPr>
      </p:sp>
      <p:sp>
        <p:nvSpPr>
          <p:cNvPr id="18" name="Text 15"/>
          <p:cNvSpPr txBox="1"/>
          <p:nvPr/>
        </p:nvSpPr>
        <p:spPr>
          <a:xfrm>
            <a:off x="8458200" y="11795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19" name="Text 16"/>
          <p:cNvSpPr txBox="1"/>
          <p:nvPr/>
        </p:nvSpPr>
        <p:spPr>
          <a:xfrm>
            <a:off x="8897112" y="11430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Pick your shift.</a:t>
            </a:r>
            <a:endParaRPr lang="en-US" sz="1700" dirty="0"/>
          </a:p>
        </p:txBody>
      </p:sp>
      <p:sp>
        <p:nvSpPr>
          <p:cNvPr id="20" name="Shape 17"/>
          <p:cNvSpPr/>
          <p:nvPr/>
        </p:nvSpPr>
        <p:spPr>
          <a:xfrm>
            <a:off x="8458200" y="2093976"/>
            <a:ext cx="310896" cy="310896"/>
          </a:xfrm>
          <a:prstGeom prst="ellipse">
            <a:avLst/>
          </a:prstGeom>
          <a:solidFill>
            <a:srgbClr val="FFB400"/>
          </a:solidFill>
          <a:ln w="9525">
            <a:solidFill>
              <a:srgbClr val="111111"/>
            </a:solidFill>
            <a:prstDash val="solid"/>
          </a:ln>
        </p:spPr>
      </p:sp>
      <p:sp>
        <p:nvSpPr>
          <p:cNvPr id="21" name="Text 18"/>
          <p:cNvSpPr txBox="1"/>
          <p:nvPr/>
        </p:nvSpPr>
        <p:spPr>
          <a:xfrm>
            <a:off x="8458200" y="20939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22" name="Text 19"/>
          <p:cNvSpPr txBox="1"/>
          <p:nvPr/>
        </p:nvSpPr>
        <p:spPr>
          <a:xfrm>
            <a:off x="8897112" y="20574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Type the number on the press counter.</a:t>
            </a:r>
            <a:endParaRPr lang="en-US" sz="1700" dirty="0"/>
          </a:p>
        </p:txBody>
      </p:sp>
      <p:sp>
        <p:nvSpPr>
          <p:cNvPr id="23" name="Shape 20"/>
          <p:cNvSpPr/>
          <p:nvPr/>
        </p:nvSpPr>
        <p:spPr>
          <a:xfrm>
            <a:off x="8458200" y="3008376"/>
            <a:ext cx="310896" cy="310896"/>
          </a:xfrm>
          <a:prstGeom prst="ellipse">
            <a:avLst/>
          </a:prstGeom>
          <a:solidFill>
            <a:srgbClr val="FFB400"/>
          </a:solidFill>
          <a:ln w="9525">
            <a:solidFill>
              <a:srgbClr val="111111"/>
            </a:solidFill>
            <a:prstDash val="solid"/>
          </a:ln>
        </p:spPr>
      </p:sp>
      <p:sp>
        <p:nvSpPr>
          <p:cNvPr id="24" name="Text 21"/>
          <p:cNvSpPr txBox="1"/>
          <p:nvPr/>
        </p:nvSpPr>
        <p:spPr>
          <a:xfrm>
            <a:off x="8458200" y="30083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25" name="Text 22"/>
          <p:cNvSpPr txBox="1"/>
          <p:nvPr/>
        </p:nvSpPr>
        <p:spPr>
          <a:xfrm>
            <a:off x="8897112" y="29718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Tap </a:t>
            </a:r>
            <a:pPr indent="0" marL="0">
              <a:buNone/>
            </a:pPr>
            <a:r>
              <a:rPr lang="en-US" sz="1700" b="1" dirty="0">
                <a:solidFill>
                  <a:srgbClr val="12263F"/>
                </a:solidFill>
                <a:latin typeface="Calibri" pitchFamily="34" charset="0"/>
                <a:ea typeface="Calibri" pitchFamily="34" charset="-122"/>
                <a:cs typeface="Calibri" pitchFamily="34" charset="-120"/>
              </a:rPr>
              <a:t>Compute</a:t>
            </a:r>
            <a:pPr indent="0" marL="0">
              <a:buNone/>
            </a:pPr>
            <a:r>
              <a:rPr lang="en-US" sz="1700" dirty="0">
                <a:solidFill>
                  <a:srgbClr val="1B1B1B"/>
                </a:solidFill>
                <a:latin typeface="Calibri" pitchFamily="34" charset="0"/>
                <a:ea typeface="Calibri" pitchFamily="34" charset="-122"/>
                <a:cs typeface="Calibri" pitchFamily="34" charset="-120"/>
              </a:rPr>
              <a:t>.</a:t>
            </a:r>
            <a:endParaRPr lang="en-US" sz="1700" dirty="0"/>
          </a:p>
        </p:txBody>
      </p:sp>
      <p:sp>
        <p:nvSpPr>
          <p:cNvPr id="26" name="Text 23"/>
          <p:cNvSpPr txBox="1"/>
          <p:nvPr/>
        </p:nvSpPr>
        <p:spPr>
          <a:xfrm>
            <a:off x="8458200" y="3977640"/>
            <a:ext cx="3337560" cy="822960"/>
          </a:xfrm>
          <a:prstGeom prst="rect">
            <a:avLst/>
          </a:prstGeom>
          <a:solidFill>
            <a:srgbClr val="EEF2F7"/>
          </a:solidFill>
          <a:ln/>
        </p:spPr>
        <p:txBody>
          <a:bodyPr wrap="square" lIns="101600" tIns="101600" rIns="101600" bIns="101600" rtlCol="0" anchor="t"/>
          <a:lstStyle/>
          <a:p>
            <a:pPr indent="0" marL="0">
              <a:buNone/>
            </a:pPr>
            <a:r>
              <a:rPr lang="en-US" sz="1300" dirty="0">
                <a:solidFill>
                  <a:srgbClr val="5A6472"/>
                </a:solidFill>
                <a:latin typeface="Calibri" pitchFamily="34" charset="0"/>
                <a:ea typeface="Calibri" pitchFamily="34" charset="-122"/>
                <a:cs typeface="Calibri" pitchFamily="34" charset="-120"/>
              </a:rPr>
              <a:t>Shift just ended? The list shows the last three shifts.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END OF SHIFT</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Warm-up and test shots</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2400" cy="5302606"/>
          </a:xfrm>
          <a:prstGeom prst="rect">
            <a:avLst/>
          </a:prstGeom>
        </p:spPr>
      </p:pic>
      <p:sp>
        <p:nvSpPr>
          <p:cNvPr id="5" name="Shape 2"/>
          <p:cNvSpPr/>
          <p:nvPr/>
        </p:nvSpPr>
        <p:spPr>
          <a:xfrm>
            <a:off x="4772254" y="3137306"/>
            <a:ext cx="1036930" cy="467258"/>
          </a:xfrm>
          <a:prstGeom prst="rect">
            <a:avLst/>
          </a:prstGeom>
          <a:ln w="31750">
            <a:solidFill>
              <a:srgbClr val="000000">
                <a:alpha val="55000"/>
              </a:srgbClr>
            </a:solidFill>
            <a:prstDash val="solid"/>
          </a:ln>
        </p:spPr>
      </p:sp>
      <p:sp>
        <p:nvSpPr>
          <p:cNvPr id="6" name="Shape 3"/>
          <p:cNvSpPr/>
          <p:nvPr/>
        </p:nvSpPr>
        <p:spPr>
          <a:xfrm>
            <a:off x="4781398" y="3146450"/>
            <a:ext cx="1018642" cy="448970"/>
          </a:xfrm>
          <a:prstGeom prst="rect">
            <a:avLst/>
          </a:prstGeom>
          <a:ln w="19050">
            <a:solidFill>
              <a:srgbClr val="FFB400"/>
            </a:solidFill>
            <a:prstDash val="solid"/>
          </a:ln>
        </p:spPr>
      </p:sp>
      <p:sp>
        <p:nvSpPr>
          <p:cNvPr id="7" name="Shape 4"/>
          <p:cNvSpPr/>
          <p:nvPr/>
        </p:nvSpPr>
        <p:spPr>
          <a:xfrm>
            <a:off x="4635094" y="3000146"/>
            <a:ext cx="256032" cy="256032"/>
          </a:xfrm>
          <a:prstGeom prst="ellipse">
            <a:avLst/>
          </a:prstGeom>
          <a:solidFill>
            <a:srgbClr val="FFB400"/>
          </a:solidFill>
          <a:ln w="9525">
            <a:solidFill>
              <a:srgbClr val="111111"/>
            </a:solidFill>
            <a:prstDash val="solid"/>
          </a:ln>
        </p:spPr>
      </p:sp>
      <p:sp>
        <p:nvSpPr>
          <p:cNvPr id="8" name="Text 5"/>
          <p:cNvSpPr txBox="1"/>
          <p:nvPr/>
        </p:nvSpPr>
        <p:spPr>
          <a:xfrm>
            <a:off x="4635094" y="3000146"/>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9" name="Shape 6"/>
          <p:cNvSpPr/>
          <p:nvPr/>
        </p:nvSpPr>
        <p:spPr>
          <a:xfrm>
            <a:off x="4772254" y="3621024"/>
            <a:ext cx="1036930" cy="467258"/>
          </a:xfrm>
          <a:prstGeom prst="rect">
            <a:avLst/>
          </a:prstGeom>
          <a:ln w="31750">
            <a:solidFill>
              <a:srgbClr val="000000">
                <a:alpha val="55000"/>
              </a:srgbClr>
            </a:solidFill>
            <a:prstDash val="solid"/>
          </a:ln>
        </p:spPr>
      </p:sp>
      <p:sp>
        <p:nvSpPr>
          <p:cNvPr id="10" name="Shape 7"/>
          <p:cNvSpPr/>
          <p:nvPr/>
        </p:nvSpPr>
        <p:spPr>
          <a:xfrm>
            <a:off x="4781398" y="3630168"/>
            <a:ext cx="1018642" cy="448970"/>
          </a:xfrm>
          <a:prstGeom prst="rect">
            <a:avLst/>
          </a:prstGeom>
          <a:ln w="19050">
            <a:solidFill>
              <a:srgbClr val="FFB400"/>
            </a:solidFill>
            <a:prstDash val="solid"/>
          </a:ln>
        </p:spPr>
      </p:sp>
      <p:sp>
        <p:nvSpPr>
          <p:cNvPr id="11" name="Shape 8"/>
          <p:cNvSpPr/>
          <p:nvPr/>
        </p:nvSpPr>
        <p:spPr>
          <a:xfrm>
            <a:off x="4635094" y="3483864"/>
            <a:ext cx="256032" cy="256032"/>
          </a:xfrm>
          <a:prstGeom prst="ellipse">
            <a:avLst/>
          </a:prstGeom>
          <a:solidFill>
            <a:srgbClr val="FFB400"/>
          </a:solidFill>
          <a:ln w="9525">
            <a:solidFill>
              <a:srgbClr val="111111"/>
            </a:solidFill>
            <a:prstDash val="solid"/>
          </a:ln>
        </p:spPr>
      </p:sp>
      <p:sp>
        <p:nvSpPr>
          <p:cNvPr id="12" name="Text 9"/>
          <p:cNvSpPr txBox="1"/>
          <p:nvPr/>
        </p:nvSpPr>
        <p:spPr>
          <a:xfrm>
            <a:off x="4635094" y="3483864"/>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3" name="Shape 10"/>
          <p:cNvSpPr/>
          <p:nvPr/>
        </p:nvSpPr>
        <p:spPr>
          <a:xfrm>
            <a:off x="2786177" y="4079138"/>
            <a:ext cx="2013509" cy="381305"/>
          </a:xfrm>
          <a:prstGeom prst="rect">
            <a:avLst/>
          </a:prstGeom>
          <a:ln w="31750">
            <a:solidFill>
              <a:srgbClr val="000000">
                <a:alpha val="55000"/>
              </a:srgbClr>
            </a:solidFill>
            <a:prstDash val="solid"/>
          </a:ln>
        </p:spPr>
      </p:sp>
      <p:sp>
        <p:nvSpPr>
          <p:cNvPr id="14" name="Shape 11"/>
          <p:cNvSpPr/>
          <p:nvPr/>
        </p:nvSpPr>
        <p:spPr>
          <a:xfrm>
            <a:off x="2795321" y="4088282"/>
            <a:ext cx="1995221" cy="363017"/>
          </a:xfrm>
          <a:prstGeom prst="rect">
            <a:avLst/>
          </a:prstGeom>
          <a:ln w="19050">
            <a:solidFill>
              <a:srgbClr val="FFB400"/>
            </a:solidFill>
            <a:prstDash val="solid"/>
          </a:ln>
        </p:spPr>
      </p:sp>
      <p:sp>
        <p:nvSpPr>
          <p:cNvPr id="15" name="Shape 12"/>
          <p:cNvSpPr/>
          <p:nvPr/>
        </p:nvSpPr>
        <p:spPr>
          <a:xfrm>
            <a:off x="2649017" y="3941978"/>
            <a:ext cx="256032" cy="256032"/>
          </a:xfrm>
          <a:prstGeom prst="ellipse">
            <a:avLst/>
          </a:prstGeom>
          <a:solidFill>
            <a:srgbClr val="FFB400"/>
          </a:solidFill>
          <a:ln w="9525">
            <a:solidFill>
              <a:srgbClr val="111111"/>
            </a:solidFill>
            <a:prstDash val="solid"/>
          </a:ln>
        </p:spPr>
      </p:sp>
      <p:sp>
        <p:nvSpPr>
          <p:cNvPr id="16" name="Text 13"/>
          <p:cNvSpPr txBox="1"/>
          <p:nvPr/>
        </p:nvSpPr>
        <p:spPr>
          <a:xfrm>
            <a:off x="2649017" y="3941978"/>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17" name="Shape 14"/>
          <p:cNvSpPr/>
          <p:nvPr/>
        </p:nvSpPr>
        <p:spPr>
          <a:xfrm>
            <a:off x="8458200" y="1179576"/>
            <a:ext cx="310896" cy="310896"/>
          </a:xfrm>
          <a:prstGeom prst="ellipse">
            <a:avLst/>
          </a:prstGeom>
          <a:solidFill>
            <a:srgbClr val="FFB400"/>
          </a:solidFill>
          <a:ln w="9525">
            <a:solidFill>
              <a:srgbClr val="111111"/>
            </a:solidFill>
            <a:prstDash val="solid"/>
          </a:ln>
        </p:spPr>
      </p:sp>
      <p:sp>
        <p:nvSpPr>
          <p:cNvPr id="18" name="Text 15"/>
          <p:cNvSpPr txBox="1"/>
          <p:nvPr/>
        </p:nvSpPr>
        <p:spPr>
          <a:xfrm>
            <a:off x="8458200" y="11795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19" name="Text 16"/>
          <p:cNvSpPr txBox="1"/>
          <p:nvPr/>
        </p:nvSpPr>
        <p:spPr>
          <a:xfrm>
            <a:off x="8897112" y="11430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Type the warm-up shots.</a:t>
            </a:r>
            <a:endParaRPr lang="en-US" sz="1700" dirty="0"/>
          </a:p>
        </p:txBody>
      </p:sp>
      <p:sp>
        <p:nvSpPr>
          <p:cNvPr id="20" name="Shape 17"/>
          <p:cNvSpPr/>
          <p:nvPr/>
        </p:nvSpPr>
        <p:spPr>
          <a:xfrm>
            <a:off x="8458200" y="2093976"/>
            <a:ext cx="310896" cy="310896"/>
          </a:xfrm>
          <a:prstGeom prst="ellipse">
            <a:avLst/>
          </a:prstGeom>
          <a:solidFill>
            <a:srgbClr val="FFB400"/>
          </a:solidFill>
          <a:ln w="9525">
            <a:solidFill>
              <a:srgbClr val="111111"/>
            </a:solidFill>
            <a:prstDash val="solid"/>
          </a:ln>
        </p:spPr>
      </p:sp>
      <p:sp>
        <p:nvSpPr>
          <p:cNvPr id="21" name="Text 18"/>
          <p:cNvSpPr txBox="1"/>
          <p:nvPr/>
        </p:nvSpPr>
        <p:spPr>
          <a:xfrm>
            <a:off x="8458200" y="20939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22" name="Text 19"/>
          <p:cNvSpPr txBox="1"/>
          <p:nvPr/>
        </p:nvSpPr>
        <p:spPr>
          <a:xfrm>
            <a:off x="8897112" y="20574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Type the quality test shots.</a:t>
            </a:r>
            <a:endParaRPr lang="en-US" sz="1700" dirty="0"/>
          </a:p>
        </p:txBody>
      </p:sp>
      <p:sp>
        <p:nvSpPr>
          <p:cNvPr id="23" name="Shape 20"/>
          <p:cNvSpPr/>
          <p:nvPr/>
        </p:nvSpPr>
        <p:spPr>
          <a:xfrm>
            <a:off x="8458200" y="3008376"/>
            <a:ext cx="310896" cy="310896"/>
          </a:xfrm>
          <a:prstGeom prst="ellipse">
            <a:avLst/>
          </a:prstGeom>
          <a:solidFill>
            <a:srgbClr val="FFB400"/>
          </a:solidFill>
          <a:ln w="9525">
            <a:solidFill>
              <a:srgbClr val="111111"/>
            </a:solidFill>
            <a:prstDash val="solid"/>
          </a:ln>
        </p:spPr>
      </p:sp>
      <p:sp>
        <p:nvSpPr>
          <p:cNvPr id="24" name="Text 21"/>
          <p:cNvSpPr txBox="1"/>
          <p:nvPr/>
        </p:nvSpPr>
        <p:spPr>
          <a:xfrm>
            <a:off x="8458200" y="30083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25" name="Text 22"/>
          <p:cNvSpPr txBox="1"/>
          <p:nvPr/>
        </p:nvSpPr>
        <p:spPr>
          <a:xfrm>
            <a:off x="8897112" y="29718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Other shots lost on the whole die? Tap </a:t>
            </a:r>
            <a:pPr indent="0" marL="0">
              <a:buNone/>
            </a:pPr>
            <a:r>
              <a:rPr lang="en-US" sz="1700" b="1" dirty="0">
                <a:solidFill>
                  <a:srgbClr val="12263F"/>
                </a:solidFill>
                <a:latin typeface="Calibri" pitchFamily="34" charset="0"/>
                <a:ea typeface="Calibri" pitchFamily="34" charset="-122"/>
                <a:cs typeface="Calibri" pitchFamily="34" charset="-120"/>
              </a:rPr>
              <a:t>Add die-wide scrap</a:t>
            </a:r>
            <a:pPr indent="0" marL="0">
              <a:buNone/>
            </a:pPr>
            <a:r>
              <a:rPr lang="en-US" sz="1700" dirty="0">
                <a:solidFill>
                  <a:srgbClr val="1B1B1B"/>
                </a:solidFill>
                <a:latin typeface="Calibri" pitchFamily="34" charset="0"/>
                <a:ea typeface="Calibri" pitchFamily="34" charset="-122"/>
                <a:cs typeface="Calibri" pitchFamily="34" charset="-120"/>
              </a:rPr>
              <a:t>.</a:t>
            </a:r>
            <a:endParaRPr lang="en-US" sz="1700" dirty="0"/>
          </a:p>
        </p:txBody>
      </p:sp>
      <p:sp>
        <p:nvSpPr>
          <p:cNvPr id="26" name="Text 23"/>
          <p:cNvSpPr txBox="1"/>
          <p:nvPr/>
        </p:nvSpPr>
        <p:spPr>
          <a:xfrm>
            <a:off x="8458200" y="3977640"/>
            <a:ext cx="3337560" cy="822960"/>
          </a:xfrm>
          <a:prstGeom prst="rect">
            <a:avLst/>
          </a:prstGeom>
          <a:solidFill>
            <a:srgbClr val="EEF2F7"/>
          </a:solidFill>
          <a:ln/>
        </p:spPr>
        <p:txBody>
          <a:bodyPr wrap="square" lIns="101600" tIns="101600" rIns="101600" bIns="101600" rtlCol="0" anchor="t"/>
          <a:lstStyle/>
          <a:p>
            <a:pPr indent="0" marL="0">
              <a:buNone/>
            </a:pPr>
            <a:r>
              <a:rPr lang="en-US" sz="1300" dirty="0">
                <a:solidFill>
                  <a:srgbClr val="5A6472"/>
                </a:solidFill>
                <a:latin typeface="Calibri" pitchFamily="34" charset="0"/>
                <a:ea typeface="Calibri" pitchFamily="34" charset="-122"/>
                <a:cs typeface="Calibri" pitchFamily="34" charset="-120"/>
              </a:rPr>
              <a:t>Type shots, not pieces. The screen does the math.</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END OF SHIFT</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Check Good on each cavity</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2400" cy="5302606"/>
          </a:xfrm>
          <a:prstGeom prst="rect">
            <a:avLst/>
          </a:prstGeom>
        </p:spPr>
      </p:pic>
      <p:sp>
        <p:nvSpPr>
          <p:cNvPr id="5" name="Shape 2"/>
          <p:cNvSpPr/>
          <p:nvPr/>
        </p:nvSpPr>
        <p:spPr>
          <a:xfrm>
            <a:off x="3044952" y="3560674"/>
            <a:ext cx="1209751" cy="467258"/>
          </a:xfrm>
          <a:prstGeom prst="rect">
            <a:avLst/>
          </a:prstGeom>
          <a:ln w="31750">
            <a:solidFill>
              <a:srgbClr val="000000">
                <a:alpha val="55000"/>
              </a:srgbClr>
            </a:solidFill>
            <a:prstDash val="solid"/>
          </a:ln>
        </p:spPr>
      </p:sp>
      <p:sp>
        <p:nvSpPr>
          <p:cNvPr id="6" name="Shape 3"/>
          <p:cNvSpPr/>
          <p:nvPr/>
        </p:nvSpPr>
        <p:spPr>
          <a:xfrm>
            <a:off x="3054096" y="3569818"/>
            <a:ext cx="1191463" cy="448970"/>
          </a:xfrm>
          <a:prstGeom prst="rect">
            <a:avLst/>
          </a:prstGeom>
          <a:ln w="19050">
            <a:solidFill>
              <a:srgbClr val="FFB400"/>
            </a:solidFill>
            <a:prstDash val="solid"/>
          </a:ln>
        </p:spPr>
      </p:sp>
      <p:sp>
        <p:nvSpPr>
          <p:cNvPr id="7" name="Shape 4"/>
          <p:cNvSpPr/>
          <p:nvPr/>
        </p:nvSpPr>
        <p:spPr>
          <a:xfrm>
            <a:off x="2907792" y="3423514"/>
            <a:ext cx="256032" cy="256032"/>
          </a:xfrm>
          <a:prstGeom prst="ellipse">
            <a:avLst/>
          </a:prstGeom>
          <a:solidFill>
            <a:srgbClr val="FFB400"/>
          </a:solidFill>
          <a:ln w="9525">
            <a:solidFill>
              <a:srgbClr val="111111"/>
            </a:solidFill>
            <a:prstDash val="solid"/>
          </a:ln>
        </p:spPr>
      </p:sp>
      <p:sp>
        <p:nvSpPr>
          <p:cNvPr id="8" name="Text 5"/>
          <p:cNvSpPr txBox="1"/>
          <p:nvPr/>
        </p:nvSpPr>
        <p:spPr>
          <a:xfrm>
            <a:off x="2907792" y="3423514"/>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9" name="Shape 6"/>
          <p:cNvSpPr/>
          <p:nvPr/>
        </p:nvSpPr>
        <p:spPr>
          <a:xfrm>
            <a:off x="4253789" y="3560674"/>
            <a:ext cx="1296619" cy="467258"/>
          </a:xfrm>
          <a:prstGeom prst="rect">
            <a:avLst/>
          </a:prstGeom>
          <a:ln w="31750">
            <a:solidFill>
              <a:srgbClr val="000000">
                <a:alpha val="55000"/>
              </a:srgbClr>
            </a:solidFill>
            <a:prstDash val="solid"/>
          </a:ln>
        </p:spPr>
      </p:sp>
      <p:sp>
        <p:nvSpPr>
          <p:cNvPr id="10" name="Shape 7"/>
          <p:cNvSpPr/>
          <p:nvPr/>
        </p:nvSpPr>
        <p:spPr>
          <a:xfrm>
            <a:off x="4262933" y="3569818"/>
            <a:ext cx="1278331" cy="448970"/>
          </a:xfrm>
          <a:prstGeom prst="rect">
            <a:avLst/>
          </a:prstGeom>
          <a:ln w="19050">
            <a:solidFill>
              <a:srgbClr val="FFB400"/>
            </a:solidFill>
            <a:prstDash val="solid"/>
          </a:ln>
        </p:spPr>
      </p:sp>
      <p:sp>
        <p:nvSpPr>
          <p:cNvPr id="11" name="Shape 8"/>
          <p:cNvSpPr/>
          <p:nvPr/>
        </p:nvSpPr>
        <p:spPr>
          <a:xfrm>
            <a:off x="4116629" y="3423514"/>
            <a:ext cx="256032" cy="256032"/>
          </a:xfrm>
          <a:prstGeom prst="ellipse">
            <a:avLst/>
          </a:prstGeom>
          <a:solidFill>
            <a:srgbClr val="FFB400"/>
          </a:solidFill>
          <a:ln w="9525">
            <a:solidFill>
              <a:srgbClr val="111111"/>
            </a:solidFill>
            <a:prstDash val="solid"/>
          </a:ln>
        </p:spPr>
      </p:sp>
      <p:sp>
        <p:nvSpPr>
          <p:cNvPr id="12" name="Text 9"/>
          <p:cNvSpPr txBox="1"/>
          <p:nvPr/>
        </p:nvSpPr>
        <p:spPr>
          <a:xfrm>
            <a:off x="4116629" y="3423514"/>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3" name="Shape 10"/>
          <p:cNvSpPr/>
          <p:nvPr/>
        </p:nvSpPr>
        <p:spPr>
          <a:xfrm>
            <a:off x="8458200" y="1179576"/>
            <a:ext cx="310896" cy="310896"/>
          </a:xfrm>
          <a:prstGeom prst="ellipse">
            <a:avLst/>
          </a:prstGeom>
          <a:solidFill>
            <a:srgbClr val="FFB400"/>
          </a:solidFill>
          <a:ln w="9525">
            <a:solidFill>
              <a:srgbClr val="111111"/>
            </a:solidFill>
            <a:prstDash val="solid"/>
          </a:ln>
        </p:spPr>
      </p:sp>
      <p:sp>
        <p:nvSpPr>
          <p:cNvPr id="14" name="Text 11"/>
          <p:cNvSpPr txBox="1"/>
          <p:nvPr/>
        </p:nvSpPr>
        <p:spPr>
          <a:xfrm>
            <a:off x="8458200" y="11795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15" name="Text 12"/>
          <p:cNvSpPr txBox="1"/>
          <p:nvPr/>
        </p:nvSpPr>
        <p:spPr>
          <a:xfrm>
            <a:off x="8897112" y="11430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Check the </a:t>
            </a:r>
            <a:pPr indent="0" marL="0">
              <a:buNone/>
            </a:pPr>
            <a:r>
              <a:rPr lang="en-US" sz="1700" b="1" dirty="0">
                <a:solidFill>
                  <a:srgbClr val="12263F"/>
                </a:solidFill>
                <a:latin typeface="Calibri" pitchFamily="34" charset="0"/>
                <a:ea typeface="Calibri" pitchFamily="34" charset="-122"/>
                <a:cs typeface="Calibri" pitchFamily="34" charset="-120"/>
              </a:rPr>
              <a:t>Good</a:t>
            </a:r>
            <a:pPr indent="0" marL="0">
              <a:buNone/>
            </a:pPr>
            <a:r>
              <a:rPr lang="en-US" sz="1700" dirty="0">
                <a:solidFill>
                  <a:srgbClr val="1B1B1B"/>
                </a:solidFill>
                <a:latin typeface="Calibri" pitchFamily="34" charset="0"/>
                <a:ea typeface="Calibri" pitchFamily="34" charset="-122"/>
                <a:cs typeface="Calibri" pitchFamily="34" charset="-120"/>
              </a:rPr>
              <a:t> number. Change it if your count is different.</a:t>
            </a:r>
            <a:endParaRPr lang="en-US" sz="1700" dirty="0"/>
          </a:p>
        </p:txBody>
      </p:sp>
      <p:sp>
        <p:nvSpPr>
          <p:cNvPr id="16" name="Shape 13"/>
          <p:cNvSpPr/>
          <p:nvPr/>
        </p:nvSpPr>
        <p:spPr>
          <a:xfrm>
            <a:off x="8458200" y="2093976"/>
            <a:ext cx="310896" cy="310896"/>
          </a:xfrm>
          <a:prstGeom prst="ellipse">
            <a:avLst/>
          </a:prstGeom>
          <a:solidFill>
            <a:srgbClr val="FFB400"/>
          </a:solidFill>
          <a:ln w="9525">
            <a:solidFill>
              <a:srgbClr val="111111"/>
            </a:solidFill>
            <a:prstDash val="solid"/>
          </a:ln>
        </p:spPr>
      </p:sp>
      <p:sp>
        <p:nvSpPr>
          <p:cNvPr id="17" name="Text 14"/>
          <p:cNvSpPr txBox="1"/>
          <p:nvPr/>
        </p:nvSpPr>
        <p:spPr>
          <a:xfrm>
            <a:off x="8458200" y="20939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8897112" y="20574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Scrap on this cavity? Tap the number under </a:t>
            </a:r>
            <a:pPr indent="0" marL="0">
              <a:buNone/>
            </a:pPr>
            <a:r>
              <a:rPr lang="en-US" sz="1700" b="1" dirty="0">
                <a:solidFill>
                  <a:srgbClr val="12263F"/>
                </a:solidFill>
                <a:latin typeface="Calibri" pitchFamily="34" charset="0"/>
                <a:ea typeface="Calibri" pitchFamily="34" charset="-122"/>
                <a:cs typeface="Calibri" pitchFamily="34" charset="-120"/>
              </a:rPr>
              <a:t>Cavity scrap</a:t>
            </a:r>
            <a:pPr indent="0" marL="0">
              <a:buNone/>
            </a:pPr>
            <a:r>
              <a:rPr lang="en-US" sz="1700" dirty="0">
                <a:solidFill>
                  <a:srgbClr val="1B1B1B"/>
                </a:solidFill>
                <a:latin typeface="Calibri" pitchFamily="34" charset="0"/>
                <a:ea typeface="Calibri" pitchFamily="34" charset="-122"/>
                <a:cs typeface="Calibri" pitchFamily="34" charset="-120"/>
              </a:rPr>
              <a:t>.</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END OF SHIFT</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Add scrap on a cavity</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2400" cy="4858207"/>
          </a:xfrm>
          <a:prstGeom prst="rect">
            <a:avLst/>
          </a:prstGeom>
        </p:spPr>
      </p:pic>
      <p:sp>
        <p:nvSpPr>
          <p:cNvPr id="5" name="Shape 2"/>
          <p:cNvSpPr/>
          <p:nvPr/>
        </p:nvSpPr>
        <p:spPr>
          <a:xfrm>
            <a:off x="713232" y="4160520"/>
            <a:ext cx="6503213" cy="222199"/>
          </a:xfrm>
          <a:prstGeom prst="rect">
            <a:avLst/>
          </a:prstGeom>
          <a:ln w="31750">
            <a:solidFill>
              <a:srgbClr val="000000">
                <a:alpha val="55000"/>
              </a:srgbClr>
            </a:solidFill>
            <a:prstDash val="solid"/>
          </a:ln>
        </p:spPr>
      </p:sp>
      <p:sp>
        <p:nvSpPr>
          <p:cNvPr id="6" name="Shape 3"/>
          <p:cNvSpPr/>
          <p:nvPr/>
        </p:nvSpPr>
        <p:spPr>
          <a:xfrm>
            <a:off x="722376" y="4169664"/>
            <a:ext cx="6484925" cy="203911"/>
          </a:xfrm>
          <a:prstGeom prst="rect">
            <a:avLst/>
          </a:prstGeom>
          <a:ln w="19050">
            <a:solidFill>
              <a:srgbClr val="FFB400"/>
            </a:solidFill>
            <a:prstDash val="solid"/>
          </a:ln>
        </p:spPr>
      </p:sp>
      <p:sp>
        <p:nvSpPr>
          <p:cNvPr id="7" name="Shape 4"/>
          <p:cNvSpPr/>
          <p:nvPr/>
        </p:nvSpPr>
        <p:spPr>
          <a:xfrm>
            <a:off x="576072" y="4023360"/>
            <a:ext cx="256032" cy="256032"/>
          </a:xfrm>
          <a:prstGeom prst="ellipse">
            <a:avLst/>
          </a:prstGeom>
          <a:solidFill>
            <a:srgbClr val="FFB400"/>
          </a:solidFill>
          <a:ln w="9525">
            <a:solidFill>
              <a:srgbClr val="111111"/>
            </a:solidFill>
            <a:prstDash val="solid"/>
          </a:ln>
        </p:spPr>
      </p:sp>
      <p:sp>
        <p:nvSpPr>
          <p:cNvPr id="8" name="Text 5"/>
          <p:cNvSpPr txBox="1"/>
          <p:nvPr/>
        </p:nvSpPr>
        <p:spPr>
          <a:xfrm>
            <a:off x="576072" y="4023360"/>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9" name="Shape 6"/>
          <p:cNvSpPr/>
          <p:nvPr/>
        </p:nvSpPr>
        <p:spPr>
          <a:xfrm>
            <a:off x="7198157" y="4160520"/>
            <a:ext cx="494690" cy="222199"/>
          </a:xfrm>
          <a:prstGeom prst="rect">
            <a:avLst/>
          </a:prstGeom>
          <a:ln w="31750">
            <a:solidFill>
              <a:srgbClr val="000000">
                <a:alpha val="55000"/>
              </a:srgbClr>
            </a:solidFill>
            <a:prstDash val="solid"/>
          </a:ln>
        </p:spPr>
      </p:sp>
      <p:sp>
        <p:nvSpPr>
          <p:cNvPr id="10" name="Shape 7"/>
          <p:cNvSpPr/>
          <p:nvPr/>
        </p:nvSpPr>
        <p:spPr>
          <a:xfrm>
            <a:off x="7207301" y="4169664"/>
            <a:ext cx="476402" cy="203911"/>
          </a:xfrm>
          <a:prstGeom prst="rect">
            <a:avLst/>
          </a:prstGeom>
          <a:ln w="19050">
            <a:solidFill>
              <a:srgbClr val="FFB400"/>
            </a:solidFill>
            <a:prstDash val="solid"/>
          </a:ln>
        </p:spPr>
      </p:sp>
      <p:sp>
        <p:nvSpPr>
          <p:cNvPr id="11" name="Shape 8"/>
          <p:cNvSpPr/>
          <p:nvPr/>
        </p:nvSpPr>
        <p:spPr>
          <a:xfrm>
            <a:off x="7060997" y="4023360"/>
            <a:ext cx="256032" cy="256032"/>
          </a:xfrm>
          <a:prstGeom prst="ellipse">
            <a:avLst/>
          </a:prstGeom>
          <a:solidFill>
            <a:srgbClr val="FFB400"/>
          </a:solidFill>
          <a:ln w="9525">
            <a:solidFill>
              <a:srgbClr val="111111"/>
            </a:solidFill>
            <a:prstDash val="solid"/>
          </a:ln>
        </p:spPr>
      </p:sp>
      <p:sp>
        <p:nvSpPr>
          <p:cNvPr id="12" name="Text 9"/>
          <p:cNvSpPr txBox="1"/>
          <p:nvPr/>
        </p:nvSpPr>
        <p:spPr>
          <a:xfrm>
            <a:off x="7060997" y="4023360"/>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3" name="Shape 10"/>
          <p:cNvSpPr/>
          <p:nvPr/>
        </p:nvSpPr>
        <p:spPr>
          <a:xfrm>
            <a:off x="713232" y="4379062"/>
            <a:ext cx="1072591" cy="251460"/>
          </a:xfrm>
          <a:prstGeom prst="rect">
            <a:avLst/>
          </a:prstGeom>
          <a:ln w="31750">
            <a:solidFill>
              <a:srgbClr val="000000">
                <a:alpha val="55000"/>
              </a:srgbClr>
            </a:solidFill>
            <a:prstDash val="solid"/>
          </a:ln>
        </p:spPr>
      </p:sp>
      <p:sp>
        <p:nvSpPr>
          <p:cNvPr id="14" name="Shape 11"/>
          <p:cNvSpPr/>
          <p:nvPr/>
        </p:nvSpPr>
        <p:spPr>
          <a:xfrm>
            <a:off x="722376" y="4388206"/>
            <a:ext cx="1054303" cy="233172"/>
          </a:xfrm>
          <a:prstGeom prst="rect">
            <a:avLst/>
          </a:prstGeom>
          <a:ln w="19050">
            <a:solidFill>
              <a:srgbClr val="FFB400"/>
            </a:solidFill>
            <a:prstDash val="solid"/>
          </a:ln>
        </p:spPr>
      </p:sp>
      <p:sp>
        <p:nvSpPr>
          <p:cNvPr id="15" name="Shape 12"/>
          <p:cNvSpPr/>
          <p:nvPr/>
        </p:nvSpPr>
        <p:spPr>
          <a:xfrm>
            <a:off x="576072" y="4241902"/>
            <a:ext cx="256032" cy="256032"/>
          </a:xfrm>
          <a:prstGeom prst="ellipse">
            <a:avLst/>
          </a:prstGeom>
          <a:solidFill>
            <a:srgbClr val="FFB400"/>
          </a:solidFill>
          <a:ln w="9525">
            <a:solidFill>
              <a:srgbClr val="111111"/>
            </a:solidFill>
            <a:prstDash val="solid"/>
          </a:ln>
        </p:spPr>
      </p:sp>
      <p:sp>
        <p:nvSpPr>
          <p:cNvPr id="16" name="Text 13"/>
          <p:cNvSpPr txBox="1"/>
          <p:nvPr/>
        </p:nvSpPr>
        <p:spPr>
          <a:xfrm>
            <a:off x="576072" y="4241902"/>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17" name="Shape 14"/>
          <p:cNvSpPr/>
          <p:nvPr/>
        </p:nvSpPr>
        <p:spPr>
          <a:xfrm>
            <a:off x="8458200" y="1179576"/>
            <a:ext cx="310896" cy="310896"/>
          </a:xfrm>
          <a:prstGeom prst="ellipse">
            <a:avLst/>
          </a:prstGeom>
          <a:solidFill>
            <a:srgbClr val="FFB400"/>
          </a:solidFill>
          <a:ln w="9525">
            <a:solidFill>
              <a:srgbClr val="111111"/>
            </a:solidFill>
            <a:prstDash val="solid"/>
          </a:ln>
        </p:spPr>
      </p:sp>
      <p:sp>
        <p:nvSpPr>
          <p:cNvPr id="18" name="Text 15"/>
          <p:cNvSpPr txBox="1"/>
          <p:nvPr/>
        </p:nvSpPr>
        <p:spPr>
          <a:xfrm>
            <a:off x="8458200" y="11795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19" name="Text 16"/>
          <p:cNvSpPr txBox="1"/>
          <p:nvPr/>
        </p:nvSpPr>
        <p:spPr>
          <a:xfrm>
            <a:off x="8897112" y="11430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Pick the scrap reason.</a:t>
            </a:r>
            <a:endParaRPr lang="en-US" sz="1700" dirty="0"/>
          </a:p>
        </p:txBody>
      </p:sp>
      <p:sp>
        <p:nvSpPr>
          <p:cNvPr id="20" name="Shape 17"/>
          <p:cNvSpPr/>
          <p:nvPr/>
        </p:nvSpPr>
        <p:spPr>
          <a:xfrm>
            <a:off x="8458200" y="2093976"/>
            <a:ext cx="310896" cy="310896"/>
          </a:xfrm>
          <a:prstGeom prst="ellipse">
            <a:avLst/>
          </a:prstGeom>
          <a:solidFill>
            <a:srgbClr val="FFB400"/>
          </a:solidFill>
          <a:ln w="9525">
            <a:solidFill>
              <a:srgbClr val="111111"/>
            </a:solidFill>
            <a:prstDash val="solid"/>
          </a:ln>
        </p:spPr>
      </p:sp>
      <p:sp>
        <p:nvSpPr>
          <p:cNvPr id="21" name="Text 18"/>
          <p:cNvSpPr txBox="1"/>
          <p:nvPr/>
        </p:nvSpPr>
        <p:spPr>
          <a:xfrm>
            <a:off x="8458200" y="20939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22" name="Text 19"/>
          <p:cNvSpPr txBox="1"/>
          <p:nvPr/>
        </p:nvSpPr>
        <p:spPr>
          <a:xfrm>
            <a:off x="8897112" y="20574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Type how many.</a:t>
            </a:r>
            <a:endParaRPr lang="en-US" sz="1700" dirty="0"/>
          </a:p>
        </p:txBody>
      </p:sp>
      <p:sp>
        <p:nvSpPr>
          <p:cNvPr id="23" name="Shape 20"/>
          <p:cNvSpPr/>
          <p:nvPr/>
        </p:nvSpPr>
        <p:spPr>
          <a:xfrm>
            <a:off x="8458200" y="3008376"/>
            <a:ext cx="310896" cy="310896"/>
          </a:xfrm>
          <a:prstGeom prst="ellipse">
            <a:avLst/>
          </a:prstGeom>
          <a:solidFill>
            <a:srgbClr val="FFB400"/>
          </a:solidFill>
          <a:ln w="9525">
            <a:solidFill>
              <a:srgbClr val="111111"/>
            </a:solidFill>
            <a:prstDash val="solid"/>
          </a:ln>
        </p:spPr>
      </p:sp>
      <p:sp>
        <p:nvSpPr>
          <p:cNvPr id="24" name="Text 21"/>
          <p:cNvSpPr txBox="1"/>
          <p:nvPr/>
        </p:nvSpPr>
        <p:spPr>
          <a:xfrm>
            <a:off x="8458200" y="30083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25" name="Text 22"/>
          <p:cNvSpPr txBox="1"/>
          <p:nvPr/>
        </p:nvSpPr>
        <p:spPr>
          <a:xfrm>
            <a:off x="8897112" y="29718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More than one reason? Tap </a:t>
            </a:r>
            <a:pPr indent="0" marL="0">
              <a:buNone/>
            </a:pPr>
            <a:r>
              <a:rPr lang="en-US" sz="1700" b="1" dirty="0">
                <a:solidFill>
                  <a:srgbClr val="12263F"/>
                </a:solidFill>
                <a:latin typeface="Calibri" pitchFamily="34" charset="0"/>
                <a:ea typeface="Calibri" pitchFamily="34" charset="-122"/>
                <a:cs typeface="Calibri" pitchFamily="34" charset="-120"/>
              </a:rPr>
              <a:t>Add scrap reason</a:t>
            </a:r>
            <a:pPr indent="0" marL="0">
              <a:buNone/>
            </a:pPr>
            <a:r>
              <a:rPr lang="en-US" sz="1700" dirty="0">
                <a:solidFill>
                  <a:srgbClr val="1B1B1B"/>
                </a:solidFill>
                <a:latin typeface="Calibri" pitchFamily="34" charset="0"/>
                <a:ea typeface="Calibri" pitchFamily="34" charset="-122"/>
                <a:cs typeface="Calibri" pitchFamily="34" charset="-120"/>
              </a:rPr>
              <a:t>.</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END OF SHIFT</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An amber number needs a reason</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2400" cy="5302606"/>
          </a:xfrm>
          <a:prstGeom prst="rect">
            <a:avLst/>
          </a:prstGeom>
        </p:spPr>
      </p:pic>
      <p:sp>
        <p:nvSpPr>
          <p:cNvPr id="5" name="Shape 2"/>
          <p:cNvSpPr/>
          <p:nvPr/>
        </p:nvSpPr>
        <p:spPr>
          <a:xfrm>
            <a:off x="4729277" y="2653589"/>
            <a:ext cx="968350" cy="467258"/>
          </a:xfrm>
          <a:prstGeom prst="rect">
            <a:avLst/>
          </a:prstGeom>
          <a:ln w="31750">
            <a:solidFill>
              <a:srgbClr val="000000">
                <a:alpha val="55000"/>
              </a:srgbClr>
            </a:solidFill>
            <a:prstDash val="solid"/>
          </a:ln>
        </p:spPr>
      </p:sp>
      <p:sp>
        <p:nvSpPr>
          <p:cNvPr id="6" name="Shape 3"/>
          <p:cNvSpPr/>
          <p:nvPr/>
        </p:nvSpPr>
        <p:spPr>
          <a:xfrm>
            <a:off x="4738421" y="2662733"/>
            <a:ext cx="950062" cy="448970"/>
          </a:xfrm>
          <a:prstGeom prst="rect">
            <a:avLst/>
          </a:prstGeom>
          <a:ln w="19050">
            <a:solidFill>
              <a:srgbClr val="FFB400"/>
            </a:solidFill>
            <a:prstDash val="solid"/>
          </a:ln>
        </p:spPr>
      </p:sp>
      <p:sp>
        <p:nvSpPr>
          <p:cNvPr id="7" name="Shape 4"/>
          <p:cNvSpPr/>
          <p:nvPr/>
        </p:nvSpPr>
        <p:spPr>
          <a:xfrm>
            <a:off x="4592117" y="2516429"/>
            <a:ext cx="256032" cy="256032"/>
          </a:xfrm>
          <a:prstGeom prst="ellipse">
            <a:avLst/>
          </a:prstGeom>
          <a:solidFill>
            <a:srgbClr val="FFB400"/>
          </a:solidFill>
          <a:ln w="9525">
            <a:solidFill>
              <a:srgbClr val="111111"/>
            </a:solidFill>
            <a:prstDash val="solid"/>
          </a:ln>
        </p:spPr>
      </p:sp>
      <p:sp>
        <p:nvSpPr>
          <p:cNvPr id="8" name="Text 5"/>
          <p:cNvSpPr txBox="1"/>
          <p:nvPr/>
        </p:nvSpPr>
        <p:spPr>
          <a:xfrm>
            <a:off x="4592117" y="2516429"/>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9" name="Shape 6"/>
          <p:cNvSpPr/>
          <p:nvPr/>
        </p:nvSpPr>
        <p:spPr>
          <a:xfrm>
            <a:off x="3952037" y="5633618"/>
            <a:ext cx="1572768" cy="268834"/>
          </a:xfrm>
          <a:prstGeom prst="rect">
            <a:avLst/>
          </a:prstGeom>
          <a:ln w="31750">
            <a:solidFill>
              <a:srgbClr val="000000">
                <a:alpha val="55000"/>
              </a:srgbClr>
            </a:solidFill>
            <a:prstDash val="solid"/>
          </a:ln>
        </p:spPr>
      </p:sp>
      <p:sp>
        <p:nvSpPr>
          <p:cNvPr id="10" name="Shape 7"/>
          <p:cNvSpPr/>
          <p:nvPr/>
        </p:nvSpPr>
        <p:spPr>
          <a:xfrm>
            <a:off x="3961181" y="5642762"/>
            <a:ext cx="1554480" cy="250546"/>
          </a:xfrm>
          <a:prstGeom prst="rect">
            <a:avLst/>
          </a:prstGeom>
          <a:ln w="19050">
            <a:solidFill>
              <a:srgbClr val="FFB400"/>
            </a:solidFill>
            <a:prstDash val="solid"/>
          </a:ln>
        </p:spPr>
      </p:sp>
      <p:sp>
        <p:nvSpPr>
          <p:cNvPr id="11" name="Shape 8"/>
          <p:cNvSpPr/>
          <p:nvPr/>
        </p:nvSpPr>
        <p:spPr>
          <a:xfrm>
            <a:off x="3814877" y="5496458"/>
            <a:ext cx="256032" cy="256032"/>
          </a:xfrm>
          <a:prstGeom prst="ellipse">
            <a:avLst/>
          </a:prstGeom>
          <a:solidFill>
            <a:srgbClr val="FFB400"/>
          </a:solidFill>
          <a:ln w="9525">
            <a:solidFill>
              <a:srgbClr val="111111"/>
            </a:solidFill>
            <a:prstDash val="solid"/>
          </a:ln>
        </p:spPr>
      </p:sp>
      <p:sp>
        <p:nvSpPr>
          <p:cNvPr id="12" name="Text 9"/>
          <p:cNvSpPr txBox="1"/>
          <p:nvPr/>
        </p:nvSpPr>
        <p:spPr>
          <a:xfrm>
            <a:off x="3814877" y="5496458"/>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3" name="Shape 10"/>
          <p:cNvSpPr/>
          <p:nvPr/>
        </p:nvSpPr>
        <p:spPr>
          <a:xfrm>
            <a:off x="5557723" y="5486400"/>
            <a:ext cx="2280514" cy="570586"/>
          </a:xfrm>
          <a:prstGeom prst="rect">
            <a:avLst/>
          </a:prstGeom>
          <a:ln w="31750">
            <a:solidFill>
              <a:srgbClr val="000000">
                <a:alpha val="55000"/>
              </a:srgbClr>
            </a:solidFill>
            <a:prstDash val="solid"/>
          </a:ln>
        </p:spPr>
      </p:sp>
      <p:sp>
        <p:nvSpPr>
          <p:cNvPr id="14" name="Shape 11"/>
          <p:cNvSpPr/>
          <p:nvPr/>
        </p:nvSpPr>
        <p:spPr>
          <a:xfrm>
            <a:off x="5566867" y="5495544"/>
            <a:ext cx="2262226" cy="552298"/>
          </a:xfrm>
          <a:prstGeom prst="rect">
            <a:avLst/>
          </a:prstGeom>
          <a:ln w="19050">
            <a:solidFill>
              <a:srgbClr val="FFB400"/>
            </a:solidFill>
            <a:prstDash val="solid"/>
          </a:ln>
        </p:spPr>
      </p:sp>
      <p:sp>
        <p:nvSpPr>
          <p:cNvPr id="15" name="Shape 12"/>
          <p:cNvSpPr/>
          <p:nvPr/>
        </p:nvSpPr>
        <p:spPr>
          <a:xfrm>
            <a:off x="5420563" y="5349240"/>
            <a:ext cx="256032" cy="256032"/>
          </a:xfrm>
          <a:prstGeom prst="ellipse">
            <a:avLst/>
          </a:prstGeom>
          <a:solidFill>
            <a:srgbClr val="FFB400"/>
          </a:solidFill>
          <a:ln w="9525">
            <a:solidFill>
              <a:srgbClr val="111111"/>
            </a:solidFill>
            <a:prstDash val="solid"/>
          </a:ln>
        </p:spPr>
      </p:sp>
      <p:sp>
        <p:nvSpPr>
          <p:cNvPr id="16" name="Text 13"/>
          <p:cNvSpPr txBox="1"/>
          <p:nvPr/>
        </p:nvSpPr>
        <p:spPr>
          <a:xfrm>
            <a:off x="5420563" y="5349240"/>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17" name="Shape 14"/>
          <p:cNvSpPr/>
          <p:nvPr/>
        </p:nvSpPr>
        <p:spPr>
          <a:xfrm>
            <a:off x="8458200" y="1179576"/>
            <a:ext cx="310896" cy="310896"/>
          </a:xfrm>
          <a:prstGeom prst="ellipse">
            <a:avLst/>
          </a:prstGeom>
          <a:solidFill>
            <a:srgbClr val="FFB400"/>
          </a:solidFill>
          <a:ln w="9525">
            <a:solidFill>
              <a:srgbClr val="111111"/>
            </a:solidFill>
            <a:prstDash val="solid"/>
          </a:ln>
        </p:spPr>
      </p:sp>
      <p:sp>
        <p:nvSpPr>
          <p:cNvPr id="18" name="Text 15"/>
          <p:cNvSpPr txBox="1"/>
          <p:nvPr/>
        </p:nvSpPr>
        <p:spPr>
          <a:xfrm>
            <a:off x="8458200" y="11795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19" name="Text 16"/>
          <p:cNvSpPr txBox="1"/>
          <p:nvPr/>
        </p:nvSpPr>
        <p:spPr>
          <a:xfrm>
            <a:off x="8897112" y="11430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This cavity does not add up. The number turns amber.</a:t>
            </a:r>
            <a:endParaRPr lang="en-US" sz="1700" dirty="0"/>
          </a:p>
        </p:txBody>
      </p:sp>
      <p:sp>
        <p:nvSpPr>
          <p:cNvPr id="20" name="Shape 17"/>
          <p:cNvSpPr/>
          <p:nvPr/>
        </p:nvSpPr>
        <p:spPr>
          <a:xfrm>
            <a:off x="8458200" y="2093976"/>
            <a:ext cx="310896" cy="310896"/>
          </a:xfrm>
          <a:prstGeom prst="ellipse">
            <a:avLst/>
          </a:prstGeom>
          <a:solidFill>
            <a:srgbClr val="FFB400"/>
          </a:solidFill>
          <a:ln w="9525">
            <a:solidFill>
              <a:srgbClr val="111111"/>
            </a:solidFill>
            <a:prstDash val="solid"/>
          </a:ln>
        </p:spPr>
      </p:sp>
      <p:sp>
        <p:nvSpPr>
          <p:cNvPr id="21" name="Text 18"/>
          <p:cNvSpPr txBox="1"/>
          <p:nvPr/>
        </p:nvSpPr>
        <p:spPr>
          <a:xfrm>
            <a:off x="8458200" y="20939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22" name="Text 19"/>
          <p:cNvSpPr txBox="1"/>
          <p:nvPr/>
        </p:nvSpPr>
        <p:spPr>
          <a:xfrm>
            <a:off x="8897112" y="20574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The screen names the cavity that needs a reason.</a:t>
            </a:r>
            <a:endParaRPr lang="en-US" sz="1700" dirty="0"/>
          </a:p>
        </p:txBody>
      </p:sp>
      <p:sp>
        <p:nvSpPr>
          <p:cNvPr id="23" name="Shape 20"/>
          <p:cNvSpPr/>
          <p:nvPr/>
        </p:nvSpPr>
        <p:spPr>
          <a:xfrm>
            <a:off x="8458200" y="3008376"/>
            <a:ext cx="310896" cy="310896"/>
          </a:xfrm>
          <a:prstGeom prst="ellipse">
            <a:avLst/>
          </a:prstGeom>
          <a:solidFill>
            <a:srgbClr val="FFB400"/>
          </a:solidFill>
          <a:ln w="9525">
            <a:solidFill>
              <a:srgbClr val="111111"/>
            </a:solidFill>
            <a:prstDash val="solid"/>
          </a:ln>
        </p:spPr>
      </p:sp>
      <p:sp>
        <p:nvSpPr>
          <p:cNvPr id="24" name="Text 21"/>
          <p:cNvSpPr txBox="1"/>
          <p:nvPr/>
        </p:nvSpPr>
        <p:spPr>
          <a:xfrm>
            <a:off x="8458200" y="30083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25" name="Text 22"/>
          <p:cNvSpPr txBox="1"/>
          <p:nvPr/>
        </p:nvSpPr>
        <p:spPr>
          <a:xfrm>
            <a:off x="8897112" y="2971800"/>
            <a:ext cx="2898648" cy="822960"/>
          </a:xfrm>
          <a:prstGeom prst="rect">
            <a:avLst/>
          </a:prstGeom>
          <a:noFill/>
          <a:ln/>
        </p:spPr>
        <p:txBody>
          <a:bodyPr wrap="square" lIns="0" tIns="0" rIns="0" bIns="0" rtlCol="0" anchor="t"/>
          <a:lstStyle/>
          <a:p>
            <a:pPr indent="0" marL="0">
              <a:buNone/>
            </a:pPr>
            <a:r>
              <a:rPr lang="en-US" sz="1700" b="1" dirty="0">
                <a:solidFill>
                  <a:srgbClr val="12263F"/>
                </a:solidFill>
                <a:latin typeface="Calibri" pitchFamily="34" charset="0"/>
                <a:ea typeface="Calibri" pitchFamily="34" charset="-122"/>
                <a:cs typeface="Calibri" pitchFamily="34" charset="-120"/>
              </a:rPr>
              <a:t>Submit shift entry</a:t>
            </a:r>
            <a:pPr indent="0" marL="0">
              <a:buNone/>
            </a:pPr>
            <a:r>
              <a:rPr lang="en-US" sz="1700" dirty="0">
                <a:solidFill>
                  <a:srgbClr val="1B1B1B"/>
                </a:solidFill>
                <a:latin typeface="Calibri" pitchFamily="34" charset="0"/>
                <a:ea typeface="Calibri" pitchFamily="34" charset="-122"/>
                <a:cs typeface="Calibri" pitchFamily="34" charset="-120"/>
              </a:rPr>
              <a:t> stays grey until each amber number has a reason.</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END OF SHIFT</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Give a reason, then send</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2400" cy="5150815"/>
          </a:xfrm>
          <a:prstGeom prst="rect">
            <a:avLst/>
          </a:prstGeom>
        </p:spPr>
      </p:pic>
      <p:sp>
        <p:nvSpPr>
          <p:cNvPr id="5" name="Shape 2"/>
          <p:cNvSpPr/>
          <p:nvPr/>
        </p:nvSpPr>
        <p:spPr>
          <a:xfrm>
            <a:off x="6119165" y="4028846"/>
            <a:ext cx="585216" cy="286207"/>
          </a:xfrm>
          <a:prstGeom prst="rect">
            <a:avLst/>
          </a:prstGeom>
          <a:ln w="31750">
            <a:solidFill>
              <a:srgbClr val="000000">
                <a:alpha val="55000"/>
              </a:srgbClr>
            </a:solidFill>
            <a:prstDash val="solid"/>
          </a:ln>
        </p:spPr>
      </p:sp>
      <p:sp>
        <p:nvSpPr>
          <p:cNvPr id="6" name="Shape 3"/>
          <p:cNvSpPr/>
          <p:nvPr/>
        </p:nvSpPr>
        <p:spPr>
          <a:xfrm>
            <a:off x="6128309" y="4037990"/>
            <a:ext cx="566928" cy="267919"/>
          </a:xfrm>
          <a:prstGeom prst="rect">
            <a:avLst/>
          </a:prstGeom>
          <a:ln w="19050">
            <a:solidFill>
              <a:srgbClr val="FFB400"/>
            </a:solidFill>
            <a:prstDash val="solid"/>
          </a:ln>
        </p:spPr>
      </p:sp>
      <p:sp>
        <p:nvSpPr>
          <p:cNvPr id="7" name="Shape 4"/>
          <p:cNvSpPr/>
          <p:nvPr/>
        </p:nvSpPr>
        <p:spPr>
          <a:xfrm>
            <a:off x="5982005" y="3891686"/>
            <a:ext cx="256032" cy="256032"/>
          </a:xfrm>
          <a:prstGeom prst="ellipse">
            <a:avLst/>
          </a:prstGeom>
          <a:solidFill>
            <a:srgbClr val="FFB400"/>
          </a:solidFill>
          <a:ln w="9525">
            <a:solidFill>
              <a:srgbClr val="111111"/>
            </a:solidFill>
            <a:prstDash val="solid"/>
          </a:ln>
        </p:spPr>
      </p:sp>
      <p:sp>
        <p:nvSpPr>
          <p:cNvPr id="8" name="Text 5"/>
          <p:cNvSpPr txBox="1"/>
          <p:nvPr/>
        </p:nvSpPr>
        <p:spPr>
          <a:xfrm>
            <a:off x="5982005" y="3891686"/>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9" name="Shape 6"/>
          <p:cNvSpPr/>
          <p:nvPr/>
        </p:nvSpPr>
        <p:spPr>
          <a:xfrm>
            <a:off x="1077163" y="4811573"/>
            <a:ext cx="6853428" cy="235001"/>
          </a:xfrm>
          <a:prstGeom prst="rect">
            <a:avLst/>
          </a:prstGeom>
          <a:ln w="31750">
            <a:solidFill>
              <a:srgbClr val="000000">
                <a:alpha val="55000"/>
              </a:srgbClr>
            </a:solidFill>
            <a:prstDash val="solid"/>
          </a:ln>
        </p:spPr>
      </p:sp>
      <p:sp>
        <p:nvSpPr>
          <p:cNvPr id="10" name="Shape 7"/>
          <p:cNvSpPr/>
          <p:nvPr/>
        </p:nvSpPr>
        <p:spPr>
          <a:xfrm>
            <a:off x="1086307" y="4820717"/>
            <a:ext cx="6835140" cy="216713"/>
          </a:xfrm>
          <a:prstGeom prst="rect">
            <a:avLst/>
          </a:prstGeom>
          <a:ln w="19050">
            <a:solidFill>
              <a:srgbClr val="FFB400"/>
            </a:solidFill>
            <a:prstDash val="solid"/>
          </a:ln>
        </p:spPr>
      </p:sp>
      <p:sp>
        <p:nvSpPr>
          <p:cNvPr id="11" name="Shape 8"/>
          <p:cNvSpPr/>
          <p:nvPr/>
        </p:nvSpPr>
        <p:spPr>
          <a:xfrm>
            <a:off x="940003" y="4674413"/>
            <a:ext cx="256032" cy="256032"/>
          </a:xfrm>
          <a:prstGeom prst="ellipse">
            <a:avLst/>
          </a:prstGeom>
          <a:solidFill>
            <a:srgbClr val="FFB400"/>
          </a:solidFill>
          <a:ln w="9525">
            <a:solidFill>
              <a:srgbClr val="111111"/>
            </a:solidFill>
            <a:prstDash val="solid"/>
          </a:ln>
        </p:spPr>
      </p:sp>
      <p:sp>
        <p:nvSpPr>
          <p:cNvPr id="12" name="Text 9"/>
          <p:cNvSpPr txBox="1"/>
          <p:nvPr/>
        </p:nvSpPr>
        <p:spPr>
          <a:xfrm>
            <a:off x="940003" y="4674413"/>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3" name="Shape 10"/>
          <p:cNvSpPr/>
          <p:nvPr/>
        </p:nvSpPr>
        <p:spPr>
          <a:xfrm>
            <a:off x="6613855" y="5717743"/>
            <a:ext cx="1367942" cy="348386"/>
          </a:xfrm>
          <a:prstGeom prst="rect">
            <a:avLst/>
          </a:prstGeom>
          <a:ln w="31750">
            <a:solidFill>
              <a:srgbClr val="000000">
                <a:alpha val="55000"/>
              </a:srgbClr>
            </a:solidFill>
            <a:prstDash val="solid"/>
          </a:ln>
        </p:spPr>
      </p:sp>
      <p:sp>
        <p:nvSpPr>
          <p:cNvPr id="14" name="Shape 11"/>
          <p:cNvSpPr/>
          <p:nvPr/>
        </p:nvSpPr>
        <p:spPr>
          <a:xfrm>
            <a:off x="6622999" y="5726887"/>
            <a:ext cx="1349654" cy="330098"/>
          </a:xfrm>
          <a:prstGeom prst="rect">
            <a:avLst/>
          </a:prstGeom>
          <a:ln w="19050">
            <a:solidFill>
              <a:srgbClr val="FFB400"/>
            </a:solidFill>
            <a:prstDash val="solid"/>
          </a:ln>
        </p:spPr>
      </p:sp>
      <p:sp>
        <p:nvSpPr>
          <p:cNvPr id="15" name="Shape 12"/>
          <p:cNvSpPr/>
          <p:nvPr/>
        </p:nvSpPr>
        <p:spPr>
          <a:xfrm>
            <a:off x="6476695" y="5580583"/>
            <a:ext cx="256032" cy="256032"/>
          </a:xfrm>
          <a:prstGeom prst="ellipse">
            <a:avLst/>
          </a:prstGeom>
          <a:solidFill>
            <a:srgbClr val="FFB400"/>
          </a:solidFill>
          <a:ln w="9525">
            <a:solidFill>
              <a:srgbClr val="111111"/>
            </a:solidFill>
            <a:prstDash val="solid"/>
          </a:ln>
        </p:spPr>
      </p:sp>
      <p:sp>
        <p:nvSpPr>
          <p:cNvPr id="16" name="Text 13"/>
          <p:cNvSpPr txBox="1"/>
          <p:nvPr/>
        </p:nvSpPr>
        <p:spPr>
          <a:xfrm>
            <a:off x="6476695" y="5580583"/>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17" name="Shape 14"/>
          <p:cNvSpPr/>
          <p:nvPr/>
        </p:nvSpPr>
        <p:spPr>
          <a:xfrm>
            <a:off x="8458200" y="1179576"/>
            <a:ext cx="310896" cy="310896"/>
          </a:xfrm>
          <a:prstGeom prst="ellipse">
            <a:avLst/>
          </a:prstGeom>
          <a:solidFill>
            <a:srgbClr val="FFB400"/>
          </a:solidFill>
          <a:ln w="9525">
            <a:solidFill>
              <a:srgbClr val="111111"/>
            </a:solidFill>
            <a:prstDash val="solid"/>
          </a:ln>
        </p:spPr>
      </p:sp>
      <p:sp>
        <p:nvSpPr>
          <p:cNvPr id="18" name="Text 15"/>
          <p:cNvSpPr txBox="1"/>
          <p:nvPr/>
        </p:nvSpPr>
        <p:spPr>
          <a:xfrm>
            <a:off x="8458200" y="11795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19" name="Text 16"/>
          <p:cNvSpPr txBox="1"/>
          <p:nvPr/>
        </p:nvSpPr>
        <p:spPr>
          <a:xfrm>
            <a:off x="8897112" y="11430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Tap the amber number.</a:t>
            </a:r>
            <a:endParaRPr lang="en-US" sz="1700" dirty="0"/>
          </a:p>
        </p:txBody>
      </p:sp>
      <p:sp>
        <p:nvSpPr>
          <p:cNvPr id="20" name="Shape 17"/>
          <p:cNvSpPr/>
          <p:nvPr/>
        </p:nvSpPr>
        <p:spPr>
          <a:xfrm>
            <a:off x="8458200" y="2093976"/>
            <a:ext cx="310896" cy="310896"/>
          </a:xfrm>
          <a:prstGeom prst="ellipse">
            <a:avLst/>
          </a:prstGeom>
          <a:solidFill>
            <a:srgbClr val="FFB400"/>
          </a:solidFill>
          <a:ln w="9525">
            <a:solidFill>
              <a:srgbClr val="111111"/>
            </a:solidFill>
            <a:prstDash val="solid"/>
          </a:ln>
        </p:spPr>
      </p:sp>
      <p:sp>
        <p:nvSpPr>
          <p:cNvPr id="21" name="Text 18"/>
          <p:cNvSpPr txBox="1"/>
          <p:nvPr/>
        </p:nvSpPr>
        <p:spPr>
          <a:xfrm>
            <a:off x="8458200" y="20939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22" name="Text 19"/>
          <p:cNvSpPr txBox="1"/>
          <p:nvPr/>
        </p:nvSpPr>
        <p:spPr>
          <a:xfrm>
            <a:off x="8897112" y="20574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Pick a reason. Not sure? Pick </a:t>
            </a:r>
            <a:pPr indent="0" marL="0">
              <a:buNone/>
            </a:pPr>
            <a:r>
              <a:rPr lang="en-US" sz="1700" b="1" dirty="0">
                <a:solidFill>
                  <a:srgbClr val="12263F"/>
                </a:solidFill>
                <a:latin typeface="Calibri" pitchFamily="34" charset="0"/>
                <a:ea typeface="Calibri" pitchFamily="34" charset="-122"/>
                <a:cs typeface="Calibri" pitchFamily="34" charset="-120"/>
              </a:rPr>
              <a:t>Unknown</a:t>
            </a:r>
            <a:pPr indent="0" marL="0">
              <a:buNone/>
            </a:pPr>
            <a:r>
              <a:rPr lang="en-US" sz="1700" dirty="0">
                <a:solidFill>
                  <a:srgbClr val="1B1B1B"/>
                </a:solidFill>
                <a:latin typeface="Calibri" pitchFamily="34" charset="0"/>
                <a:ea typeface="Calibri" pitchFamily="34" charset="-122"/>
                <a:cs typeface="Calibri" pitchFamily="34" charset="-120"/>
              </a:rPr>
              <a:t> and add a short note.</a:t>
            </a:r>
            <a:endParaRPr lang="en-US" sz="1700" dirty="0"/>
          </a:p>
        </p:txBody>
      </p:sp>
      <p:sp>
        <p:nvSpPr>
          <p:cNvPr id="23" name="Shape 20"/>
          <p:cNvSpPr/>
          <p:nvPr/>
        </p:nvSpPr>
        <p:spPr>
          <a:xfrm>
            <a:off x="8458200" y="3008376"/>
            <a:ext cx="310896" cy="310896"/>
          </a:xfrm>
          <a:prstGeom prst="ellipse">
            <a:avLst/>
          </a:prstGeom>
          <a:solidFill>
            <a:srgbClr val="FFB400"/>
          </a:solidFill>
          <a:ln w="9525">
            <a:solidFill>
              <a:srgbClr val="111111"/>
            </a:solidFill>
            <a:prstDash val="solid"/>
          </a:ln>
        </p:spPr>
      </p:sp>
      <p:sp>
        <p:nvSpPr>
          <p:cNvPr id="24" name="Text 21"/>
          <p:cNvSpPr txBox="1"/>
          <p:nvPr/>
        </p:nvSpPr>
        <p:spPr>
          <a:xfrm>
            <a:off x="8458200" y="30083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25" name="Text 22"/>
          <p:cNvSpPr txBox="1"/>
          <p:nvPr/>
        </p:nvSpPr>
        <p:spPr>
          <a:xfrm>
            <a:off x="8897112" y="29718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Tap </a:t>
            </a:r>
            <a:pPr indent="0" marL="0">
              <a:buNone/>
            </a:pPr>
            <a:r>
              <a:rPr lang="en-US" sz="1700" b="1" dirty="0">
                <a:solidFill>
                  <a:srgbClr val="12263F"/>
                </a:solidFill>
                <a:latin typeface="Calibri" pitchFamily="34" charset="0"/>
                <a:ea typeface="Calibri" pitchFamily="34" charset="-122"/>
                <a:cs typeface="Calibri" pitchFamily="34" charset="-120"/>
              </a:rPr>
              <a:t>Submit shift entry</a:t>
            </a:r>
            <a:pPr indent="0" marL="0">
              <a:buNone/>
            </a:pPr>
            <a:r>
              <a:rPr lang="en-US" sz="1700" dirty="0">
                <a:solidFill>
                  <a:srgbClr val="1B1B1B"/>
                </a:solidFill>
                <a:latin typeface="Calibri" pitchFamily="34" charset="0"/>
                <a:ea typeface="Calibri" pitchFamily="34" charset="-122"/>
                <a:cs typeface="Calibri" pitchFamily="34" charset="-120"/>
              </a:rPr>
              <a:t>.</a:t>
            </a:r>
            <a:endParaRPr lang="en-US" sz="1700" dirty="0"/>
          </a:p>
        </p:txBody>
      </p:sp>
      <p:sp>
        <p:nvSpPr>
          <p:cNvPr id="26" name="Text 23"/>
          <p:cNvSpPr txBox="1"/>
          <p:nvPr/>
        </p:nvSpPr>
        <p:spPr>
          <a:xfrm>
            <a:off x="8458200" y="3977640"/>
            <a:ext cx="3337560" cy="822960"/>
          </a:xfrm>
          <a:prstGeom prst="rect">
            <a:avLst/>
          </a:prstGeom>
          <a:solidFill>
            <a:srgbClr val="EEF2F7"/>
          </a:solidFill>
          <a:ln/>
        </p:spPr>
        <p:txBody>
          <a:bodyPr wrap="square" lIns="101600" tIns="101600" rIns="101600" bIns="101600" rtlCol="0" anchor="t"/>
          <a:lstStyle/>
          <a:p>
            <a:pPr indent="0" marL="0">
              <a:buNone/>
            </a:pPr>
            <a:r>
              <a:rPr lang="en-US" sz="1300" dirty="0">
                <a:solidFill>
                  <a:srgbClr val="5A6472"/>
                </a:solidFill>
                <a:latin typeface="Calibri" pitchFamily="34" charset="0"/>
                <a:ea typeface="Calibri" pitchFamily="34" charset="-122"/>
                <a:cs typeface="Calibri" pitchFamily="34" charset="-120"/>
              </a:rPr>
              <a:t>Unknown is an honest answer. Do not guess a defect.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WHEN IT LOOKS WRONG</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The counter was reset</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2400" cy="5302606"/>
          </a:xfrm>
          <a:prstGeom prst="rect">
            <a:avLst/>
          </a:prstGeom>
        </p:spPr>
      </p:pic>
      <p:sp>
        <p:nvSpPr>
          <p:cNvPr id="5" name="Shape 2"/>
          <p:cNvSpPr/>
          <p:nvPr/>
        </p:nvSpPr>
        <p:spPr>
          <a:xfrm>
            <a:off x="1533449" y="2058314"/>
            <a:ext cx="1555394" cy="381305"/>
          </a:xfrm>
          <a:prstGeom prst="rect">
            <a:avLst/>
          </a:prstGeom>
          <a:ln w="31750">
            <a:solidFill>
              <a:srgbClr val="000000">
                <a:alpha val="55000"/>
              </a:srgbClr>
            </a:solidFill>
            <a:prstDash val="solid"/>
          </a:ln>
        </p:spPr>
      </p:sp>
      <p:sp>
        <p:nvSpPr>
          <p:cNvPr id="6" name="Shape 3"/>
          <p:cNvSpPr/>
          <p:nvPr/>
        </p:nvSpPr>
        <p:spPr>
          <a:xfrm>
            <a:off x="1542593" y="2067458"/>
            <a:ext cx="1537106" cy="363017"/>
          </a:xfrm>
          <a:prstGeom prst="rect">
            <a:avLst/>
          </a:prstGeom>
          <a:ln w="19050">
            <a:solidFill>
              <a:srgbClr val="FFB400"/>
            </a:solidFill>
            <a:prstDash val="solid"/>
          </a:ln>
        </p:spPr>
      </p:sp>
      <p:sp>
        <p:nvSpPr>
          <p:cNvPr id="7" name="Shape 4"/>
          <p:cNvSpPr/>
          <p:nvPr/>
        </p:nvSpPr>
        <p:spPr>
          <a:xfrm>
            <a:off x="1396289" y="1921154"/>
            <a:ext cx="256032" cy="256032"/>
          </a:xfrm>
          <a:prstGeom prst="ellipse">
            <a:avLst/>
          </a:prstGeom>
          <a:solidFill>
            <a:srgbClr val="FFB400"/>
          </a:solidFill>
          <a:ln w="9525">
            <a:solidFill>
              <a:srgbClr val="111111"/>
            </a:solidFill>
            <a:prstDash val="solid"/>
          </a:ln>
        </p:spPr>
      </p:sp>
      <p:sp>
        <p:nvSpPr>
          <p:cNvPr id="8" name="Text 5"/>
          <p:cNvSpPr txBox="1"/>
          <p:nvPr/>
        </p:nvSpPr>
        <p:spPr>
          <a:xfrm>
            <a:off x="1396289" y="1921154"/>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9" name="Shape 6"/>
          <p:cNvSpPr/>
          <p:nvPr/>
        </p:nvSpPr>
        <p:spPr>
          <a:xfrm>
            <a:off x="1533449" y="2507285"/>
            <a:ext cx="5528462" cy="709574"/>
          </a:xfrm>
          <a:prstGeom prst="rect">
            <a:avLst/>
          </a:prstGeom>
          <a:ln w="31750">
            <a:solidFill>
              <a:srgbClr val="000000">
                <a:alpha val="55000"/>
              </a:srgbClr>
            </a:solidFill>
            <a:prstDash val="solid"/>
          </a:ln>
        </p:spPr>
      </p:sp>
      <p:sp>
        <p:nvSpPr>
          <p:cNvPr id="10" name="Shape 7"/>
          <p:cNvSpPr/>
          <p:nvPr/>
        </p:nvSpPr>
        <p:spPr>
          <a:xfrm>
            <a:off x="1542593" y="2516429"/>
            <a:ext cx="5510174" cy="691286"/>
          </a:xfrm>
          <a:prstGeom prst="rect">
            <a:avLst/>
          </a:prstGeom>
          <a:ln w="19050">
            <a:solidFill>
              <a:srgbClr val="FFB400"/>
            </a:solidFill>
            <a:prstDash val="solid"/>
          </a:ln>
        </p:spPr>
      </p:sp>
      <p:sp>
        <p:nvSpPr>
          <p:cNvPr id="11" name="Shape 8"/>
          <p:cNvSpPr/>
          <p:nvPr/>
        </p:nvSpPr>
        <p:spPr>
          <a:xfrm>
            <a:off x="1396289" y="2370125"/>
            <a:ext cx="256032" cy="256032"/>
          </a:xfrm>
          <a:prstGeom prst="ellipse">
            <a:avLst/>
          </a:prstGeom>
          <a:solidFill>
            <a:srgbClr val="FFB400"/>
          </a:solidFill>
          <a:ln w="9525">
            <a:solidFill>
              <a:srgbClr val="111111"/>
            </a:solidFill>
            <a:prstDash val="solid"/>
          </a:ln>
        </p:spPr>
      </p:sp>
      <p:sp>
        <p:nvSpPr>
          <p:cNvPr id="12" name="Text 9"/>
          <p:cNvSpPr txBox="1"/>
          <p:nvPr/>
        </p:nvSpPr>
        <p:spPr>
          <a:xfrm>
            <a:off x="1396289" y="2370125"/>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3" name="Shape 10"/>
          <p:cNvSpPr/>
          <p:nvPr/>
        </p:nvSpPr>
        <p:spPr>
          <a:xfrm>
            <a:off x="1533449" y="3473806"/>
            <a:ext cx="5528462" cy="268834"/>
          </a:xfrm>
          <a:prstGeom prst="rect">
            <a:avLst/>
          </a:prstGeom>
          <a:ln w="31750">
            <a:solidFill>
              <a:srgbClr val="000000">
                <a:alpha val="55000"/>
              </a:srgbClr>
            </a:solidFill>
            <a:prstDash val="solid"/>
          </a:ln>
        </p:spPr>
      </p:sp>
      <p:sp>
        <p:nvSpPr>
          <p:cNvPr id="14" name="Shape 11"/>
          <p:cNvSpPr/>
          <p:nvPr/>
        </p:nvSpPr>
        <p:spPr>
          <a:xfrm>
            <a:off x="1542593" y="3482950"/>
            <a:ext cx="5510174" cy="250546"/>
          </a:xfrm>
          <a:prstGeom prst="rect">
            <a:avLst/>
          </a:prstGeom>
          <a:ln w="19050">
            <a:solidFill>
              <a:srgbClr val="FFB400"/>
            </a:solidFill>
            <a:prstDash val="solid"/>
          </a:ln>
        </p:spPr>
      </p:sp>
      <p:sp>
        <p:nvSpPr>
          <p:cNvPr id="15" name="Shape 12"/>
          <p:cNvSpPr/>
          <p:nvPr/>
        </p:nvSpPr>
        <p:spPr>
          <a:xfrm>
            <a:off x="1396289" y="3336646"/>
            <a:ext cx="256032" cy="256032"/>
          </a:xfrm>
          <a:prstGeom prst="ellipse">
            <a:avLst/>
          </a:prstGeom>
          <a:solidFill>
            <a:srgbClr val="FFB400"/>
          </a:solidFill>
          <a:ln w="9525">
            <a:solidFill>
              <a:srgbClr val="111111"/>
            </a:solidFill>
            <a:prstDash val="solid"/>
          </a:ln>
        </p:spPr>
      </p:sp>
      <p:sp>
        <p:nvSpPr>
          <p:cNvPr id="16" name="Text 13"/>
          <p:cNvSpPr txBox="1"/>
          <p:nvPr/>
        </p:nvSpPr>
        <p:spPr>
          <a:xfrm>
            <a:off x="1396289" y="3336646"/>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17" name="Shape 14"/>
          <p:cNvSpPr/>
          <p:nvPr/>
        </p:nvSpPr>
        <p:spPr>
          <a:xfrm>
            <a:off x="4910328" y="4959706"/>
            <a:ext cx="2151583" cy="570586"/>
          </a:xfrm>
          <a:prstGeom prst="rect">
            <a:avLst/>
          </a:prstGeom>
          <a:ln w="31750">
            <a:solidFill>
              <a:srgbClr val="000000">
                <a:alpha val="55000"/>
              </a:srgbClr>
            </a:solidFill>
            <a:prstDash val="solid"/>
          </a:ln>
        </p:spPr>
      </p:sp>
      <p:sp>
        <p:nvSpPr>
          <p:cNvPr id="18" name="Shape 15"/>
          <p:cNvSpPr/>
          <p:nvPr/>
        </p:nvSpPr>
        <p:spPr>
          <a:xfrm>
            <a:off x="4919472" y="4968850"/>
            <a:ext cx="2133295" cy="552298"/>
          </a:xfrm>
          <a:prstGeom prst="rect">
            <a:avLst/>
          </a:prstGeom>
          <a:ln w="19050">
            <a:solidFill>
              <a:srgbClr val="FFB400"/>
            </a:solidFill>
            <a:prstDash val="solid"/>
          </a:ln>
        </p:spPr>
      </p:sp>
      <p:sp>
        <p:nvSpPr>
          <p:cNvPr id="19" name="Shape 16"/>
          <p:cNvSpPr/>
          <p:nvPr/>
        </p:nvSpPr>
        <p:spPr>
          <a:xfrm>
            <a:off x="4773168" y="4822546"/>
            <a:ext cx="256032" cy="256032"/>
          </a:xfrm>
          <a:prstGeom prst="ellipse">
            <a:avLst/>
          </a:prstGeom>
          <a:solidFill>
            <a:srgbClr val="FFB400"/>
          </a:solidFill>
          <a:ln w="9525">
            <a:solidFill>
              <a:srgbClr val="111111"/>
            </a:solidFill>
            <a:prstDash val="solid"/>
          </a:ln>
        </p:spPr>
      </p:sp>
      <p:sp>
        <p:nvSpPr>
          <p:cNvPr id="20" name="Text 17"/>
          <p:cNvSpPr txBox="1"/>
          <p:nvPr/>
        </p:nvSpPr>
        <p:spPr>
          <a:xfrm>
            <a:off x="4773168" y="4822546"/>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4</a:t>
            </a:r>
            <a:endParaRPr lang="en-US" sz="1200" dirty="0"/>
          </a:p>
        </p:txBody>
      </p:sp>
      <p:sp>
        <p:nvSpPr>
          <p:cNvPr id="21" name="Shape 18"/>
          <p:cNvSpPr/>
          <p:nvPr/>
        </p:nvSpPr>
        <p:spPr>
          <a:xfrm>
            <a:off x="8458200" y="1179576"/>
            <a:ext cx="310896" cy="310896"/>
          </a:xfrm>
          <a:prstGeom prst="ellipse">
            <a:avLst/>
          </a:prstGeom>
          <a:solidFill>
            <a:srgbClr val="FFB400"/>
          </a:solidFill>
          <a:ln w="9525">
            <a:solidFill>
              <a:srgbClr val="111111"/>
            </a:solidFill>
            <a:prstDash val="solid"/>
          </a:ln>
        </p:spPr>
      </p:sp>
      <p:sp>
        <p:nvSpPr>
          <p:cNvPr id="22" name="Text 19"/>
          <p:cNvSpPr txBox="1"/>
          <p:nvPr/>
        </p:nvSpPr>
        <p:spPr>
          <a:xfrm>
            <a:off x="8458200" y="11795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23" name="Text 20"/>
          <p:cNvSpPr txBox="1"/>
          <p:nvPr/>
        </p:nvSpPr>
        <p:spPr>
          <a:xfrm>
            <a:off x="8897112" y="11430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Tap </a:t>
            </a:r>
            <a:pPr indent="0" marL="0">
              <a:buNone/>
            </a:pPr>
            <a:r>
              <a:rPr lang="en-US" sz="1700" b="1" dirty="0">
                <a:solidFill>
                  <a:srgbClr val="12263F"/>
                </a:solidFill>
                <a:latin typeface="Calibri" pitchFamily="34" charset="0"/>
                <a:ea typeface="Calibri" pitchFamily="34" charset="-122"/>
                <a:cs typeface="Calibri" pitchFamily="34" charset="-120"/>
              </a:rPr>
              <a:t>Fix counter</a:t>
            </a:r>
            <a:pPr indent="0" marL="0">
              <a:buNone/>
            </a:pPr>
            <a:r>
              <a:rPr lang="en-US" sz="1700" dirty="0">
                <a:solidFill>
                  <a:srgbClr val="1B1B1B"/>
                </a:solidFill>
                <a:latin typeface="Calibri" pitchFamily="34" charset="0"/>
                <a:ea typeface="Calibri" pitchFamily="34" charset="-122"/>
                <a:cs typeface="Calibri" pitchFamily="34" charset="-120"/>
              </a:rPr>
              <a:t>. Type what the counter shows now.</a:t>
            </a:r>
            <a:endParaRPr lang="en-US" sz="1700" dirty="0"/>
          </a:p>
        </p:txBody>
      </p:sp>
      <p:sp>
        <p:nvSpPr>
          <p:cNvPr id="24" name="Shape 21"/>
          <p:cNvSpPr/>
          <p:nvPr/>
        </p:nvSpPr>
        <p:spPr>
          <a:xfrm>
            <a:off x="8458200" y="2093976"/>
            <a:ext cx="310896" cy="310896"/>
          </a:xfrm>
          <a:prstGeom prst="ellipse">
            <a:avLst/>
          </a:prstGeom>
          <a:solidFill>
            <a:srgbClr val="FFB400"/>
          </a:solidFill>
          <a:ln w="9525">
            <a:solidFill>
              <a:srgbClr val="111111"/>
            </a:solidFill>
            <a:prstDash val="solid"/>
          </a:ln>
        </p:spPr>
      </p:sp>
      <p:sp>
        <p:nvSpPr>
          <p:cNvPr id="25" name="Text 22"/>
          <p:cNvSpPr txBox="1"/>
          <p:nvPr/>
        </p:nvSpPr>
        <p:spPr>
          <a:xfrm>
            <a:off x="8458200" y="20939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26" name="Text 23"/>
          <p:cNvSpPr txBox="1"/>
          <p:nvPr/>
        </p:nvSpPr>
        <p:spPr>
          <a:xfrm>
            <a:off x="8897112" y="20574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Pick why it moved.</a:t>
            </a:r>
            <a:endParaRPr lang="en-US" sz="1700" dirty="0"/>
          </a:p>
        </p:txBody>
      </p:sp>
      <p:sp>
        <p:nvSpPr>
          <p:cNvPr id="27" name="Shape 24"/>
          <p:cNvSpPr/>
          <p:nvPr/>
        </p:nvSpPr>
        <p:spPr>
          <a:xfrm>
            <a:off x="8458200" y="3008376"/>
            <a:ext cx="310896" cy="310896"/>
          </a:xfrm>
          <a:prstGeom prst="ellipse">
            <a:avLst/>
          </a:prstGeom>
          <a:solidFill>
            <a:srgbClr val="FFB400"/>
          </a:solidFill>
          <a:ln w="9525">
            <a:solidFill>
              <a:srgbClr val="111111"/>
            </a:solidFill>
            <a:prstDash val="solid"/>
          </a:ln>
        </p:spPr>
      </p:sp>
      <p:sp>
        <p:nvSpPr>
          <p:cNvPr id="28" name="Text 25"/>
          <p:cNvSpPr txBox="1"/>
          <p:nvPr/>
        </p:nvSpPr>
        <p:spPr>
          <a:xfrm>
            <a:off x="8458200" y="30083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29" name="Text 26"/>
          <p:cNvSpPr txBox="1"/>
          <p:nvPr/>
        </p:nvSpPr>
        <p:spPr>
          <a:xfrm>
            <a:off x="8897112" y="29718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Add a short note if you can.</a:t>
            </a:r>
            <a:endParaRPr lang="en-US" sz="1700" dirty="0"/>
          </a:p>
        </p:txBody>
      </p:sp>
      <p:sp>
        <p:nvSpPr>
          <p:cNvPr id="30" name="Shape 27"/>
          <p:cNvSpPr/>
          <p:nvPr/>
        </p:nvSpPr>
        <p:spPr>
          <a:xfrm>
            <a:off x="8458200" y="3922776"/>
            <a:ext cx="310896" cy="310896"/>
          </a:xfrm>
          <a:prstGeom prst="ellipse">
            <a:avLst/>
          </a:prstGeom>
          <a:solidFill>
            <a:srgbClr val="FFB400"/>
          </a:solidFill>
          <a:ln w="9525">
            <a:solidFill>
              <a:srgbClr val="111111"/>
            </a:solidFill>
            <a:prstDash val="solid"/>
          </a:ln>
        </p:spPr>
      </p:sp>
      <p:sp>
        <p:nvSpPr>
          <p:cNvPr id="31" name="Text 28"/>
          <p:cNvSpPr txBox="1"/>
          <p:nvPr/>
        </p:nvSpPr>
        <p:spPr>
          <a:xfrm>
            <a:off x="8458200" y="39227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4</a:t>
            </a:r>
            <a:endParaRPr lang="en-US" sz="1200" dirty="0"/>
          </a:p>
        </p:txBody>
      </p:sp>
      <p:sp>
        <p:nvSpPr>
          <p:cNvPr id="32" name="Text 29"/>
          <p:cNvSpPr txBox="1"/>
          <p:nvPr/>
        </p:nvSpPr>
        <p:spPr>
          <a:xfrm>
            <a:off x="8897112" y="38862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Tap </a:t>
            </a:r>
            <a:pPr indent="0" marL="0">
              <a:buNone/>
            </a:pPr>
            <a:r>
              <a:rPr lang="en-US" sz="1700" b="1" dirty="0">
                <a:solidFill>
                  <a:srgbClr val="12263F"/>
                </a:solidFill>
                <a:latin typeface="Calibri" pitchFamily="34" charset="0"/>
                <a:ea typeface="Calibri" pitchFamily="34" charset="-122"/>
                <a:cs typeface="Calibri" pitchFamily="34" charset="-120"/>
              </a:rPr>
              <a:t>Record this reading</a:t>
            </a:r>
            <a:pPr indent="0" marL="0">
              <a:buNone/>
            </a:pPr>
            <a:r>
              <a:rPr lang="en-US" sz="1700" dirty="0">
                <a:solidFill>
                  <a:srgbClr val="1B1B1B"/>
                </a:solidFill>
                <a:latin typeface="Calibri" pitchFamily="34" charset="0"/>
                <a:ea typeface="Calibri" pitchFamily="34" charset="-122"/>
                <a:cs typeface="Calibri" pitchFamily="34" charset="-120"/>
              </a:rPr>
              <a:t>.</a:t>
            </a:r>
            <a:endParaRPr lang="en-US" sz="1700" dirty="0"/>
          </a:p>
        </p:txBody>
      </p:sp>
      <p:sp>
        <p:nvSpPr>
          <p:cNvPr id="33" name="Text 30"/>
          <p:cNvSpPr txBox="1"/>
          <p:nvPr/>
        </p:nvSpPr>
        <p:spPr>
          <a:xfrm>
            <a:off x="8458200" y="4892040"/>
            <a:ext cx="3337560" cy="822960"/>
          </a:xfrm>
          <a:prstGeom prst="rect">
            <a:avLst/>
          </a:prstGeom>
          <a:solidFill>
            <a:srgbClr val="EEF2F7"/>
          </a:solidFill>
          <a:ln/>
        </p:spPr>
        <p:txBody>
          <a:bodyPr wrap="square" lIns="101600" tIns="101600" rIns="101600" bIns="101600" rtlCol="0" anchor="t"/>
          <a:lstStyle/>
          <a:p>
            <a:pPr indent="0" marL="0">
              <a:buNone/>
            </a:pPr>
            <a:r>
              <a:rPr lang="en-US" sz="1300" dirty="0">
                <a:solidFill>
                  <a:srgbClr val="5A6472"/>
                </a:solidFill>
                <a:latin typeface="Calibri" pitchFamily="34" charset="0"/>
                <a:ea typeface="Calibri" pitchFamily="34" charset="-122"/>
                <a:cs typeface="Calibri" pitchFamily="34" charset="-120"/>
              </a:rPr>
              <a:t>Counter was set to zero? Type 0.</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WHEN IT LOOKS WRONG</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When the machine stops</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69657" cy="5303520"/>
          </a:xfrm>
          <a:prstGeom prst="rect">
            <a:avLst/>
          </a:prstGeom>
        </p:spPr>
      </p:pic>
      <p:sp>
        <p:nvSpPr>
          <p:cNvPr id="5" name="Shape 2"/>
          <p:cNvSpPr/>
          <p:nvPr/>
        </p:nvSpPr>
        <p:spPr>
          <a:xfrm>
            <a:off x="6022238" y="1259129"/>
            <a:ext cx="755294" cy="247802"/>
          </a:xfrm>
          <a:prstGeom prst="rect">
            <a:avLst/>
          </a:prstGeom>
          <a:ln w="31750">
            <a:solidFill>
              <a:srgbClr val="000000">
                <a:alpha val="55000"/>
              </a:srgbClr>
            </a:solidFill>
            <a:prstDash val="solid"/>
          </a:ln>
        </p:spPr>
      </p:sp>
      <p:sp>
        <p:nvSpPr>
          <p:cNvPr id="6" name="Shape 3"/>
          <p:cNvSpPr/>
          <p:nvPr/>
        </p:nvSpPr>
        <p:spPr>
          <a:xfrm>
            <a:off x="6031382" y="1268273"/>
            <a:ext cx="737006" cy="229514"/>
          </a:xfrm>
          <a:prstGeom prst="rect">
            <a:avLst/>
          </a:prstGeom>
          <a:ln w="19050">
            <a:solidFill>
              <a:srgbClr val="FFB400"/>
            </a:solidFill>
            <a:prstDash val="solid"/>
          </a:ln>
        </p:spPr>
      </p:sp>
      <p:sp>
        <p:nvSpPr>
          <p:cNvPr id="7" name="Shape 4"/>
          <p:cNvSpPr/>
          <p:nvPr/>
        </p:nvSpPr>
        <p:spPr>
          <a:xfrm>
            <a:off x="5885078" y="1143000"/>
            <a:ext cx="256032" cy="256032"/>
          </a:xfrm>
          <a:prstGeom prst="ellipse">
            <a:avLst/>
          </a:prstGeom>
          <a:solidFill>
            <a:srgbClr val="FFB400"/>
          </a:solidFill>
          <a:ln w="9525">
            <a:solidFill>
              <a:srgbClr val="111111"/>
            </a:solidFill>
            <a:prstDash val="solid"/>
          </a:ln>
        </p:spPr>
      </p:sp>
      <p:sp>
        <p:nvSpPr>
          <p:cNvPr id="8" name="Text 5"/>
          <p:cNvSpPr txBox="1"/>
          <p:nvPr/>
        </p:nvSpPr>
        <p:spPr>
          <a:xfrm>
            <a:off x="5885078" y="1143000"/>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9" name="Shape 6"/>
          <p:cNvSpPr/>
          <p:nvPr/>
        </p:nvSpPr>
        <p:spPr>
          <a:xfrm>
            <a:off x="5531206" y="2263140"/>
            <a:ext cx="656539" cy="225857"/>
          </a:xfrm>
          <a:prstGeom prst="rect">
            <a:avLst/>
          </a:prstGeom>
          <a:ln w="31750">
            <a:solidFill>
              <a:srgbClr val="000000">
                <a:alpha val="55000"/>
              </a:srgbClr>
            </a:solidFill>
            <a:prstDash val="solid"/>
          </a:ln>
        </p:spPr>
      </p:sp>
      <p:sp>
        <p:nvSpPr>
          <p:cNvPr id="10" name="Shape 7"/>
          <p:cNvSpPr/>
          <p:nvPr/>
        </p:nvSpPr>
        <p:spPr>
          <a:xfrm>
            <a:off x="5540350" y="2272284"/>
            <a:ext cx="638251" cy="207569"/>
          </a:xfrm>
          <a:prstGeom prst="rect">
            <a:avLst/>
          </a:prstGeom>
          <a:ln w="19050">
            <a:solidFill>
              <a:srgbClr val="FFB400"/>
            </a:solidFill>
            <a:prstDash val="solid"/>
          </a:ln>
        </p:spPr>
      </p:sp>
      <p:sp>
        <p:nvSpPr>
          <p:cNvPr id="11" name="Shape 8"/>
          <p:cNvSpPr/>
          <p:nvPr/>
        </p:nvSpPr>
        <p:spPr>
          <a:xfrm>
            <a:off x="5394046" y="2125980"/>
            <a:ext cx="256032" cy="256032"/>
          </a:xfrm>
          <a:prstGeom prst="ellipse">
            <a:avLst/>
          </a:prstGeom>
          <a:solidFill>
            <a:srgbClr val="FFB400"/>
          </a:solidFill>
          <a:ln w="9525">
            <a:solidFill>
              <a:srgbClr val="111111"/>
            </a:solidFill>
            <a:prstDash val="solid"/>
          </a:ln>
        </p:spPr>
      </p:sp>
      <p:sp>
        <p:nvSpPr>
          <p:cNvPr id="12" name="Text 9"/>
          <p:cNvSpPr txBox="1"/>
          <p:nvPr/>
        </p:nvSpPr>
        <p:spPr>
          <a:xfrm>
            <a:off x="5394046" y="2125980"/>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3" name="Shape 10"/>
          <p:cNvSpPr/>
          <p:nvPr/>
        </p:nvSpPr>
        <p:spPr>
          <a:xfrm>
            <a:off x="1820570" y="5394960"/>
            <a:ext cx="1000354" cy="247802"/>
          </a:xfrm>
          <a:prstGeom prst="rect">
            <a:avLst/>
          </a:prstGeom>
          <a:ln w="31750">
            <a:solidFill>
              <a:srgbClr val="000000">
                <a:alpha val="55000"/>
              </a:srgbClr>
            </a:solidFill>
            <a:prstDash val="solid"/>
          </a:ln>
        </p:spPr>
      </p:sp>
      <p:sp>
        <p:nvSpPr>
          <p:cNvPr id="14" name="Shape 11"/>
          <p:cNvSpPr/>
          <p:nvPr/>
        </p:nvSpPr>
        <p:spPr>
          <a:xfrm>
            <a:off x="1829714" y="5404104"/>
            <a:ext cx="982066" cy="229514"/>
          </a:xfrm>
          <a:prstGeom prst="rect">
            <a:avLst/>
          </a:prstGeom>
          <a:ln w="19050">
            <a:solidFill>
              <a:srgbClr val="FFB400"/>
            </a:solidFill>
            <a:prstDash val="solid"/>
          </a:ln>
        </p:spPr>
      </p:sp>
      <p:sp>
        <p:nvSpPr>
          <p:cNvPr id="15" name="Shape 12"/>
          <p:cNvSpPr/>
          <p:nvPr/>
        </p:nvSpPr>
        <p:spPr>
          <a:xfrm>
            <a:off x="1683410" y="5257800"/>
            <a:ext cx="256032" cy="256032"/>
          </a:xfrm>
          <a:prstGeom prst="ellipse">
            <a:avLst/>
          </a:prstGeom>
          <a:solidFill>
            <a:srgbClr val="FFB400"/>
          </a:solidFill>
          <a:ln w="9525">
            <a:solidFill>
              <a:srgbClr val="111111"/>
            </a:solidFill>
            <a:prstDash val="solid"/>
          </a:ln>
        </p:spPr>
      </p:sp>
      <p:sp>
        <p:nvSpPr>
          <p:cNvPr id="16" name="Text 13"/>
          <p:cNvSpPr txBox="1"/>
          <p:nvPr/>
        </p:nvSpPr>
        <p:spPr>
          <a:xfrm>
            <a:off x="1683410" y="5257800"/>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17" name="Shape 14"/>
          <p:cNvSpPr/>
          <p:nvPr/>
        </p:nvSpPr>
        <p:spPr>
          <a:xfrm>
            <a:off x="2802636" y="5394960"/>
            <a:ext cx="967435" cy="247802"/>
          </a:xfrm>
          <a:prstGeom prst="rect">
            <a:avLst/>
          </a:prstGeom>
          <a:ln w="31750">
            <a:solidFill>
              <a:srgbClr val="000000">
                <a:alpha val="55000"/>
              </a:srgbClr>
            </a:solidFill>
            <a:prstDash val="solid"/>
          </a:ln>
        </p:spPr>
      </p:sp>
      <p:sp>
        <p:nvSpPr>
          <p:cNvPr id="18" name="Shape 15"/>
          <p:cNvSpPr/>
          <p:nvPr/>
        </p:nvSpPr>
        <p:spPr>
          <a:xfrm>
            <a:off x="2811780" y="5404104"/>
            <a:ext cx="949147" cy="229514"/>
          </a:xfrm>
          <a:prstGeom prst="rect">
            <a:avLst/>
          </a:prstGeom>
          <a:ln w="19050">
            <a:solidFill>
              <a:srgbClr val="FFB400"/>
            </a:solidFill>
            <a:prstDash val="solid"/>
          </a:ln>
        </p:spPr>
      </p:sp>
      <p:sp>
        <p:nvSpPr>
          <p:cNvPr id="19" name="Shape 16"/>
          <p:cNvSpPr/>
          <p:nvPr/>
        </p:nvSpPr>
        <p:spPr>
          <a:xfrm>
            <a:off x="2665476" y="5257800"/>
            <a:ext cx="256032" cy="256032"/>
          </a:xfrm>
          <a:prstGeom prst="ellipse">
            <a:avLst/>
          </a:prstGeom>
          <a:solidFill>
            <a:srgbClr val="FFB400"/>
          </a:solidFill>
          <a:ln w="9525">
            <a:solidFill>
              <a:srgbClr val="111111"/>
            </a:solidFill>
            <a:prstDash val="solid"/>
          </a:ln>
        </p:spPr>
      </p:sp>
      <p:sp>
        <p:nvSpPr>
          <p:cNvPr id="20" name="Text 17"/>
          <p:cNvSpPr txBox="1"/>
          <p:nvPr/>
        </p:nvSpPr>
        <p:spPr>
          <a:xfrm>
            <a:off x="2665476" y="5257800"/>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4</a:t>
            </a:r>
            <a:endParaRPr lang="en-US" sz="1200" dirty="0"/>
          </a:p>
        </p:txBody>
      </p:sp>
      <p:sp>
        <p:nvSpPr>
          <p:cNvPr id="21" name="Shape 18"/>
          <p:cNvSpPr/>
          <p:nvPr/>
        </p:nvSpPr>
        <p:spPr>
          <a:xfrm>
            <a:off x="8458200" y="1179576"/>
            <a:ext cx="310896" cy="310896"/>
          </a:xfrm>
          <a:prstGeom prst="ellipse">
            <a:avLst/>
          </a:prstGeom>
          <a:solidFill>
            <a:srgbClr val="FFB400"/>
          </a:solidFill>
          <a:ln w="9525">
            <a:solidFill>
              <a:srgbClr val="111111"/>
            </a:solidFill>
            <a:prstDash val="solid"/>
          </a:ln>
        </p:spPr>
      </p:sp>
      <p:sp>
        <p:nvSpPr>
          <p:cNvPr id="22" name="Text 19"/>
          <p:cNvSpPr txBox="1"/>
          <p:nvPr/>
        </p:nvSpPr>
        <p:spPr>
          <a:xfrm>
            <a:off x="8458200" y="11795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23" name="Text 20"/>
          <p:cNvSpPr txBox="1"/>
          <p:nvPr/>
        </p:nvSpPr>
        <p:spPr>
          <a:xfrm>
            <a:off x="8897112" y="11430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Tap </a:t>
            </a:r>
            <a:pPr indent="0" marL="0">
              <a:buNone/>
            </a:pPr>
            <a:r>
              <a:rPr lang="en-US" sz="1700" b="1" dirty="0">
                <a:solidFill>
                  <a:srgbClr val="12263F"/>
                </a:solidFill>
                <a:latin typeface="Calibri" pitchFamily="34" charset="0"/>
                <a:ea typeface="Calibri" pitchFamily="34" charset="-122"/>
                <a:cs typeface="Calibri" pitchFamily="34" charset="-120"/>
              </a:rPr>
              <a:t>Downtime</a:t>
            </a:r>
            <a:pPr indent="0" marL="0">
              <a:buNone/>
            </a:pPr>
            <a:r>
              <a:rPr lang="en-US" sz="1700" dirty="0">
                <a:solidFill>
                  <a:srgbClr val="1B1B1B"/>
                </a:solidFill>
                <a:latin typeface="Calibri" pitchFamily="34" charset="0"/>
                <a:ea typeface="Calibri" pitchFamily="34" charset="-122"/>
                <a:cs typeface="Calibri" pitchFamily="34" charset="-120"/>
              </a:rPr>
              <a:t>.</a:t>
            </a:r>
            <a:endParaRPr lang="en-US" sz="1700" dirty="0"/>
          </a:p>
        </p:txBody>
      </p:sp>
      <p:sp>
        <p:nvSpPr>
          <p:cNvPr id="24" name="Shape 21"/>
          <p:cNvSpPr/>
          <p:nvPr/>
        </p:nvSpPr>
        <p:spPr>
          <a:xfrm>
            <a:off x="8458200" y="2093976"/>
            <a:ext cx="310896" cy="310896"/>
          </a:xfrm>
          <a:prstGeom prst="ellipse">
            <a:avLst/>
          </a:prstGeom>
          <a:solidFill>
            <a:srgbClr val="FFB400"/>
          </a:solidFill>
          <a:ln w="9525">
            <a:solidFill>
              <a:srgbClr val="111111"/>
            </a:solidFill>
            <a:prstDash val="solid"/>
          </a:ln>
        </p:spPr>
      </p:sp>
      <p:sp>
        <p:nvSpPr>
          <p:cNvPr id="25" name="Text 22"/>
          <p:cNvSpPr txBox="1"/>
          <p:nvPr/>
        </p:nvSpPr>
        <p:spPr>
          <a:xfrm>
            <a:off x="8458200" y="20939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26" name="Text 23"/>
          <p:cNvSpPr txBox="1"/>
          <p:nvPr/>
        </p:nvSpPr>
        <p:spPr>
          <a:xfrm>
            <a:off x="8897112" y="20574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Check the machine and the shift.</a:t>
            </a:r>
            <a:endParaRPr lang="en-US" sz="1700" dirty="0"/>
          </a:p>
        </p:txBody>
      </p:sp>
      <p:sp>
        <p:nvSpPr>
          <p:cNvPr id="27" name="Shape 24"/>
          <p:cNvSpPr/>
          <p:nvPr/>
        </p:nvSpPr>
        <p:spPr>
          <a:xfrm>
            <a:off x="8458200" y="3008376"/>
            <a:ext cx="310896" cy="310896"/>
          </a:xfrm>
          <a:prstGeom prst="ellipse">
            <a:avLst/>
          </a:prstGeom>
          <a:solidFill>
            <a:srgbClr val="FFB400"/>
          </a:solidFill>
          <a:ln w="9525">
            <a:solidFill>
              <a:srgbClr val="111111"/>
            </a:solidFill>
            <a:prstDash val="solid"/>
          </a:ln>
        </p:spPr>
      </p:sp>
      <p:sp>
        <p:nvSpPr>
          <p:cNvPr id="28" name="Text 25"/>
          <p:cNvSpPr txBox="1"/>
          <p:nvPr/>
        </p:nvSpPr>
        <p:spPr>
          <a:xfrm>
            <a:off x="8458200" y="30083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29" name="Text 26"/>
          <p:cNvSpPr txBox="1"/>
          <p:nvPr/>
        </p:nvSpPr>
        <p:spPr>
          <a:xfrm>
            <a:off x="8897112" y="29718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Machine down now? Tap </a:t>
            </a:r>
            <a:pPr indent="0" marL="0">
              <a:buNone/>
            </a:pPr>
            <a:r>
              <a:rPr lang="en-US" sz="1700" b="1" dirty="0">
                <a:solidFill>
                  <a:srgbClr val="12263F"/>
                </a:solidFill>
                <a:latin typeface="Calibri" pitchFamily="34" charset="0"/>
                <a:ea typeface="Calibri" pitchFamily="34" charset="-122"/>
                <a:cs typeface="Calibri" pitchFamily="34" charset="-120"/>
              </a:rPr>
              <a:t>Start Downtime</a:t>
            </a:r>
            <a:pPr indent="0" marL="0">
              <a:buNone/>
            </a:pPr>
            <a:r>
              <a:rPr lang="en-US" sz="1700" dirty="0">
                <a:solidFill>
                  <a:srgbClr val="1B1B1B"/>
                </a:solidFill>
                <a:latin typeface="Calibri" pitchFamily="34" charset="0"/>
                <a:ea typeface="Calibri" pitchFamily="34" charset="-122"/>
                <a:cs typeface="Calibri" pitchFamily="34" charset="-120"/>
              </a:rPr>
              <a:t>.</a:t>
            </a:r>
            <a:endParaRPr lang="en-US" sz="1700" dirty="0"/>
          </a:p>
        </p:txBody>
      </p:sp>
      <p:sp>
        <p:nvSpPr>
          <p:cNvPr id="30" name="Shape 27"/>
          <p:cNvSpPr/>
          <p:nvPr/>
        </p:nvSpPr>
        <p:spPr>
          <a:xfrm>
            <a:off x="8458200" y="3922776"/>
            <a:ext cx="310896" cy="310896"/>
          </a:xfrm>
          <a:prstGeom prst="ellipse">
            <a:avLst/>
          </a:prstGeom>
          <a:solidFill>
            <a:srgbClr val="FFB400"/>
          </a:solidFill>
          <a:ln w="9525">
            <a:solidFill>
              <a:srgbClr val="111111"/>
            </a:solidFill>
            <a:prstDash val="solid"/>
          </a:ln>
        </p:spPr>
      </p:sp>
      <p:sp>
        <p:nvSpPr>
          <p:cNvPr id="31" name="Text 28"/>
          <p:cNvSpPr txBox="1"/>
          <p:nvPr/>
        </p:nvSpPr>
        <p:spPr>
          <a:xfrm>
            <a:off x="8458200" y="39227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4</a:t>
            </a:r>
            <a:endParaRPr lang="en-US" sz="1200" dirty="0"/>
          </a:p>
        </p:txBody>
      </p:sp>
      <p:sp>
        <p:nvSpPr>
          <p:cNvPr id="32" name="Text 29"/>
          <p:cNvSpPr txBox="1"/>
          <p:nvPr/>
        </p:nvSpPr>
        <p:spPr>
          <a:xfrm>
            <a:off x="8897112" y="38862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Forgot to log a stop? Tap </a:t>
            </a:r>
            <a:pPr indent="0" marL="0">
              <a:buNone/>
            </a:pPr>
            <a:r>
              <a:rPr lang="en-US" sz="1700" b="1" dirty="0">
                <a:solidFill>
                  <a:srgbClr val="12263F"/>
                </a:solidFill>
                <a:latin typeface="Calibri" pitchFamily="34" charset="0"/>
                <a:ea typeface="Calibri" pitchFamily="34" charset="-122"/>
                <a:cs typeface="Calibri" pitchFamily="34" charset="-120"/>
              </a:rPr>
              <a:t>Add Past Event</a:t>
            </a:r>
            <a:pPr indent="0" marL="0">
              <a:buNone/>
            </a:pPr>
            <a:r>
              <a:rPr lang="en-US" sz="1700" dirty="0">
                <a:solidFill>
                  <a:srgbClr val="1B1B1B"/>
                </a:solidFill>
                <a:latin typeface="Calibri" pitchFamily="34" charset="0"/>
                <a:ea typeface="Calibri" pitchFamily="34" charset="-122"/>
                <a:cs typeface="Calibri" pitchFamily="34" charset="-120"/>
              </a:rPr>
              <a:t>.</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END OF SHIFT</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Hand over to the next operator</a:t>
            </a:r>
            <a:endParaRPr lang="en-US" sz="3200" dirty="0"/>
          </a:p>
        </p:txBody>
      </p:sp>
      <p:pic>
        <p:nvPicPr>
          <p:cNvPr id="4" name="Image 0" descr="Screenshot of the die cast terminal">    </p:cNvPr>
          <p:cNvPicPr>
            <a:picLocks noChangeAspect="1"/>
          </p:cNvPicPr>
          <p:nvPr/>
        </p:nvPicPr>
        <p:blipFill>
          <a:blip r:embed="rId1"/>
          <a:stretch>
            <a:fillRect/>
          </a:stretch>
        </p:blipFill>
        <p:spPr>
          <a:xfrm>
            <a:off x="411480" y="1143000"/>
            <a:ext cx="7771486" cy="5303520"/>
          </a:xfrm>
          <a:prstGeom prst="rect">
            <a:avLst/>
          </a:prstGeom>
        </p:spPr>
      </p:pic>
      <p:sp>
        <p:nvSpPr>
          <p:cNvPr id="5" name="Shape 2"/>
          <p:cNvSpPr/>
          <p:nvPr/>
        </p:nvSpPr>
        <p:spPr>
          <a:xfrm>
            <a:off x="6016752" y="1619402"/>
            <a:ext cx="887882" cy="181966"/>
          </a:xfrm>
          <a:prstGeom prst="rect">
            <a:avLst/>
          </a:prstGeom>
          <a:ln w="31750">
            <a:solidFill>
              <a:srgbClr val="000000">
                <a:alpha val="55000"/>
              </a:srgbClr>
            </a:solidFill>
            <a:prstDash val="solid"/>
          </a:ln>
        </p:spPr>
      </p:sp>
      <p:sp>
        <p:nvSpPr>
          <p:cNvPr id="6" name="Shape 3"/>
          <p:cNvSpPr/>
          <p:nvPr/>
        </p:nvSpPr>
        <p:spPr>
          <a:xfrm>
            <a:off x="6025896" y="1628546"/>
            <a:ext cx="869594" cy="163678"/>
          </a:xfrm>
          <a:prstGeom prst="rect">
            <a:avLst/>
          </a:prstGeom>
          <a:ln w="19050">
            <a:solidFill>
              <a:srgbClr val="FFB400"/>
            </a:solidFill>
            <a:prstDash val="solid"/>
          </a:ln>
        </p:spPr>
      </p:sp>
      <p:sp>
        <p:nvSpPr>
          <p:cNvPr id="7" name="Shape 4"/>
          <p:cNvSpPr/>
          <p:nvPr/>
        </p:nvSpPr>
        <p:spPr>
          <a:xfrm>
            <a:off x="5879592" y="1482242"/>
            <a:ext cx="256032" cy="256032"/>
          </a:xfrm>
          <a:prstGeom prst="ellipse">
            <a:avLst/>
          </a:prstGeom>
          <a:solidFill>
            <a:srgbClr val="FFB400"/>
          </a:solidFill>
          <a:ln w="9525">
            <a:solidFill>
              <a:srgbClr val="111111"/>
            </a:solidFill>
            <a:prstDash val="solid"/>
          </a:ln>
        </p:spPr>
      </p:sp>
      <p:sp>
        <p:nvSpPr>
          <p:cNvPr id="8" name="Text 5"/>
          <p:cNvSpPr txBox="1"/>
          <p:nvPr/>
        </p:nvSpPr>
        <p:spPr>
          <a:xfrm>
            <a:off x="5879592" y="1482242"/>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9" name="Shape 6"/>
          <p:cNvSpPr/>
          <p:nvPr/>
        </p:nvSpPr>
        <p:spPr>
          <a:xfrm>
            <a:off x="2559406" y="3567989"/>
            <a:ext cx="2210105" cy="2402129"/>
          </a:xfrm>
          <a:prstGeom prst="rect">
            <a:avLst/>
          </a:prstGeom>
          <a:ln w="31750">
            <a:solidFill>
              <a:srgbClr val="000000">
                <a:alpha val="55000"/>
              </a:srgbClr>
            </a:solidFill>
            <a:prstDash val="solid"/>
          </a:ln>
        </p:spPr>
      </p:sp>
      <p:sp>
        <p:nvSpPr>
          <p:cNvPr id="10" name="Shape 7"/>
          <p:cNvSpPr/>
          <p:nvPr/>
        </p:nvSpPr>
        <p:spPr>
          <a:xfrm>
            <a:off x="2568550" y="3577133"/>
            <a:ext cx="2191817" cy="2383841"/>
          </a:xfrm>
          <a:prstGeom prst="rect">
            <a:avLst/>
          </a:prstGeom>
          <a:ln w="19050">
            <a:solidFill>
              <a:srgbClr val="FFB400"/>
            </a:solidFill>
            <a:prstDash val="solid"/>
          </a:ln>
        </p:spPr>
      </p:sp>
      <p:sp>
        <p:nvSpPr>
          <p:cNvPr id="11" name="Shape 8"/>
          <p:cNvSpPr/>
          <p:nvPr/>
        </p:nvSpPr>
        <p:spPr>
          <a:xfrm>
            <a:off x="2422246" y="3430829"/>
            <a:ext cx="256032" cy="256032"/>
          </a:xfrm>
          <a:prstGeom prst="ellipse">
            <a:avLst/>
          </a:prstGeom>
          <a:solidFill>
            <a:srgbClr val="FFB400"/>
          </a:solidFill>
          <a:ln w="9525">
            <a:solidFill>
              <a:srgbClr val="111111"/>
            </a:solidFill>
            <a:prstDash val="solid"/>
          </a:ln>
        </p:spPr>
      </p:sp>
      <p:sp>
        <p:nvSpPr>
          <p:cNvPr id="12" name="Text 9"/>
          <p:cNvSpPr txBox="1"/>
          <p:nvPr/>
        </p:nvSpPr>
        <p:spPr>
          <a:xfrm>
            <a:off x="2422246" y="3430829"/>
            <a:ext cx="256032" cy="256032"/>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3" name="Shape 10"/>
          <p:cNvSpPr/>
          <p:nvPr/>
        </p:nvSpPr>
        <p:spPr>
          <a:xfrm>
            <a:off x="8458200" y="1179576"/>
            <a:ext cx="310896" cy="310896"/>
          </a:xfrm>
          <a:prstGeom prst="ellipse">
            <a:avLst/>
          </a:prstGeom>
          <a:solidFill>
            <a:srgbClr val="FFB400"/>
          </a:solidFill>
          <a:ln w="9525">
            <a:solidFill>
              <a:srgbClr val="111111"/>
            </a:solidFill>
            <a:prstDash val="solid"/>
          </a:ln>
        </p:spPr>
      </p:sp>
      <p:sp>
        <p:nvSpPr>
          <p:cNvPr id="14" name="Text 11"/>
          <p:cNvSpPr txBox="1"/>
          <p:nvPr/>
        </p:nvSpPr>
        <p:spPr>
          <a:xfrm>
            <a:off x="8458200" y="11795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15" name="Text 12"/>
          <p:cNvSpPr txBox="1"/>
          <p:nvPr/>
        </p:nvSpPr>
        <p:spPr>
          <a:xfrm>
            <a:off x="8897112" y="11430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The next operator taps the name here.</a:t>
            </a:r>
            <a:endParaRPr lang="en-US" sz="1700" dirty="0"/>
          </a:p>
        </p:txBody>
      </p:sp>
      <p:sp>
        <p:nvSpPr>
          <p:cNvPr id="16" name="Shape 13"/>
          <p:cNvSpPr/>
          <p:nvPr/>
        </p:nvSpPr>
        <p:spPr>
          <a:xfrm>
            <a:off x="8458200" y="2093976"/>
            <a:ext cx="310896" cy="310896"/>
          </a:xfrm>
          <a:prstGeom prst="ellipse">
            <a:avLst/>
          </a:prstGeom>
          <a:solidFill>
            <a:srgbClr val="FFB400"/>
          </a:solidFill>
          <a:ln w="9525">
            <a:solidFill>
              <a:srgbClr val="111111"/>
            </a:solidFill>
            <a:prstDash val="solid"/>
          </a:ln>
        </p:spPr>
      </p:sp>
      <p:sp>
        <p:nvSpPr>
          <p:cNvPr id="17" name="Text 14"/>
          <p:cNvSpPr txBox="1"/>
          <p:nvPr/>
        </p:nvSpPr>
        <p:spPr>
          <a:xfrm>
            <a:off x="8458200" y="2093976"/>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8897112" y="2057400"/>
            <a:ext cx="2898648" cy="822960"/>
          </a:xfrm>
          <a:prstGeom prst="rect">
            <a:avLst/>
          </a:prstGeom>
          <a:noFill/>
          <a:ln/>
        </p:spPr>
        <p:txBody>
          <a:bodyPr wrap="square" lIns="0" tIns="0" rIns="0" bIns="0" rtlCol="0" anchor="t"/>
          <a:lstStyle/>
          <a:p>
            <a:pPr indent="0" marL="0">
              <a:buNone/>
            </a:pPr>
            <a:r>
              <a:rPr lang="en-US" sz="1700" dirty="0">
                <a:solidFill>
                  <a:srgbClr val="1B1B1B"/>
                </a:solidFill>
                <a:latin typeface="Calibri" pitchFamily="34" charset="0"/>
                <a:ea typeface="Calibri" pitchFamily="34" charset="-122"/>
                <a:cs typeface="Calibri" pitchFamily="34" charset="-120"/>
              </a:rPr>
              <a:t>They type their own PIN.</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KEEP THIS ONE</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Quick reference</a:t>
            </a:r>
            <a:endParaRPr lang="en-US" sz="3200" dirty="0"/>
          </a:p>
        </p:txBody>
      </p:sp>
      <p:sp>
        <p:nvSpPr>
          <p:cNvPr id="4" name="Shape 2"/>
          <p:cNvSpPr/>
          <p:nvPr/>
        </p:nvSpPr>
        <p:spPr>
          <a:xfrm>
            <a:off x="411480" y="1234440"/>
            <a:ext cx="3596640" cy="5212080"/>
          </a:xfrm>
          <a:prstGeom prst="roundRect">
            <a:avLst>
              <a:gd name="adj" fmla="val 2034"/>
            </a:avLst>
          </a:prstGeom>
          <a:solidFill>
            <a:srgbClr val="EEF2F7"/>
          </a:solidFill>
          <a:ln w="12700">
            <a:solidFill>
              <a:srgbClr val="EEF2F7"/>
            </a:solidFill>
            <a:prstDash val="solid"/>
          </a:ln>
        </p:spPr>
      </p:sp>
      <p:sp>
        <p:nvSpPr>
          <p:cNvPr id="5" name="Text 3"/>
          <p:cNvSpPr txBox="1"/>
          <p:nvPr/>
        </p:nvSpPr>
        <p:spPr>
          <a:xfrm>
            <a:off x="640080" y="1371600"/>
            <a:ext cx="3139440" cy="457200"/>
          </a:xfrm>
          <a:prstGeom prst="rect">
            <a:avLst/>
          </a:prstGeom>
          <a:noFill/>
          <a:ln/>
        </p:spPr>
        <p:txBody>
          <a:bodyPr wrap="square" lIns="0" tIns="0" rIns="0" bIns="0" rtlCol="0" anchor="ctr"/>
          <a:lstStyle/>
          <a:p>
            <a:pPr indent="0" marL="0">
              <a:buNone/>
            </a:pPr>
            <a:r>
              <a:rPr lang="en-US" sz="2000" b="1" dirty="0">
                <a:solidFill>
                  <a:srgbClr val="12263F"/>
                </a:solidFill>
                <a:latin typeface="Calibri" pitchFamily="34" charset="0"/>
                <a:ea typeface="Calibri" pitchFamily="34" charset="-122"/>
                <a:cs typeface="Calibri" pitchFamily="34" charset="-120"/>
              </a:rPr>
              <a:t>Every basket</a:t>
            </a:r>
            <a:endParaRPr lang="en-US" sz="2000" dirty="0"/>
          </a:p>
        </p:txBody>
      </p:sp>
      <p:sp>
        <p:nvSpPr>
          <p:cNvPr id="6" name="Text 4"/>
          <p:cNvSpPr txBox="1"/>
          <p:nvPr/>
        </p:nvSpPr>
        <p:spPr>
          <a:xfrm>
            <a:off x="640080" y="1920240"/>
            <a:ext cx="3139440"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Scan the ticket into the empty row.</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Press </a:t>
            </a:r>
            <a:pPr indent="0" marL="0">
              <a:spcAft>
                <a:spcPts val="1000"/>
              </a:spcAft>
              <a:buNone/>
            </a:pPr>
            <a:r>
              <a:rPr lang="en-US" sz="1800" b="1" dirty="0">
                <a:solidFill>
                  <a:srgbClr val="12263F"/>
                </a:solidFill>
                <a:latin typeface="Calibri" pitchFamily="34" charset="0"/>
                <a:ea typeface="Calibri" pitchFamily="34" charset="-122"/>
                <a:cs typeface="Calibri" pitchFamily="34" charset="-120"/>
              </a:rPr>
              <a:t>Open 1 basket(s)</a:t>
            </a:r>
            <a:pPr indent="0" marL="0">
              <a:spcAft>
                <a:spcPts val="1000"/>
              </a:spcAft>
              <a:buNone/>
            </a:pPr>
            <a:r>
              <a:rPr lang="en-US" sz="1800" dirty="0">
                <a:solidFill>
                  <a:srgbClr val="1B1B1B"/>
                </a:solidFill>
                <a:latin typeface="Calibri" pitchFamily="34" charset="0"/>
                <a:ea typeface="Calibri" pitchFamily="34" charset="-122"/>
                <a:cs typeface="Calibri" pitchFamily="34" charset="-120"/>
              </a:rPr>
              <a:t>.</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When the basket is full, press </a:t>
            </a:r>
            <a:pPr indent="0" marL="0">
              <a:spcAft>
                <a:spcPts val="1000"/>
              </a:spcAft>
              <a:buNone/>
            </a:pPr>
            <a:r>
              <a:rPr lang="en-US" sz="1800" b="1" dirty="0">
                <a:solidFill>
                  <a:srgbClr val="12263F"/>
                </a:solidFill>
                <a:latin typeface="Calibri" pitchFamily="34" charset="0"/>
                <a:ea typeface="Calibri" pitchFamily="34" charset="-122"/>
                <a:cs typeface="Calibri" pitchFamily="34" charset="-120"/>
              </a:rPr>
              <a:t>Release</a:t>
            </a:r>
            <a:pPr indent="0" marL="0">
              <a:spcAft>
                <a:spcPts val="1000"/>
              </a:spcAft>
              <a:buNone/>
            </a:pPr>
            <a:r>
              <a:rPr lang="en-US" sz="1800" dirty="0">
                <a:solidFill>
                  <a:srgbClr val="1B1B1B"/>
                </a:solidFill>
                <a:latin typeface="Calibri" pitchFamily="34" charset="0"/>
                <a:ea typeface="Calibri" pitchFamily="34" charset="-122"/>
                <a:cs typeface="Calibri" pitchFamily="34" charset="-120"/>
              </a:rPr>
              <a:t>.</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Type the press counter number.</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Press </a:t>
            </a:r>
            <a:pPr indent="0" marL="0">
              <a:spcAft>
                <a:spcPts val="1000"/>
              </a:spcAft>
              <a:buNone/>
            </a:pPr>
            <a:r>
              <a:rPr lang="en-US" sz="1800" b="1" dirty="0">
                <a:solidFill>
                  <a:srgbClr val="12263F"/>
                </a:solidFill>
                <a:latin typeface="Calibri" pitchFamily="34" charset="0"/>
                <a:ea typeface="Calibri" pitchFamily="34" charset="-122"/>
                <a:cs typeface="Calibri" pitchFamily="34" charset="-120"/>
              </a:rPr>
              <a:t>Release basket</a:t>
            </a:r>
            <a:pPr indent="0" marL="0">
              <a:spcAft>
                <a:spcPts val="1000"/>
              </a:spcAft>
              <a:buNone/>
            </a:pPr>
            <a:r>
              <a:rPr lang="en-US" sz="1800" dirty="0">
                <a:solidFill>
                  <a:srgbClr val="1B1B1B"/>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4282440" y="1234440"/>
            <a:ext cx="3596640" cy="5212080"/>
          </a:xfrm>
          <a:prstGeom prst="roundRect">
            <a:avLst>
              <a:gd name="adj" fmla="val 2034"/>
            </a:avLst>
          </a:prstGeom>
          <a:solidFill>
            <a:srgbClr val="EEF2F7"/>
          </a:solidFill>
          <a:ln w="12700">
            <a:solidFill>
              <a:srgbClr val="EEF2F7"/>
            </a:solidFill>
            <a:prstDash val="solid"/>
          </a:ln>
        </p:spPr>
      </p:sp>
      <p:sp>
        <p:nvSpPr>
          <p:cNvPr id="8" name="Text 6"/>
          <p:cNvSpPr txBox="1"/>
          <p:nvPr/>
        </p:nvSpPr>
        <p:spPr>
          <a:xfrm>
            <a:off x="4511040" y="1371600"/>
            <a:ext cx="3139440" cy="457200"/>
          </a:xfrm>
          <a:prstGeom prst="rect">
            <a:avLst/>
          </a:prstGeom>
          <a:noFill/>
          <a:ln/>
        </p:spPr>
        <p:txBody>
          <a:bodyPr wrap="square" lIns="0" tIns="0" rIns="0" bIns="0" rtlCol="0" anchor="ctr"/>
          <a:lstStyle/>
          <a:p>
            <a:pPr indent="0" marL="0">
              <a:buNone/>
            </a:pPr>
            <a:r>
              <a:rPr lang="en-US" sz="2000" b="1" dirty="0">
                <a:solidFill>
                  <a:srgbClr val="12263F"/>
                </a:solidFill>
                <a:latin typeface="Calibri" pitchFamily="34" charset="0"/>
                <a:ea typeface="Calibri" pitchFamily="34" charset="-122"/>
                <a:cs typeface="Calibri" pitchFamily="34" charset="-120"/>
              </a:rPr>
              <a:t>End of shift</a:t>
            </a:r>
            <a:endParaRPr lang="en-US" sz="2000" dirty="0"/>
          </a:p>
        </p:txBody>
      </p:sp>
      <p:sp>
        <p:nvSpPr>
          <p:cNvPr id="9" name="Text 7"/>
          <p:cNvSpPr txBox="1"/>
          <p:nvPr/>
        </p:nvSpPr>
        <p:spPr>
          <a:xfrm>
            <a:off x="4511040" y="1920240"/>
            <a:ext cx="3139440"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Open </a:t>
            </a:r>
            <a:pPr indent="0" marL="0">
              <a:spcAft>
                <a:spcPts val="1000"/>
              </a:spcAft>
              <a:buNone/>
            </a:pPr>
            <a:r>
              <a:rPr lang="en-US" sz="1800" b="1" dirty="0">
                <a:solidFill>
                  <a:srgbClr val="12263F"/>
                </a:solidFill>
                <a:latin typeface="Calibri" pitchFamily="34" charset="0"/>
                <a:ea typeface="Calibri" pitchFamily="34" charset="-122"/>
                <a:cs typeface="Calibri" pitchFamily="34" charset="-120"/>
              </a:rPr>
              <a:t>Reconcile Shift</a:t>
            </a:r>
            <a:pPr indent="0" marL="0">
              <a:spcAft>
                <a:spcPts val="1000"/>
              </a:spcAft>
              <a:buNone/>
            </a:pPr>
            <a:r>
              <a:rPr lang="en-US" sz="1800" dirty="0">
                <a:solidFill>
                  <a:srgbClr val="1B1B1B"/>
                </a:solidFill>
                <a:latin typeface="Calibri" pitchFamily="34" charset="0"/>
                <a:ea typeface="Calibri" pitchFamily="34" charset="-122"/>
                <a:cs typeface="Calibri" pitchFamily="34" charset="-120"/>
              </a:rPr>
              <a:t>.</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Pick your shift.</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Type the press counter number.</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Press </a:t>
            </a:r>
            <a:pPr indent="0" marL="0">
              <a:spcAft>
                <a:spcPts val="1000"/>
              </a:spcAft>
              <a:buNone/>
            </a:pPr>
            <a:r>
              <a:rPr lang="en-US" sz="1800" b="1" dirty="0">
                <a:solidFill>
                  <a:srgbClr val="12263F"/>
                </a:solidFill>
                <a:latin typeface="Calibri" pitchFamily="34" charset="0"/>
                <a:ea typeface="Calibri" pitchFamily="34" charset="-122"/>
                <a:cs typeface="Calibri" pitchFamily="34" charset="-120"/>
              </a:rPr>
              <a:t>Compute</a:t>
            </a:r>
            <a:pPr indent="0" marL="0">
              <a:spcAft>
                <a:spcPts val="1000"/>
              </a:spcAft>
              <a:buNone/>
            </a:pPr>
            <a:r>
              <a:rPr lang="en-US" sz="1800" dirty="0">
                <a:solidFill>
                  <a:srgbClr val="1B1B1B"/>
                </a:solidFill>
                <a:latin typeface="Calibri" pitchFamily="34" charset="0"/>
                <a:ea typeface="Calibri" pitchFamily="34" charset="-122"/>
                <a:cs typeface="Calibri" pitchFamily="34" charset="-120"/>
              </a:rPr>
              <a:t>.</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Add warm-up and test shots.</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Add scrap on each cavity.</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Give a reason for every amber number.</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Press </a:t>
            </a:r>
            <a:pPr indent="0" marL="0">
              <a:spcAft>
                <a:spcPts val="1000"/>
              </a:spcAft>
              <a:buNone/>
            </a:pPr>
            <a:r>
              <a:rPr lang="en-US" sz="1800" b="1" dirty="0">
                <a:solidFill>
                  <a:srgbClr val="12263F"/>
                </a:solidFill>
                <a:latin typeface="Calibri" pitchFamily="34" charset="0"/>
                <a:ea typeface="Calibri" pitchFamily="34" charset="-122"/>
                <a:cs typeface="Calibri" pitchFamily="34" charset="-120"/>
              </a:rPr>
              <a:t>Submit shift entry</a:t>
            </a:r>
            <a:pPr indent="0" marL="0">
              <a:spcAft>
                <a:spcPts val="1000"/>
              </a:spcAft>
              <a:buNone/>
            </a:pPr>
            <a:r>
              <a:rPr lang="en-US" sz="1800" dirty="0">
                <a:solidFill>
                  <a:srgbClr val="1B1B1B"/>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8153400" y="1234440"/>
            <a:ext cx="3596640" cy="5212080"/>
          </a:xfrm>
          <a:prstGeom prst="roundRect">
            <a:avLst>
              <a:gd name="adj" fmla="val 2034"/>
            </a:avLst>
          </a:prstGeom>
          <a:solidFill>
            <a:srgbClr val="EEF2F7"/>
          </a:solidFill>
          <a:ln w="12700">
            <a:solidFill>
              <a:srgbClr val="EEF2F7"/>
            </a:solidFill>
            <a:prstDash val="solid"/>
          </a:ln>
        </p:spPr>
      </p:sp>
      <p:sp>
        <p:nvSpPr>
          <p:cNvPr id="11" name="Text 9"/>
          <p:cNvSpPr txBox="1"/>
          <p:nvPr/>
        </p:nvSpPr>
        <p:spPr>
          <a:xfrm>
            <a:off x="8382000" y="1371600"/>
            <a:ext cx="3139440" cy="457200"/>
          </a:xfrm>
          <a:prstGeom prst="rect">
            <a:avLst/>
          </a:prstGeom>
          <a:noFill/>
          <a:ln/>
        </p:spPr>
        <p:txBody>
          <a:bodyPr wrap="square" lIns="0" tIns="0" rIns="0" bIns="0" rtlCol="0" anchor="ctr"/>
          <a:lstStyle/>
          <a:p>
            <a:pPr indent="0" marL="0">
              <a:buNone/>
            </a:pPr>
            <a:r>
              <a:rPr lang="en-US" sz="2000" b="1" dirty="0">
                <a:solidFill>
                  <a:srgbClr val="12263F"/>
                </a:solidFill>
                <a:latin typeface="Calibri" pitchFamily="34" charset="0"/>
                <a:ea typeface="Calibri" pitchFamily="34" charset="-122"/>
                <a:cs typeface="Calibri" pitchFamily="34" charset="-120"/>
              </a:rPr>
              <a:t>When it looks wrong</a:t>
            </a:r>
            <a:endParaRPr lang="en-US" sz="2000" dirty="0"/>
          </a:p>
        </p:txBody>
      </p:sp>
      <p:sp>
        <p:nvSpPr>
          <p:cNvPr id="12" name="Text 10"/>
          <p:cNvSpPr txBox="1"/>
          <p:nvPr/>
        </p:nvSpPr>
        <p:spPr>
          <a:xfrm>
            <a:off x="8382000" y="1920240"/>
            <a:ext cx="3139440"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Counter was reset? Press </a:t>
            </a:r>
            <a:pPr indent="0" marL="0">
              <a:spcAft>
                <a:spcPts val="1000"/>
              </a:spcAft>
              <a:buNone/>
            </a:pPr>
            <a:r>
              <a:rPr lang="en-US" sz="1800" b="1" dirty="0">
                <a:solidFill>
                  <a:srgbClr val="12263F"/>
                </a:solidFill>
                <a:latin typeface="Calibri" pitchFamily="34" charset="0"/>
                <a:ea typeface="Calibri" pitchFamily="34" charset="-122"/>
                <a:cs typeface="Calibri" pitchFamily="34" charset="-120"/>
              </a:rPr>
              <a:t>Fix counter</a:t>
            </a:r>
            <a:pPr indent="0" marL="0">
              <a:spcAft>
                <a:spcPts val="1000"/>
              </a:spcAft>
              <a:buNone/>
            </a:pPr>
            <a:r>
              <a:rPr lang="en-US" sz="1800" dirty="0">
                <a:solidFill>
                  <a:srgbClr val="1B1B1B"/>
                </a:solidFill>
                <a:latin typeface="Calibri" pitchFamily="34" charset="0"/>
                <a:ea typeface="Calibri" pitchFamily="34" charset="-122"/>
                <a:cs typeface="Calibri" pitchFamily="34" charset="-120"/>
              </a:rPr>
              <a:t>.</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Machine stopped? Press </a:t>
            </a:r>
            <a:pPr indent="0" marL="0">
              <a:spcAft>
                <a:spcPts val="1000"/>
              </a:spcAft>
              <a:buNone/>
            </a:pPr>
            <a:r>
              <a:rPr lang="en-US" sz="1800" b="1" dirty="0">
                <a:solidFill>
                  <a:srgbClr val="12263F"/>
                </a:solidFill>
                <a:latin typeface="Calibri" pitchFamily="34" charset="0"/>
                <a:ea typeface="Calibri" pitchFamily="34" charset="-122"/>
                <a:cs typeface="Calibri" pitchFamily="34" charset="-120"/>
              </a:rPr>
              <a:t>Downtime</a:t>
            </a:r>
            <a:pPr indent="0" marL="0">
              <a:spcAft>
                <a:spcPts val="1000"/>
              </a:spcAft>
              <a:buNone/>
            </a:pPr>
            <a:r>
              <a:rPr lang="en-US" sz="1800" dirty="0">
                <a:solidFill>
                  <a:srgbClr val="1B1B1B"/>
                </a:solidFill>
                <a:latin typeface="Calibri" pitchFamily="34" charset="0"/>
                <a:ea typeface="Calibri" pitchFamily="34" charset="-122"/>
                <a:cs typeface="Calibri" pitchFamily="34" charset="-120"/>
              </a:rPr>
              <a:t>.</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Die is wrong on screen? Call your team lead.</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Already sent the shift entry? Call your team lead.</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2263F"/>
        </a:solidFill>
      </p:bgPr>
    </p:bg>
    <p:spTree>
      <p:nvGrpSpPr>
        <p:cNvPr id="1" name=""/>
        <p:cNvGrpSpPr/>
        <p:nvPr/>
      </p:nvGrpSpPr>
      <p:grpSpPr>
        <a:xfrm>
          <a:off x="0" y="0"/>
          <a:ext cx="0" cy="0"/>
          <a:chOff x="0" y="0"/>
          <a:chExt cx="0" cy="0"/>
        </a:xfrm>
      </p:grpSpPr>
      <p:sp>
        <p:nvSpPr>
          <p:cNvPr id="2" name="Text 0"/>
          <p:cNvSpPr txBox="1"/>
          <p:nvPr/>
        </p:nvSpPr>
        <p:spPr>
          <a:xfrm>
            <a:off x="731520" y="2377440"/>
            <a:ext cx="10698480" cy="10972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Part 2</a:t>
            </a:r>
            <a:endParaRPr lang="en-US" sz="4400" dirty="0"/>
          </a:p>
        </p:txBody>
      </p:sp>
      <p:sp>
        <p:nvSpPr>
          <p:cNvPr id="3" name="Text 1"/>
          <p:cNvSpPr txBox="1"/>
          <p:nvPr/>
        </p:nvSpPr>
        <p:spPr>
          <a:xfrm>
            <a:off x="731520" y="3474720"/>
            <a:ext cx="10698480" cy="548640"/>
          </a:xfrm>
          <a:prstGeom prst="rect">
            <a:avLst/>
          </a:prstGeom>
          <a:noFill/>
          <a:ln/>
        </p:spPr>
        <p:txBody>
          <a:bodyPr wrap="square" lIns="0" tIns="0" rIns="0" bIns="0" rtlCol="0" anchor="ctr"/>
          <a:lstStyle/>
          <a:p>
            <a:pPr indent="0" marL="0">
              <a:buNone/>
            </a:pPr>
            <a:r>
              <a:rPr lang="en-US" sz="2200" dirty="0">
                <a:solidFill>
                  <a:srgbClr val="FFB400"/>
                </a:solidFill>
                <a:latin typeface="Calibri" pitchFamily="34" charset="0"/>
                <a:ea typeface="Calibri" pitchFamily="34" charset="-122"/>
                <a:cs typeface="Calibri" pitchFamily="34" charset="-120"/>
              </a:rPr>
              <a:t>For team leads</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TEAM LEAD</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Supervisor Access</a:t>
            </a:r>
            <a:endParaRPr lang="en-US" sz="3200" dirty="0"/>
          </a:p>
        </p:txBody>
      </p:sp>
      <p:sp>
        <p:nvSpPr>
          <p:cNvPr id="4" name="Shape 2"/>
          <p:cNvSpPr/>
          <p:nvPr/>
        </p:nvSpPr>
        <p:spPr>
          <a:xfrm>
            <a:off x="731520" y="1490472"/>
            <a:ext cx="384048" cy="384048"/>
          </a:xfrm>
          <a:prstGeom prst="ellipse">
            <a:avLst/>
          </a:prstGeom>
          <a:solidFill>
            <a:srgbClr val="FFB400"/>
          </a:solidFill>
          <a:ln w="9525">
            <a:solidFill>
              <a:srgbClr val="111111"/>
            </a:solidFill>
            <a:prstDash val="solid"/>
          </a:ln>
        </p:spPr>
      </p:sp>
      <p:sp>
        <p:nvSpPr>
          <p:cNvPr id="5" name="Text 3"/>
          <p:cNvSpPr txBox="1"/>
          <p:nvPr/>
        </p:nvSpPr>
        <p:spPr>
          <a:xfrm>
            <a:off x="731520" y="1490472"/>
            <a:ext cx="384048" cy="384048"/>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6" name="Text 4"/>
          <p:cNvSpPr txBox="1"/>
          <p:nvPr/>
        </p:nvSpPr>
        <p:spPr>
          <a:xfrm>
            <a:off x="1371600" y="1417320"/>
            <a:ext cx="10241280" cy="640080"/>
          </a:xfrm>
          <a:prstGeom prst="rect">
            <a:avLst/>
          </a:prstGeom>
          <a:noFill/>
          <a:ln/>
        </p:spPr>
        <p:txBody>
          <a:bodyPr wrap="square" lIns="0" tIns="0" rIns="0" bIns="0" rtlCol="0" anchor="ctr"/>
          <a:lstStyle/>
          <a:p>
            <a:pPr indent="0" marL="0">
              <a:buNone/>
            </a:pPr>
            <a:r>
              <a:rPr lang="en-US" sz="2200" dirty="0">
                <a:solidFill>
                  <a:srgbClr val="1B1B1B"/>
                </a:solidFill>
                <a:latin typeface="Calibri" pitchFamily="34" charset="0"/>
                <a:ea typeface="Calibri" pitchFamily="34" charset="-122"/>
                <a:cs typeface="Calibri" pitchFamily="34" charset="-120"/>
              </a:rPr>
              <a:t>Some jobs need a team lead to sign in with their own account.</a:t>
            </a:r>
            <a:endParaRPr lang="en-US" sz="2200" dirty="0"/>
          </a:p>
        </p:txBody>
      </p:sp>
      <p:sp>
        <p:nvSpPr>
          <p:cNvPr id="7" name="Shape 5"/>
          <p:cNvSpPr/>
          <p:nvPr/>
        </p:nvSpPr>
        <p:spPr>
          <a:xfrm>
            <a:off x="731520" y="2450592"/>
            <a:ext cx="384048" cy="384048"/>
          </a:xfrm>
          <a:prstGeom prst="ellipse">
            <a:avLst/>
          </a:prstGeom>
          <a:solidFill>
            <a:srgbClr val="FFB400"/>
          </a:solidFill>
          <a:ln w="9525">
            <a:solidFill>
              <a:srgbClr val="111111"/>
            </a:solidFill>
            <a:prstDash val="solid"/>
          </a:ln>
        </p:spPr>
      </p:sp>
      <p:sp>
        <p:nvSpPr>
          <p:cNvPr id="8" name="Text 6"/>
          <p:cNvSpPr txBox="1"/>
          <p:nvPr/>
        </p:nvSpPr>
        <p:spPr>
          <a:xfrm>
            <a:off x="731520" y="2450592"/>
            <a:ext cx="384048" cy="384048"/>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9" name="Text 7"/>
          <p:cNvSpPr txBox="1"/>
          <p:nvPr/>
        </p:nvSpPr>
        <p:spPr>
          <a:xfrm>
            <a:off x="1371600" y="2377440"/>
            <a:ext cx="10241280" cy="640080"/>
          </a:xfrm>
          <a:prstGeom prst="rect">
            <a:avLst/>
          </a:prstGeom>
          <a:noFill/>
          <a:ln/>
        </p:spPr>
        <p:txBody>
          <a:bodyPr wrap="square" lIns="0" tIns="0" rIns="0" bIns="0" rtlCol="0" anchor="ctr"/>
          <a:lstStyle/>
          <a:p>
            <a:pPr indent="0" marL="0">
              <a:buNone/>
            </a:pPr>
            <a:r>
              <a:rPr lang="en-US" sz="2200" dirty="0">
                <a:solidFill>
                  <a:srgbClr val="1B1B1B"/>
                </a:solidFill>
                <a:latin typeface="Calibri" pitchFamily="34" charset="0"/>
                <a:ea typeface="Calibri" pitchFamily="34" charset="-122"/>
                <a:cs typeface="Calibri" pitchFamily="34" charset="-120"/>
              </a:rPr>
              <a:t>The sign-in lasts five minutes.</a:t>
            </a:r>
            <a:endParaRPr lang="en-US" sz="2200" dirty="0"/>
          </a:p>
        </p:txBody>
      </p:sp>
      <p:sp>
        <p:nvSpPr>
          <p:cNvPr id="10" name="Shape 8"/>
          <p:cNvSpPr/>
          <p:nvPr/>
        </p:nvSpPr>
        <p:spPr>
          <a:xfrm>
            <a:off x="731520" y="3410712"/>
            <a:ext cx="384048" cy="384048"/>
          </a:xfrm>
          <a:prstGeom prst="ellipse">
            <a:avLst/>
          </a:prstGeom>
          <a:solidFill>
            <a:srgbClr val="FFB400"/>
          </a:solidFill>
          <a:ln w="9525">
            <a:solidFill>
              <a:srgbClr val="111111"/>
            </a:solidFill>
            <a:prstDash val="solid"/>
          </a:ln>
        </p:spPr>
      </p:sp>
      <p:sp>
        <p:nvSpPr>
          <p:cNvPr id="11" name="Text 9"/>
          <p:cNvSpPr txBox="1"/>
          <p:nvPr/>
        </p:nvSpPr>
        <p:spPr>
          <a:xfrm>
            <a:off x="731520" y="3410712"/>
            <a:ext cx="384048" cy="384048"/>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12" name="Text 10"/>
          <p:cNvSpPr txBox="1"/>
          <p:nvPr/>
        </p:nvSpPr>
        <p:spPr>
          <a:xfrm>
            <a:off x="1371600" y="3337560"/>
            <a:ext cx="10241280" cy="640080"/>
          </a:xfrm>
          <a:prstGeom prst="rect">
            <a:avLst/>
          </a:prstGeom>
          <a:noFill/>
          <a:ln/>
        </p:spPr>
        <p:txBody>
          <a:bodyPr wrap="square" lIns="0" tIns="0" rIns="0" bIns="0" rtlCol="0" anchor="ctr"/>
          <a:lstStyle/>
          <a:p>
            <a:pPr indent="0" marL="0">
              <a:buNone/>
            </a:pPr>
            <a:r>
              <a:rPr lang="en-US" sz="2200" dirty="0">
                <a:solidFill>
                  <a:srgbClr val="1B1B1B"/>
                </a:solidFill>
                <a:latin typeface="Calibri" pitchFamily="34" charset="0"/>
                <a:ea typeface="Calibri" pitchFamily="34" charset="-122"/>
                <a:cs typeface="Calibri" pitchFamily="34" charset="-120"/>
              </a:rPr>
              <a:t>While it lasts, everything done here is saved under your name.</a:t>
            </a:r>
            <a:endParaRPr lang="en-US" sz="2200" dirty="0"/>
          </a:p>
        </p:txBody>
      </p:sp>
      <p:sp>
        <p:nvSpPr>
          <p:cNvPr id="13" name="Shape 11"/>
          <p:cNvSpPr/>
          <p:nvPr/>
        </p:nvSpPr>
        <p:spPr>
          <a:xfrm>
            <a:off x="411480" y="5257800"/>
            <a:ext cx="11338560" cy="868680"/>
          </a:xfrm>
          <a:prstGeom prst="roundRect">
            <a:avLst>
              <a:gd name="adj" fmla="val 8421"/>
            </a:avLst>
          </a:prstGeom>
          <a:solidFill>
            <a:srgbClr val="EEF2F7"/>
          </a:solidFill>
          <a:ln w="12700">
            <a:solidFill>
              <a:srgbClr val="C9D2DE"/>
            </a:solidFill>
            <a:prstDash val="dash"/>
          </a:ln>
        </p:spPr>
      </p:sp>
      <p:sp>
        <p:nvSpPr>
          <p:cNvPr id="14" name="Text 12"/>
          <p:cNvSpPr txBox="1"/>
          <p:nvPr/>
        </p:nvSpPr>
        <p:spPr>
          <a:xfrm>
            <a:off x="685800" y="5257800"/>
            <a:ext cx="10789920" cy="868680"/>
          </a:xfrm>
          <a:prstGeom prst="rect">
            <a:avLst/>
          </a:prstGeom>
          <a:noFill/>
          <a:ln/>
        </p:spPr>
        <p:txBody>
          <a:bodyPr wrap="square" lIns="0" tIns="0" rIns="0" bIns="0" rtlCol="0" anchor="ctr"/>
          <a:lstStyle/>
          <a:p>
            <a:pPr indent="0" marL="0">
              <a:buNone/>
            </a:pPr>
            <a:r>
              <a:rPr lang="en-US" sz="1600" i="1" dirty="0">
                <a:solidFill>
                  <a:srgbClr val="5A6472"/>
                </a:solidFill>
                <a:latin typeface="Calibri" pitchFamily="34" charset="0"/>
                <a:ea typeface="Calibri" pitchFamily="34" charset="-122"/>
                <a:cs typeface="Calibri" pitchFamily="34" charset="-120"/>
              </a:rPr>
              <a:t>Screen pictures and step-by-step for this job come in the next version of this deck.</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TEAM LEAD</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Die Mount</a:t>
            </a:r>
            <a:endParaRPr lang="en-US" sz="3200" dirty="0"/>
          </a:p>
        </p:txBody>
      </p:sp>
      <p:sp>
        <p:nvSpPr>
          <p:cNvPr id="4" name="Shape 2"/>
          <p:cNvSpPr/>
          <p:nvPr/>
        </p:nvSpPr>
        <p:spPr>
          <a:xfrm>
            <a:off x="731520" y="1490472"/>
            <a:ext cx="384048" cy="384048"/>
          </a:xfrm>
          <a:prstGeom prst="ellipse">
            <a:avLst/>
          </a:prstGeom>
          <a:solidFill>
            <a:srgbClr val="FFB400"/>
          </a:solidFill>
          <a:ln w="9525">
            <a:solidFill>
              <a:srgbClr val="111111"/>
            </a:solidFill>
            <a:prstDash val="solid"/>
          </a:ln>
        </p:spPr>
      </p:sp>
      <p:sp>
        <p:nvSpPr>
          <p:cNvPr id="5" name="Text 3"/>
          <p:cNvSpPr txBox="1"/>
          <p:nvPr/>
        </p:nvSpPr>
        <p:spPr>
          <a:xfrm>
            <a:off x="731520" y="1490472"/>
            <a:ext cx="384048" cy="384048"/>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6" name="Text 4"/>
          <p:cNvSpPr txBox="1"/>
          <p:nvPr/>
        </p:nvSpPr>
        <p:spPr>
          <a:xfrm>
            <a:off x="1371600" y="1417320"/>
            <a:ext cx="10241280" cy="640080"/>
          </a:xfrm>
          <a:prstGeom prst="rect">
            <a:avLst/>
          </a:prstGeom>
          <a:noFill/>
          <a:ln/>
        </p:spPr>
        <p:txBody>
          <a:bodyPr wrap="square" lIns="0" tIns="0" rIns="0" bIns="0" rtlCol="0" anchor="ctr"/>
          <a:lstStyle/>
          <a:p>
            <a:pPr indent="0" marL="0">
              <a:buNone/>
            </a:pPr>
            <a:r>
              <a:rPr lang="en-US" sz="2200" dirty="0">
                <a:solidFill>
                  <a:srgbClr val="1B1B1B"/>
                </a:solidFill>
                <a:latin typeface="Calibri" pitchFamily="34" charset="0"/>
                <a:ea typeface="Calibri" pitchFamily="34" charset="-122"/>
                <a:cs typeface="Calibri" pitchFamily="34" charset="-120"/>
              </a:rPr>
              <a:t>Use it when a die is changed on a press.</a:t>
            </a:r>
            <a:endParaRPr lang="en-US" sz="2200" dirty="0"/>
          </a:p>
        </p:txBody>
      </p:sp>
      <p:sp>
        <p:nvSpPr>
          <p:cNvPr id="7" name="Shape 5"/>
          <p:cNvSpPr/>
          <p:nvPr/>
        </p:nvSpPr>
        <p:spPr>
          <a:xfrm>
            <a:off x="731520" y="2450592"/>
            <a:ext cx="384048" cy="384048"/>
          </a:xfrm>
          <a:prstGeom prst="ellipse">
            <a:avLst/>
          </a:prstGeom>
          <a:solidFill>
            <a:srgbClr val="FFB400"/>
          </a:solidFill>
          <a:ln w="9525">
            <a:solidFill>
              <a:srgbClr val="111111"/>
            </a:solidFill>
            <a:prstDash val="solid"/>
          </a:ln>
        </p:spPr>
      </p:sp>
      <p:sp>
        <p:nvSpPr>
          <p:cNvPr id="8" name="Text 6"/>
          <p:cNvSpPr txBox="1"/>
          <p:nvPr/>
        </p:nvSpPr>
        <p:spPr>
          <a:xfrm>
            <a:off x="731520" y="2450592"/>
            <a:ext cx="384048" cy="384048"/>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9" name="Text 7"/>
          <p:cNvSpPr txBox="1"/>
          <p:nvPr/>
        </p:nvSpPr>
        <p:spPr>
          <a:xfrm>
            <a:off x="1371600" y="2377440"/>
            <a:ext cx="10241280" cy="640080"/>
          </a:xfrm>
          <a:prstGeom prst="rect">
            <a:avLst/>
          </a:prstGeom>
          <a:noFill/>
          <a:ln/>
        </p:spPr>
        <p:txBody>
          <a:bodyPr wrap="square" lIns="0" tIns="0" rIns="0" bIns="0" rtlCol="0" anchor="ctr"/>
          <a:lstStyle/>
          <a:p>
            <a:pPr indent="0" marL="0">
              <a:buNone/>
            </a:pPr>
            <a:r>
              <a:rPr lang="en-US" sz="2200" dirty="0">
                <a:solidFill>
                  <a:srgbClr val="1B1B1B"/>
                </a:solidFill>
                <a:latin typeface="Calibri" pitchFamily="34" charset="0"/>
                <a:ea typeface="Calibri" pitchFamily="34" charset="-122"/>
                <a:cs typeface="Calibri" pitchFamily="34" charset="-120"/>
              </a:rPr>
              <a:t>The screen must always show the die that is really in the press.</a:t>
            </a:r>
            <a:endParaRPr lang="en-US" sz="2200" dirty="0"/>
          </a:p>
        </p:txBody>
      </p:sp>
      <p:sp>
        <p:nvSpPr>
          <p:cNvPr id="10" name="Shape 8"/>
          <p:cNvSpPr/>
          <p:nvPr/>
        </p:nvSpPr>
        <p:spPr>
          <a:xfrm>
            <a:off x="411480" y="5257800"/>
            <a:ext cx="11338560" cy="868680"/>
          </a:xfrm>
          <a:prstGeom prst="roundRect">
            <a:avLst>
              <a:gd name="adj" fmla="val 8421"/>
            </a:avLst>
          </a:prstGeom>
          <a:solidFill>
            <a:srgbClr val="EEF2F7"/>
          </a:solidFill>
          <a:ln w="12700">
            <a:solidFill>
              <a:srgbClr val="C9D2DE"/>
            </a:solidFill>
            <a:prstDash val="dash"/>
          </a:ln>
        </p:spPr>
      </p:sp>
      <p:sp>
        <p:nvSpPr>
          <p:cNvPr id="11" name="Text 9"/>
          <p:cNvSpPr txBox="1"/>
          <p:nvPr/>
        </p:nvSpPr>
        <p:spPr>
          <a:xfrm>
            <a:off x="685800" y="5257800"/>
            <a:ext cx="10789920" cy="868680"/>
          </a:xfrm>
          <a:prstGeom prst="rect">
            <a:avLst/>
          </a:prstGeom>
          <a:noFill/>
          <a:ln/>
        </p:spPr>
        <p:txBody>
          <a:bodyPr wrap="square" lIns="0" tIns="0" rIns="0" bIns="0" rtlCol="0" anchor="ctr"/>
          <a:lstStyle/>
          <a:p>
            <a:pPr indent="0" marL="0">
              <a:buNone/>
            </a:pPr>
            <a:r>
              <a:rPr lang="en-US" sz="1600" i="1" dirty="0">
                <a:solidFill>
                  <a:srgbClr val="5A6472"/>
                </a:solidFill>
                <a:latin typeface="Calibri" pitchFamily="34" charset="0"/>
                <a:ea typeface="Calibri" pitchFamily="34" charset="-122"/>
                <a:cs typeface="Calibri" pitchFamily="34" charset="-120"/>
              </a:rPr>
              <a:t>Screen pictures and step-by-step for this job come in the next version of this deck.</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TEAM LEAD</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Reset Terminal</a:t>
            </a:r>
            <a:endParaRPr lang="en-US" sz="3200" dirty="0"/>
          </a:p>
        </p:txBody>
      </p:sp>
      <p:sp>
        <p:nvSpPr>
          <p:cNvPr id="4" name="Shape 2"/>
          <p:cNvSpPr/>
          <p:nvPr/>
        </p:nvSpPr>
        <p:spPr>
          <a:xfrm>
            <a:off x="731520" y="1490472"/>
            <a:ext cx="384048" cy="384048"/>
          </a:xfrm>
          <a:prstGeom prst="ellipse">
            <a:avLst/>
          </a:prstGeom>
          <a:solidFill>
            <a:srgbClr val="FFB400"/>
          </a:solidFill>
          <a:ln w="9525">
            <a:solidFill>
              <a:srgbClr val="111111"/>
            </a:solidFill>
            <a:prstDash val="solid"/>
          </a:ln>
        </p:spPr>
      </p:sp>
      <p:sp>
        <p:nvSpPr>
          <p:cNvPr id="5" name="Text 3"/>
          <p:cNvSpPr txBox="1"/>
          <p:nvPr/>
        </p:nvSpPr>
        <p:spPr>
          <a:xfrm>
            <a:off x="731520" y="1490472"/>
            <a:ext cx="384048" cy="384048"/>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6" name="Text 4"/>
          <p:cNvSpPr txBox="1"/>
          <p:nvPr/>
        </p:nvSpPr>
        <p:spPr>
          <a:xfrm>
            <a:off x="1371600" y="1417320"/>
            <a:ext cx="10241280" cy="640080"/>
          </a:xfrm>
          <a:prstGeom prst="rect">
            <a:avLst/>
          </a:prstGeom>
          <a:noFill/>
          <a:ln/>
        </p:spPr>
        <p:txBody>
          <a:bodyPr wrap="square" lIns="0" tIns="0" rIns="0" bIns="0" rtlCol="0" anchor="ctr"/>
          <a:lstStyle/>
          <a:p>
            <a:pPr indent="0" marL="0">
              <a:buNone/>
            </a:pPr>
            <a:r>
              <a:rPr lang="en-US" sz="2200" dirty="0">
                <a:solidFill>
                  <a:srgbClr val="1B1B1B"/>
                </a:solidFill>
                <a:latin typeface="Calibri" pitchFamily="34" charset="0"/>
                <a:ea typeface="Calibri" pitchFamily="34" charset="-122"/>
                <a:cs typeface="Calibri" pitchFamily="34" charset="-120"/>
              </a:rPr>
              <a:t>Use it when the screen is stuck or shows the wrong place.</a:t>
            </a:r>
            <a:endParaRPr lang="en-US" sz="2200" dirty="0"/>
          </a:p>
        </p:txBody>
      </p:sp>
      <p:sp>
        <p:nvSpPr>
          <p:cNvPr id="7" name="Shape 5"/>
          <p:cNvSpPr/>
          <p:nvPr/>
        </p:nvSpPr>
        <p:spPr>
          <a:xfrm>
            <a:off x="411480" y="5257800"/>
            <a:ext cx="11338560" cy="868680"/>
          </a:xfrm>
          <a:prstGeom prst="roundRect">
            <a:avLst>
              <a:gd name="adj" fmla="val 8421"/>
            </a:avLst>
          </a:prstGeom>
          <a:solidFill>
            <a:srgbClr val="EEF2F7"/>
          </a:solidFill>
          <a:ln w="12700">
            <a:solidFill>
              <a:srgbClr val="C9D2DE"/>
            </a:solidFill>
            <a:prstDash val="dash"/>
          </a:ln>
        </p:spPr>
      </p:sp>
      <p:sp>
        <p:nvSpPr>
          <p:cNvPr id="8" name="Text 6"/>
          <p:cNvSpPr txBox="1"/>
          <p:nvPr/>
        </p:nvSpPr>
        <p:spPr>
          <a:xfrm>
            <a:off x="685800" y="5257800"/>
            <a:ext cx="10789920" cy="868680"/>
          </a:xfrm>
          <a:prstGeom prst="rect">
            <a:avLst/>
          </a:prstGeom>
          <a:noFill/>
          <a:ln/>
        </p:spPr>
        <p:txBody>
          <a:bodyPr wrap="square" lIns="0" tIns="0" rIns="0" bIns="0" rtlCol="0" anchor="ctr"/>
          <a:lstStyle/>
          <a:p>
            <a:pPr indent="0" marL="0">
              <a:buNone/>
            </a:pPr>
            <a:r>
              <a:rPr lang="en-US" sz="1600" i="1" dirty="0">
                <a:solidFill>
                  <a:srgbClr val="5A6472"/>
                </a:solidFill>
                <a:latin typeface="Calibri" pitchFamily="34" charset="0"/>
                <a:ea typeface="Calibri" pitchFamily="34" charset="-122"/>
                <a:cs typeface="Calibri" pitchFamily="34" charset="-120"/>
              </a:rPr>
              <a:t>Screen pictures and step-by-step for this job come in the next version of this deck.</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TEAM LEAD</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The Die Cast Production screen</a:t>
            </a:r>
            <a:endParaRPr lang="en-US" sz="3200" dirty="0"/>
          </a:p>
        </p:txBody>
      </p:sp>
      <p:sp>
        <p:nvSpPr>
          <p:cNvPr id="4" name="Shape 2"/>
          <p:cNvSpPr/>
          <p:nvPr/>
        </p:nvSpPr>
        <p:spPr>
          <a:xfrm>
            <a:off x="731520" y="1490472"/>
            <a:ext cx="384048" cy="384048"/>
          </a:xfrm>
          <a:prstGeom prst="ellipse">
            <a:avLst/>
          </a:prstGeom>
          <a:solidFill>
            <a:srgbClr val="FFB400"/>
          </a:solidFill>
          <a:ln w="9525">
            <a:solidFill>
              <a:srgbClr val="111111"/>
            </a:solidFill>
            <a:prstDash val="solid"/>
          </a:ln>
        </p:spPr>
      </p:sp>
      <p:sp>
        <p:nvSpPr>
          <p:cNvPr id="5" name="Text 3"/>
          <p:cNvSpPr txBox="1"/>
          <p:nvPr/>
        </p:nvSpPr>
        <p:spPr>
          <a:xfrm>
            <a:off x="731520" y="1490472"/>
            <a:ext cx="384048" cy="384048"/>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p>
        </p:txBody>
      </p:sp>
      <p:sp>
        <p:nvSpPr>
          <p:cNvPr id="6" name="Text 4"/>
          <p:cNvSpPr txBox="1"/>
          <p:nvPr/>
        </p:nvSpPr>
        <p:spPr>
          <a:xfrm>
            <a:off x="1371600" y="1417320"/>
            <a:ext cx="10241280" cy="640080"/>
          </a:xfrm>
          <a:prstGeom prst="rect">
            <a:avLst/>
          </a:prstGeom>
          <a:noFill/>
          <a:ln/>
        </p:spPr>
        <p:txBody>
          <a:bodyPr wrap="square" lIns="0" tIns="0" rIns="0" bIns="0" rtlCol="0" anchor="ctr"/>
          <a:lstStyle/>
          <a:p>
            <a:pPr indent="0" marL="0">
              <a:buNone/>
            </a:pPr>
            <a:r>
              <a:rPr lang="en-US" sz="2200" dirty="0">
                <a:solidFill>
                  <a:srgbClr val="1B1B1B"/>
                </a:solidFill>
                <a:latin typeface="Calibri" pitchFamily="34" charset="0"/>
                <a:ea typeface="Calibri" pitchFamily="34" charset="-122"/>
                <a:cs typeface="Calibri" pitchFamily="34" charset="-120"/>
              </a:rPr>
              <a:t>Shows good parts for this shift and the last shift.</a:t>
            </a:r>
            <a:endParaRPr lang="en-US" sz="2200" dirty="0"/>
          </a:p>
        </p:txBody>
      </p:sp>
      <p:sp>
        <p:nvSpPr>
          <p:cNvPr id="7" name="Shape 5"/>
          <p:cNvSpPr/>
          <p:nvPr/>
        </p:nvSpPr>
        <p:spPr>
          <a:xfrm>
            <a:off x="731520" y="2450592"/>
            <a:ext cx="384048" cy="384048"/>
          </a:xfrm>
          <a:prstGeom prst="ellipse">
            <a:avLst/>
          </a:prstGeom>
          <a:solidFill>
            <a:srgbClr val="FFB400"/>
          </a:solidFill>
          <a:ln w="9525">
            <a:solidFill>
              <a:srgbClr val="111111"/>
            </a:solidFill>
            <a:prstDash val="solid"/>
          </a:ln>
        </p:spPr>
      </p:sp>
      <p:sp>
        <p:nvSpPr>
          <p:cNvPr id="8" name="Text 6"/>
          <p:cNvSpPr txBox="1"/>
          <p:nvPr/>
        </p:nvSpPr>
        <p:spPr>
          <a:xfrm>
            <a:off x="731520" y="2450592"/>
            <a:ext cx="384048" cy="384048"/>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p>
        </p:txBody>
      </p:sp>
      <p:sp>
        <p:nvSpPr>
          <p:cNvPr id="9" name="Text 7"/>
          <p:cNvSpPr txBox="1"/>
          <p:nvPr/>
        </p:nvSpPr>
        <p:spPr>
          <a:xfrm>
            <a:off x="1371600" y="2377440"/>
            <a:ext cx="10241280" cy="640080"/>
          </a:xfrm>
          <a:prstGeom prst="rect">
            <a:avLst/>
          </a:prstGeom>
          <a:noFill/>
          <a:ln/>
        </p:spPr>
        <p:txBody>
          <a:bodyPr wrap="square" lIns="0" tIns="0" rIns="0" bIns="0" rtlCol="0" anchor="ctr"/>
          <a:lstStyle/>
          <a:p>
            <a:pPr indent="0" marL="0">
              <a:buNone/>
            </a:pPr>
            <a:r>
              <a:rPr lang="en-US" sz="2200" dirty="0">
                <a:solidFill>
                  <a:srgbClr val="1B1B1B"/>
                </a:solidFill>
                <a:latin typeface="Calibri" pitchFamily="34" charset="0"/>
                <a:ea typeface="Calibri" pitchFamily="34" charset="-122"/>
                <a:cs typeface="Calibri" pitchFamily="34" charset="-120"/>
              </a:rPr>
              <a:t>Pick one area, or leave it on all of die cast.</a:t>
            </a:r>
            <a:endParaRPr lang="en-US" sz="2200" dirty="0"/>
          </a:p>
        </p:txBody>
      </p:sp>
      <p:sp>
        <p:nvSpPr>
          <p:cNvPr id="10" name="Shape 8"/>
          <p:cNvSpPr/>
          <p:nvPr/>
        </p:nvSpPr>
        <p:spPr>
          <a:xfrm>
            <a:off x="731520" y="3410712"/>
            <a:ext cx="384048" cy="384048"/>
          </a:xfrm>
          <a:prstGeom prst="ellipse">
            <a:avLst/>
          </a:prstGeom>
          <a:solidFill>
            <a:srgbClr val="FFB400"/>
          </a:solidFill>
          <a:ln w="9525">
            <a:solidFill>
              <a:srgbClr val="111111"/>
            </a:solidFill>
            <a:prstDash val="solid"/>
          </a:ln>
        </p:spPr>
      </p:sp>
      <p:sp>
        <p:nvSpPr>
          <p:cNvPr id="11" name="Text 9"/>
          <p:cNvSpPr txBox="1"/>
          <p:nvPr/>
        </p:nvSpPr>
        <p:spPr>
          <a:xfrm>
            <a:off x="731520" y="3410712"/>
            <a:ext cx="384048" cy="384048"/>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p>
        </p:txBody>
      </p:sp>
      <p:sp>
        <p:nvSpPr>
          <p:cNvPr id="12" name="Text 10"/>
          <p:cNvSpPr txBox="1"/>
          <p:nvPr/>
        </p:nvSpPr>
        <p:spPr>
          <a:xfrm>
            <a:off x="1371600" y="3337560"/>
            <a:ext cx="10241280" cy="640080"/>
          </a:xfrm>
          <a:prstGeom prst="rect">
            <a:avLst/>
          </a:prstGeom>
          <a:noFill/>
          <a:ln/>
        </p:spPr>
        <p:txBody>
          <a:bodyPr wrap="square" lIns="0" tIns="0" rIns="0" bIns="0" rtlCol="0" anchor="ctr"/>
          <a:lstStyle/>
          <a:p>
            <a:pPr indent="0" marL="0">
              <a:buNone/>
            </a:pPr>
            <a:r>
              <a:rPr lang="en-US" sz="2200" dirty="0">
                <a:solidFill>
                  <a:srgbClr val="1B1B1B"/>
                </a:solidFill>
                <a:latin typeface="Calibri" pitchFamily="34" charset="0"/>
                <a:ea typeface="Calibri" pitchFamily="34" charset="-122"/>
                <a:cs typeface="Calibri" pitchFamily="34" charset="-120"/>
              </a:rPr>
              <a:t>One row for each press, with its die and part.</a:t>
            </a:r>
            <a:endParaRPr lang="en-US" sz="2200" dirty="0"/>
          </a:p>
        </p:txBody>
      </p:sp>
      <p:sp>
        <p:nvSpPr>
          <p:cNvPr id="13" name="Shape 11"/>
          <p:cNvSpPr/>
          <p:nvPr/>
        </p:nvSpPr>
        <p:spPr>
          <a:xfrm>
            <a:off x="411480" y="5257800"/>
            <a:ext cx="11338560" cy="868680"/>
          </a:xfrm>
          <a:prstGeom prst="roundRect">
            <a:avLst>
              <a:gd name="adj" fmla="val 8421"/>
            </a:avLst>
          </a:prstGeom>
          <a:solidFill>
            <a:srgbClr val="EEF2F7"/>
          </a:solidFill>
          <a:ln w="12700">
            <a:solidFill>
              <a:srgbClr val="C9D2DE"/>
            </a:solidFill>
            <a:prstDash val="dash"/>
          </a:ln>
        </p:spPr>
      </p:sp>
      <p:sp>
        <p:nvSpPr>
          <p:cNvPr id="14" name="Text 12"/>
          <p:cNvSpPr txBox="1"/>
          <p:nvPr/>
        </p:nvSpPr>
        <p:spPr>
          <a:xfrm>
            <a:off x="685800" y="5257800"/>
            <a:ext cx="10789920" cy="868680"/>
          </a:xfrm>
          <a:prstGeom prst="rect">
            <a:avLst/>
          </a:prstGeom>
          <a:noFill/>
          <a:ln/>
        </p:spPr>
        <p:txBody>
          <a:bodyPr wrap="square" lIns="0" tIns="0" rIns="0" bIns="0" rtlCol="0" anchor="ctr"/>
          <a:lstStyle/>
          <a:p>
            <a:pPr indent="0" marL="0">
              <a:buNone/>
            </a:pPr>
            <a:r>
              <a:rPr lang="en-US" sz="1600" i="1" dirty="0">
                <a:solidFill>
                  <a:srgbClr val="5A6472"/>
                </a:solidFill>
                <a:latin typeface="Calibri" pitchFamily="34" charset="0"/>
                <a:ea typeface="Calibri" pitchFamily="34" charset="-122"/>
                <a:cs typeface="Calibri" pitchFamily="34" charset="-120"/>
              </a:rPr>
              <a:t>Screen pictures and step-by-step for this job come in the next version of this deck.</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11480" y="274320"/>
            <a:ext cx="7315200" cy="274320"/>
          </a:xfrm>
          <a:prstGeom prst="rect">
            <a:avLst/>
          </a:prstGeom>
          <a:noFill/>
          <a:ln/>
        </p:spPr>
        <p:txBody>
          <a:bodyPr wrap="square" lIns="0" tIns="0" rIns="0" bIns="0" rtlCol="0" anchor="ctr"/>
          <a:lstStyle/>
          <a:p>
            <a:pPr indent="0" marL="0">
              <a:buNone/>
            </a:pPr>
            <a:r>
              <a:rPr lang="en-US" sz="1200" b="1" spc="200" kern="0" dirty="0">
                <a:solidFill>
                  <a:srgbClr val="B36B00"/>
                </a:solidFill>
                <a:latin typeface="Calibri" pitchFamily="34" charset="0"/>
                <a:ea typeface="Calibri" pitchFamily="34" charset="-122"/>
                <a:cs typeface="Calibri" pitchFamily="34" charset="-120"/>
              </a:rPr>
              <a:t>TEAM LEAD</a:t>
            </a:r>
            <a:endParaRPr lang="en-US" sz="1200" dirty="0"/>
          </a:p>
        </p:txBody>
      </p:sp>
      <p:sp>
        <p:nvSpPr>
          <p:cNvPr id="3" name="Text 1"/>
          <p:cNvSpPr txBox="1"/>
          <p:nvPr/>
        </p:nvSpPr>
        <p:spPr>
          <a:xfrm>
            <a:off x="411480" y="502920"/>
            <a:ext cx="11338560" cy="548640"/>
          </a:xfrm>
          <a:prstGeom prst="rect">
            <a:avLst/>
          </a:prstGeom>
          <a:noFill/>
          <a:ln/>
        </p:spPr>
        <p:txBody>
          <a:bodyPr wrap="square" lIns="0" tIns="0" rIns="0" bIns="0" rtlCol="0" anchor="ctr"/>
          <a:lstStyle/>
          <a:p>
            <a:pPr indent="0" marL="0">
              <a:buNone/>
            </a:pPr>
            <a:r>
              <a:rPr lang="en-US" sz="3200" b="1" dirty="0">
                <a:solidFill>
                  <a:srgbClr val="12263F"/>
                </a:solidFill>
                <a:latin typeface="Calibri" pitchFamily="34" charset="0"/>
                <a:ea typeface="Calibri" pitchFamily="34" charset="-122"/>
                <a:cs typeface="Calibri" pitchFamily="34" charset="-120"/>
              </a:rPr>
              <a:t>Every shift</a:t>
            </a:r>
            <a:endParaRPr lang="en-US" sz="3200" dirty="0"/>
          </a:p>
        </p:txBody>
      </p:sp>
      <p:sp>
        <p:nvSpPr>
          <p:cNvPr id="4" name="Shape 2"/>
          <p:cNvSpPr/>
          <p:nvPr/>
        </p:nvSpPr>
        <p:spPr>
          <a:xfrm>
            <a:off x="411480" y="1234440"/>
            <a:ext cx="3596640" cy="5212080"/>
          </a:xfrm>
          <a:prstGeom prst="roundRect">
            <a:avLst>
              <a:gd name="adj" fmla="val 2034"/>
            </a:avLst>
          </a:prstGeom>
          <a:solidFill>
            <a:srgbClr val="EEF2F7"/>
          </a:solidFill>
          <a:ln w="12700">
            <a:solidFill>
              <a:srgbClr val="EEF2F7"/>
            </a:solidFill>
            <a:prstDash val="solid"/>
          </a:ln>
        </p:spPr>
      </p:sp>
      <p:sp>
        <p:nvSpPr>
          <p:cNvPr id="5" name="Text 3"/>
          <p:cNvSpPr txBox="1"/>
          <p:nvPr/>
        </p:nvSpPr>
        <p:spPr>
          <a:xfrm>
            <a:off x="640080" y="1371600"/>
            <a:ext cx="3139440" cy="457200"/>
          </a:xfrm>
          <a:prstGeom prst="rect">
            <a:avLst/>
          </a:prstGeom>
          <a:noFill/>
          <a:ln/>
        </p:spPr>
        <p:txBody>
          <a:bodyPr wrap="square" lIns="0" tIns="0" rIns="0" bIns="0" rtlCol="0" anchor="ctr"/>
          <a:lstStyle/>
          <a:p>
            <a:pPr indent="0" marL="0">
              <a:buNone/>
            </a:pPr>
            <a:r>
              <a:rPr lang="en-US" sz="2000" b="1" dirty="0">
                <a:solidFill>
                  <a:srgbClr val="12263F"/>
                </a:solidFill>
                <a:latin typeface="Calibri" pitchFamily="34" charset="0"/>
                <a:ea typeface="Calibri" pitchFamily="34" charset="-122"/>
                <a:cs typeface="Calibri" pitchFamily="34" charset="-120"/>
              </a:rPr>
              <a:t>Start of shift</a:t>
            </a:r>
            <a:endParaRPr lang="en-US" sz="2000" dirty="0"/>
          </a:p>
        </p:txBody>
      </p:sp>
      <p:sp>
        <p:nvSpPr>
          <p:cNvPr id="6" name="Text 4"/>
          <p:cNvSpPr txBox="1"/>
          <p:nvPr/>
        </p:nvSpPr>
        <p:spPr>
          <a:xfrm>
            <a:off x="640080" y="1920240"/>
            <a:ext cx="3139440"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Check each press shows the right die.</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Check the presses that are running have baskets open.</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Fix a wrong die with </a:t>
            </a:r>
            <a:pPr indent="0" marL="0">
              <a:spcAft>
                <a:spcPts val="1000"/>
              </a:spcAft>
              <a:buNone/>
            </a:pPr>
            <a:r>
              <a:rPr lang="en-US" sz="1800" b="1" dirty="0">
                <a:solidFill>
                  <a:srgbClr val="12263F"/>
                </a:solidFill>
                <a:latin typeface="Calibri" pitchFamily="34" charset="0"/>
                <a:ea typeface="Calibri" pitchFamily="34" charset="-122"/>
                <a:cs typeface="Calibri" pitchFamily="34" charset="-120"/>
              </a:rPr>
              <a:t>Die Mount</a:t>
            </a:r>
            <a:pPr indent="0" marL="0">
              <a:spcAft>
                <a:spcPts val="1000"/>
              </a:spcAft>
              <a:buNone/>
            </a:pPr>
            <a:r>
              <a:rPr lang="en-US" sz="1800" dirty="0">
                <a:solidFill>
                  <a:srgbClr val="1B1B1B"/>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4282440" y="1234440"/>
            <a:ext cx="3596640" cy="5212080"/>
          </a:xfrm>
          <a:prstGeom prst="roundRect">
            <a:avLst>
              <a:gd name="adj" fmla="val 2034"/>
            </a:avLst>
          </a:prstGeom>
          <a:solidFill>
            <a:srgbClr val="EEF2F7"/>
          </a:solidFill>
          <a:ln w="12700">
            <a:solidFill>
              <a:srgbClr val="EEF2F7"/>
            </a:solidFill>
            <a:prstDash val="solid"/>
          </a:ln>
        </p:spPr>
      </p:sp>
      <p:sp>
        <p:nvSpPr>
          <p:cNvPr id="8" name="Text 6"/>
          <p:cNvSpPr txBox="1"/>
          <p:nvPr/>
        </p:nvSpPr>
        <p:spPr>
          <a:xfrm>
            <a:off x="4511040" y="1371600"/>
            <a:ext cx="3139440" cy="457200"/>
          </a:xfrm>
          <a:prstGeom prst="rect">
            <a:avLst/>
          </a:prstGeom>
          <a:noFill/>
          <a:ln/>
        </p:spPr>
        <p:txBody>
          <a:bodyPr wrap="square" lIns="0" tIns="0" rIns="0" bIns="0" rtlCol="0" anchor="ctr"/>
          <a:lstStyle/>
          <a:p>
            <a:pPr indent="0" marL="0">
              <a:buNone/>
            </a:pPr>
            <a:r>
              <a:rPr lang="en-US" sz="2000" b="1" dirty="0">
                <a:solidFill>
                  <a:srgbClr val="12263F"/>
                </a:solidFill>
                <a:latin typeface="Calibri" pitchFamily="34" charset="0"/>
                <a:ea typeface="Calibri" pitchFamily="34" charset="-122"/>
                <a:cs typeface="Calibri" pitchFamily="34" charset="-120"/>
              </a:rPr>
              <a:t>During the shift</a:t>
            </a:r>
            <a:endParaRPr lang="en-US" sz="2000" dirty="0"/>
          </a:p>
        </p:txBody>
      </p:sp>
      <p:sp>
        <p:nvSpPr>
          <p:cNvPr id="9" name="Text 7"/>
          <p:cNvSpPr txBox="1"/>
          <p:nvPr/>
        </p:nvSpPr>
        <p:spPr>
          <a:xfrm>
            <a:off x="4511040" y="1920240"/>
            <a:ext cx="3139440"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Watch the </a:t>
            </a:r>
            <a:pPr indent="0" marL="0">
              <a:spcAft>
                <a:spcPts val="1000"/>
              </a:spcAft>
              <a:buNone/>
            </a:pPr>
            <a:r>
              <a:rPr lang="en-US" sz="1800" b="1" dirty="0">
                <a:solidFill>
                  <a:srgbClr val="12263F"/>
                </a:solidFill>
                <a:latin typeface="Calibri" pitchFamily="34" charset="0"/>
                <a:ea typeface="Calibri" pitchFamily="34" charset="-122"/>
                <a:cs typeface="Calibri" pitchFamily="34" charset="-120"/>
              </a:rPr>
              <a:t>Die Cast Production</a:t>
            </a:r>
            <a:pPr indent="0" marL="0">
              <a:spcAft>
                <a:spcPts val="1000"/>
              </a:spcAft>
              <a:buNone/>
            </a:pPr>
            <a:r>
              <a:rPr lang="en-US" sz="1800" dirty="0">
                <a:solidFill>
                  <a:srgbClr val="1B1B1B"/>
                </a:solidFill>
                <a:latin typeface="Calibri" pitchFamily="34" charset="0"/>
                <a:ea typeface="Calibri" pitchFamily="34" charset="-122"/>
                <a:cs typeface="Calibri" pitchFamily="34" charset="-120"/>
              </a:rPr>
              <a:t> screen.</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Help with any amber number nobody can explain.</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Check downtime has a reason on it.</a:t>
            </a:r>
            <a:endParaRPr lang="en-US" sz="1800" dirty="0"/>
          </a:p>
        </p:txBody>
      </p:sp>
      <p:sp>
        <p:nvSpPr>
          <p:cNvPr id="10" name="Shape 8"/>
          <p:cNvSpPr/>
          <p:nvPr/>
        </p:nvSpPr>
        <p:spPr>
          <a:xfrm>
            <a:off x="8153400" y="1234440"/>
            <a:ext cx="3596640" cy="5212080"/>
          </a:xfrm>
          <a:prstGeom prst="roundRect">
            <a:avLst>
              <a:gd name="adj" fmla="val 2034"/>
            </a:avLst>
          </a:prstGeom>
          <a:solidFill>
            <a:srgbClr val="EEF2F7"/>
          </a:solidFill>
          <a:ln w="12700">
            <a:solidFill>
              <a:srgbClr val="EEF2F7"/>
            </a:solidFill>
            <a:prstDash val="solid"/>
          </a:ln>
        </p:spPr>
      </p:sp>
      <p:sp>
        <p:nvSpPr>
          <p:cNvPr id="11" name="Text 9"/>
          <p:cNvSpPr txBox="1"/>
          <p:nvPr/>
        </p:nvSpPr>
        <p:spPr>
          <a:xfrm>
            <a:off x="8382000" y="1371600"/>
            <a:ext cx="3139440" cy="457200"/>
          </a:xfrm>
          <a:prstGeom prst="rect">
            <a:avLst/>
          </a:prstGeom>
          <a:noFill/>
          <a:ln/>
        </p:spPr>
        <p:txBody>
          <a:bodyPr wrap="square" lIns="0" tIns="0" rIns="0" bIns="0" rtlCol="0" anchor="ctr"/>
          <a:lstStyle/>
          <a:p>
            <a:pPr indent="0" marL="0">
              <a:buNone/>
            </a:pPr>
            <a:r>
              <a:rPr lang="en-US" sz="2000" b="1" dirty="0">
                <a:solidFill>
                  <a:srgbClr val="12263F"/>
                </a:solidFill>
                <a:latin typeface="Calibri" pitchFamily="34" charset="0"/>
                <a:ea typeface="Calibri" pitchFamily="34" charset="-122"/>
                <a:cs typeface="Calibri" pitchFamily="34" charset="-120"/>
              </a:rPr>
              <a:t>End of shift</a:t>
            </a:r>
            <a:endParaRPr lang="en-US" sz="2000" dirty="0"/>
          </a:p>
        </p:txBody>
      </p:sp>
      <p:sp>
        <p:nvSpPr>
          <p:cNvPr id="12" name="Text 10"/>
          <p:cNvSpPr txBox="1"/>
          <p:nvPr/>
        </p:nvSpPr>
        <p:spPr>
          <a:xfrm>
            <a:off x="8382000" y="1920240"/>
            <a:ext cx="3139440"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Check every press sent its shift entry.</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Compare this shift with the last one.</a:t>
            </a:r>
            <a:endParaRPr lang="en-US" sz="1800" dirty="0"/>
          </a:p>
          <a:p>
            <a:pPr marL="342900" indent="-342900">
              <a:spcAft>
                <a:spcPts val="1000"/>
              </a:spcAft>
              <a:buSzPct val="100000"/>
              <a:buChar char="•"/>
            </a:pPr>
            <a:r>
              <a:rPr lang="en-US" sz="1800" dirty="0">
                <a:solidFill>
                  <a:srgbClr val="1B1B1B"/>
                </a:solidFill>
                <a:latin typeface="Calibri" pitchFamily="34" charset="0"/>
                <a:ea typeface="Calibri" pitchFamily="34" charset="-122"/>
                <a:cs typeface="Calibri" pitchFamily="34" charset="-120"/>
              </a:rPr>
              <a:t>Pass on anything odd to the next team lead.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Die Cast Terminal Training</dc:title>
  <dc:subject>PptxGenJS Presentation</dc:subject>
  <dc:creator>Blue Ridge Automation</dc:creator>
  <cp:lastModifiedBy>Blue Ridge Automation</cp:lastModifiedBy>
  <cp:revision>1</cp:revision>
  <dcterms:created xsi:type="dcterms:W3CDTF">2026-09-21T21:59:19Z</dcterms:created>
  <dcterms:modified xsi:type="dcterms:W3CDTF">2026-09-21T21:59:19Z</dcterms:modified>
</cp:coreProperties>
</file>