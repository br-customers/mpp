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learn the die cast screen at the press. It keeps track of every basket we make. Part 1 is for everyone. Part 2 is for team leads.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 Honda supplier. They can ask us to trace one part back to the press, the die and the shift that made it. The old paper sheets did this job. The screen does it now. A basket with no ticket scanned is a gap we cannot fill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a real die and a real basket while you go through these. Most people know the things, not the words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you use most. Each row is one cavity of the die. Rows are grouped by the part they make. Orange words mean the cavity has no basket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 tells the screen who is working. It is not a password. Everything you do is saved under your name until someone else signs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Re-type is the big button on purpose. One wrong digit would make a second copy of you. Only register if you are new, or you were given a new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terminal can run more than one machine. The screen remembers the last machine used, so always check it. If the die is wrong, every basket goes against the wrong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tap, the row shows the ticket number, and a green line says Basket opened. Scanned the wrong ticket? Tap Clear to empty the boxes and start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after a die change, when every cavity is empty. Scan every ticket first. Then open them all with one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count going in, or type the press counter number and the count fills in by itself. You never subtract anything. The screen does it. Did you swap the basket earlier? Use the number you wrote down then, not the number now. Cannot see Release basket? Scroll down inside the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only when the press counter number is wrong. For example, the counter was set back to zero, or a wrong number was typed before. Type what the counter really shows. Then finish the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the counter was zeroed, or a wrong number went in earlier. Pieces already in the baskets do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a ticket was opened by mistake and no parts went in. The ticket is scrapped and the cavity is free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at the end of your shift, before you hand over. It settles the numbers for your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 shows the current shift and the two before it, so you can still enter a shift that just ended. Compute fills in the table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lost shot costs one part on every cavity. So type the number of shots. The screen multiplies by the cavities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starts from the press counter, minus scrap. Once you type your own number, it stays. Lines that count baskets type a number here. Lines that read the counter can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scrap button shows the total. The number in brackets is how many reasons you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Amber means shots, good and scrap do not add up. That is not an error. It just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reasons ask for a note. A short note, like found the cavity empty at 2:40, helps a lot later. Once you send it, the entry cannot be changed at the terminal. If you made a mistake, call your team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stop needs a reason. The list shows the stops for this shift. Log them as soon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keep working under someone else's PIN. The screen saves every basket under the person signed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one slide and keep it at the press. It is the whole day on one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Operators can stay for this part, but these jobs need a team lead sign-in.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jobs need a team lead. Use your own account, never someone else's. After five minutes it ends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screen shows the wrong die, every basket is saved against the wrong die. Check the die name after you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screen shows the wrong die, every basket is saved against the wrong die. Check the die name after you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screen shows the wrong die, every basket is saved against the wrong die. Check the die name after you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it when the screen is stuck, or the wrong person is signed in. Make sure nothing is half done before you tap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only reads numbers. It never changes anything. Good parts come from the shift entries operators send, so a press with no entry shows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entry that was never sent is the one to catch. The numbers cannot be fixed at the terminal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F"/>
        </a:solidFill>
      </p:bgPr>
    </p:bg>
    <p:spTree>
      <p:nvGrpSpPr>
        <p:cNvPr id="1" name=""/>
        <p:cNvGrpSpPr/>
        <p:nvPr/>
      </p:nvGrpSpPr>
      <p:grpSpPr>
        <a:xfrm>
          <a:off x="0" y="0"/>
          <a:ext cx="0" cy="0"/>
          <a:chOff x="0" y="0"/>
          <a:chExt cx="0" cy="0"/>
        </a:xfrm>
      </p:grpSpPr>
      <p:sp>
        <p:nvSpPr>
          <p:cNvPr id="2" name="Text 0"/>
          <p:cNvSpPr txBox="1"/>
          <p:nvPr/>
        </p:nvSpPr>
        <p:spPr>
          <a:xfrm>
            <a:off x="731520" y="2377440"/>
            <a:ext cx="10698480" cy="10972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Die Cast Terminal Training</a:t>
            </a:r>
            <a:endParaRPr lang="en-US" sz="4400" dirty="0"/>
          </a:p>
        </p:txBody>
      </p:sp>
      <p:sp>
        <p:nvSpPr>
          <p:cNvPr id="3" name="Text 1"/>
          <p:cNvSpPr txBox="1"/>
          <p:nvPr/>
        </p:nvSpPr>
        <p:spPr>
          <a:xfrm>
            <a:off x="731520" y="3474720"/>
            <a:ext cx="10698480" cy="548640"/>
          </a:xfrm>
          <a:prstGeom prst="rect">
            <a:avLst/>
          </a:prstGeom>
          <a:noFill/>
          <a:ln/>
        </p:spPr>
        <p:txBody>
          <a:bodyPr wrap="square" lIns="0" tIns="0" rIns="0" bIns="0" rtlCol="0" anchor="ctr"/>
          <a:lstStyle/>
          <a:p>
            <a:pPr indent="0" marL="0">
              <a:buNone/>
            </a:pPr>
            <a:r>
              <a:rPr lang="en-US" sz="2200" dirty="0">
                <a:solidFill>
                  <a:srgbClr val="FFB400"/>
                </a:solidFill>
                <a:latin typeface="Calibri" pitchFamily="34" charset="0"/>
                <a:ea typeface="Calibri" pitchFamily="34" charset="-122"/>
                <a:cs typeface="Calibri" pitchFamily="34" charset="-120"/>
              </a:rPr>
              <a:t>For operators and team leads - September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WHY WE DO THIS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ticket follows the parts</a:t>
            </a:r>
            <a:endParaRPr lang="en-US" sz="3200" dirty="0"/>
          </a:p>
        </p:txBody>
      </p:sp>
      <p:sp>
        <p:nvSpPr>
          <p:cNvPr id="4" name="Shape 2"/>
          <p:cNvSpPr/>
          <p:nvPr/>
        </p:nvSpPr>
        <p:spPr>
          <a:xfrm>
            <a:off x="731520" y="1508760"/>
            <a:ext cx="548640" cy="548640"/>
          </a:xfrm>
          <a:prstGeom prst="ellipse">
            <a:avLst/>
          </a:prstGeom>
          <a:solidFill>
            <a:srgbClr val="FFB400"/>
          </a:solidFill>
          <a:ln w="9525">
            <a:solidFill>
              <a:srgbClr val="111111"/>
            </a:solidFill>
            <a:prstDash val="solid"/>
          </a:ln>
        </p:spPr>
      </p:sp>
      <p:sp>
        <p:nvSpPr>
          <p:cNvPr id="5" name="Text 3"/>
          <p:cNvSpPr txBox="1"/>
          <p:nvPr/>
        </p:nvSpPr>
        <p:spPr>
          <a:xfrm>
            <a:off x="731520" y="150876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554480" y="146304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Every basket gets a ticket with a barcode.</a:t>
            </a:r>
            <a:endParaRPr lang="en-US" sz="2400" dirty="0"/>
          </a:p>
        </p:txBody>
      </p:sp>
      <p:sp>
        <p:nvSpPr>
          <p:cNvPr id="7" name="Shape 5"/>
          <p:cNvSpPr/>
          <p:nvPr/>
        </p:nvSpPr>
        <p:spPr>
          <a:xfrm>
            <a:off x="731520" y="2971800"/>
            <a:ext cx="548640" cy="548640"/>
          </a:xfrm>
          <a:prstGeom prst="ellipse">
            <a:avLst/>
          </a:prstGeom>
          <a:solidFill>
            <a:srgbClr val="FFB400"/>
          </a:solidFill>
          <a:ln w="9525">
            <a:solidFill>
              <a:srgbClr val="111111"/>
            </a:solidFill>
            <a:prstDash val="solid"/>
          </a:ln>
        </p:spPr>
      </p:sp>
      <p:sp>
        <p:nvSpPr>
          <p:cNvPr id="8" name="Text 6"/>
          <p:cNvSpPr txBox="1"/>
          <p:nvPr/>
        </p:nvSpPr>
        <p:spPr>
          <a:xfrm>
            <a:off x="731520" y="297180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554480" y="292608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You scan that ticket into the screen when the basket starts.</a:t>
            </a:r>
            <a:endParaRPr lang="en-US" sz="2400" dirty="0"/>
          </a:p>
        </p:txBody>
      </p:sp>
      <p:sp>
        <p:nvSpPr>
          <p:cNvPr id="10" name="Shape 8"/>
          <p:cNvSpPr/>
          <p:nvPr/>
        </p:nvSpPr>
        <p:spPr>
          <a:xfrm>
            <a:off x="731520" y="4434840"/>
            <a:ext cx="548640" cy="548640"/>
          </a:xfrm>
          <a:prstGeom prst="ellipse">
            <a:avLst/>
          </a:prstGeom>
          <a:solidFill>
            <a:srgbClr val="FFB400"/>
          </a:solidFill>
          <a:ln w="9525">
            <a:solidFill>
              <a:srgbClr val="111111"/>
            </a:solidFill>
            <a:prstDash val="solid"/>
          </a:ln>
        </p:spPr>
      </p:sp>
      <p:sp>
        <p:nvSpPr>
          <p:cNvPr id="11" name="Text 9"/>
          <p:cNvSpPr txBox="1"/>
          <p:nvPr/>
        </p:nvSpPr>
        <p:spPr>
          <a:xfrm>
            <a:off x="731520" y="443484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2" name="Text 10"/>
          <p:cNvSpPr txBox="1"/>
          <p:nvPr/>
        </p:nvSpPr>
        <p:spPr>
          <a:xfrm>
            <a:off x="1554480" y="438912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Honda can ask where one part came from. The ticket is how we answer.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BEFORE WE START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Words you will see</a:t>
            </a:r>
            <a:endParaRPr lang="en-US" sz="3200" dirty="0"/>
          </a:p>
        </p:txBody>
      </p:sp>
      <p:sp>
        <p:nvSpPr>
          <p:cNvPr id="4" name="Shape 2"/>
          <p:cNvSpPr/>
          <p:nvPr/>
        </p:nvSpPr>
        <p:spPr>
          <a:xfrm>
            <a:off x="411480" y="1280160"/>
            <a:ext cx="5486400" cy="1051560"/>
          </a:xfrm>
          <a:prstGeom prst="roundRect">
            <a:avLst>
              <a:gd name="adj" fmla="val 6957"/>
            </a:avLst>
          </a:prstGeom>
          <a:solidFill>
            <a:srgbClr val="EEF2F7"/>
          </a:solidFill>
          <a:ln w="12700">
            <a:solidFill>
              <a:srgbClr val="EEF2F7"/>
            </a:solidFill>
            <a:prstDash val="solid"/>
          </a:ln>
        </p:spPr>
      </p:sp>
      <p:sp>
        <p:nvSpPr>
          <p:cNvPr id="5" name="Text 3"/>
          <p:cNvSpPr txBox="1"/>
          <p:nvPr/>
        </p:nvSpPr>
        <p:spPr>
          <a:xfrm>
            <a:off x="640080" y="138988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Die</a:t>
            </a:r>
            <a:endParaRPr lang="en-US" sz="2000" dirty="0"/>
          </a:p>
        </p:txBody>
      </p:sp>
      <p:sp>
        <p:nvSpPr>
          <p:cNvPr id="6" name="Text 4"/>
          <p:cNvSpPr txBox="1"/>
          <p:nvPr/>
        </p:nvSpPr>
        <p:spPr>
          <a:xfrm>
            <a:off x="640080" y="178308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mold in the press.</a:t>
            </a:r>
            <a:endParaRPr lang="en-US" sz="1600" dirty="0"/>
          </a:p>
        </p:txBody>
      </p:sp>
      <p:sp>
        <p:nvSpPr>
          <p:cNvPr id="7" name="Shape 5"/>
          <p:cNvSpPr/>
          <p:nvPr/>
        </p:nvSpPr>
        <p:spPr>
          <a:xfrm>
            <a:off x="411480" y="2514600"/>
            <a:ext cx="5486400" cy="1051560"/>
          </a:xfrm>
          <a:prstGeom prst="roundRect">
            <a:avLst>
              <a:gd name="adj" fmla="val 6957"/>
            </a:avLst>
          </a:prstGeom>
          <a:solidFill>
            <a:srgbClr val="EEF2F7"/>
          </a:solidFill>
          <a:ln w="12700">
            <a:solidFill>
              <a:srgbClr val="EEF2F7"/>
            </a:solidFill>
            <a:prstDash val="solid"/>
          </a:ln>
        </p:spPr>
      </p:sp>
      <p:sp>
        <p:nvSpPr>
          <p:cNvPr id="8" name="Text 6"/>
          <p:cNvSpPr txBox="1"/>
          <p:nvPr/>
        </p:nvSpPr>
        <p:spPr>
          <a:xfrm>
            <a:off x="640080" y="262432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Cavity</a:t>
            </a:r>
            <a:endParaRPr lang="en-US" sz="2000" dirty="0"/>
          </a:p>
        </p:txBody>
      </p:sp>
      <p:sp>
        <p:nvSpPr>
          <p:cNvPr id="9" name="Text 7"/>
          <p:cNvSpPr txBox="1"/>
          <p:nvPr/>
        </p:nvSpPr>
        <p:spPr>
          <a:xfrm>
            <a:off x="640080" y="301752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One spot in the die. Each one makes a part.</a:t>
            </a:r>
            <a:endParaRPr lang="en-US" sz="1600" dirty="0"/>
          </a:p>
        </p:txBody>
      </p:sp>
      <p:sp>
        <p:nvSpPr>
          <p:cNvPr id="10" name="Shape 8"/>
          <p:cNvSpPr/>
          <p:nvPr/>
        </p:nvSpPr>
        <p:spPr>
          <a:xfrm>
            <a:off x="411480" y="3749040"/>
            <a:ext cx="5486400" cy="1051560"/>
          </a:xfrm>
          <a:prstGeom prst="roundRect">
            <a:avLst>
              <a:gd name="adj" fmla="val 6957"/>
            </a:avLst>
          </a:prstGeom>
          <a:solidFill>
            <a:srgbClr val="EEF2F7"/>
          </a:solidFill>
          <a:ln w="12700">
            <a:solidFill>
              <a:srgbClr val="EEF2F7"/>
            </a:solidFill>
            <a:prstDash val="solid"/>
          </a:ln>
        </p:spPr>
      </p:sp>
      <p:sp>
        <p:nvSpPr>
          <p:cNvPr id="11" name="Text 9"/>
          <p:cNvSpPr txBox="1"/>
          <p:nvPr/>
        </p:nvSpPr>
        <p:spPr>
          <a:xfrm>
            <a:off x="640080" y="385876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Basket</a:t>
            </a:r>
            <a:endParaRPr lang="en-US" sz="2000" dirty="0"/>
          </a:p>
        </p:txBody>
      </p:sp>
      <p:sp>
        <p:nvSpPr>
          <p:cNvPr id="12" name="Text 10"/>
          <p:cNvSpPr txBox="1"/>
          <p:nvPr/>
        </p:nvSpPr>
        <p:spPr>
          <a:xfrm>
            <a:off x="640080" y="425196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bin the parts drop into.</a:t>
            </a:r>
            <a:endParaRPr lang="en-US" sz="1600" dirty="0"/>
          </a:p>
        </p:txBody>
      </p:sp>
      <p:sp>
        <p:nvSpPr>
          <p:cNvPr id="13" name="Shape 11"/>
          <p:cNvSpPr/>
          <p:nvPr/>
        </p:nvSpPr>
        <p:spPr>
          <a:xfrm>
            <a:off x="411480" y="4983480"/>
            <a:ext cx="5486400" cy="1051560"/>
          </a:xfrm>
          <a:prstGeom prst="roundRect">
            <a:avLst>
              <a:gd name="adj" fmla="val 6957"/>
            </a:avLst>
          </a:prstGeom>
          <a:solidFill>
            <a:srgbClr val="EEF2F7"/>
          </a:solidFill>
          <a:ln w="12700">
            <a:solidFill>
              <a:srgbClr val="EEF2F7"/>
            </a:solidFill>
            <a:prstDash val="solid"/>
          </a:ln>
        </p:spPr>
      </p:sp>
      <p:sp>
        <p:nvSpPr>
          <p:cNvPr id="14" name="Text 12"/>
          <p:cNvSpPr txBox="1"/>
          <p:nvPr/>
        </p:nvSpPr>
        <p:spPr>
          <a:xfrm>
            <a:off x="640080" y="509320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Ticket (LTT)</a:t>
            </a:r>
            <a:endParaRPr lang="en-US" sz="2000" dirty="0"/>
          </a:p>
        </p:txBody>
      </p:sp>
      <p:sp>
        <p:nvSpPr>
          <p:cNvPr id="15" name="Text 13"/>
          <p:cNvSpPr txBox="1"/>
          <p:nvPr/>
        </p:nvSpPr>
        <p:spPr>
          <a:xfrm>
            <a:off x="640080" y="548640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barcode tag on the basket.</a:t>
            </a:r>
            <a:endParaRPr lang="en-US" sz="1600" dirty="0"/>
          </a:p>
        </p:txBody>
      </p:sp>
      <p:sp>
        <p:nvSpPr>
          <p:cNvPr id="16" name="Shape 14"/>
          <p:cNvSpPr/>
          <p:nvPr/>
        </p:nvSpPr>
        <p:spPr>
          <a:xfrm>
            <a:off x="6172200" y="1280160"/>
            <a:ext cx="5486400" cy="1051560"/>
          </a:xfrm>
          <a:prstGeom prst="roundRect">
            <a:avLst>
              <a:gd name="adj" fmla="val 6957"/>
            </a:avLst>
          </a:prstGeom>
          <a:solidFill>
            <a:srgbClr val="EEF2F7"/>
          </a:solidFill>
          <a:ln w="12700">
            <a:solidFill>
              <a:srgbClr val="EEF2F7"/>
            </a:solidFill>
            <a:prstDash val="solid"/>
          </a:ln>
        </p:spPr>
      </p:sp>
      <p:sp>
        <p:nvSpPr>
          <p:cNvPr id="17" name="Text 15"/>
          <p:cNvSpPr txBox="1"/>
          <p:nvPr/>
        </p:nvSpPr>
        <p:spPr>
          <a:xfrm>
            <a:off x="6400800" y="138988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Press counter</a:t>
            </a:r>
            <a:endParaRPr lang="en-US" sz="2000" dirty="0"/>
          </a:p>
        </p:txBody>
      </p:sp>
      <p:sp>
        <p:nvSpPr>
          <p:cNvPr id="18" name="Text 16"/>
          <p:cNvSpPr txBox="1"/>
          <p:nvPr/>
        </p:nvSpPr>
        <p:spPr>
          <a:xfrm>
            <a:off x="6400800" y="178308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shot number on the press.</a:t>
            </a:r>
            <a:endParaRPr lang="en-US" sz="1600" dirty="0"/>
          </a:p>
        </p:txBody>
      </p:sp>
      <p:sp>
        <p:nvSpPr>
          <p:cNvPr id="19" name="Shape 17"/>
          <p:cNvSpPr/>
          <p:nvPr/>
        </p:nvSpPr>
        <p:spPr>
          <a:xfrm>
            <a:off x="6172200" y="2514600"/>
            <a:ext cx="5486400" cy="1051560"/>
          </a:xfrm>
          <a:prstGeom prst="roundRect">
            <a:avLst>
              <a:gd name="adj" fmla="val 6957"/>
            </a:avLst>
          </a:prstGeom>
          <a:solidFill>
            <a:srgbClr val="EEF2F7"/>
          </a:solidFill>
          <a:ln w="12700">
            <a:solidFill>
              <a:srgbClr val="EEF2F7"/>
            </a:solidFill>
            <a:prstDash val="solid"/>
          </a:ln>
        </p:spPr>
      </p:sp>
      <p:sp>
        <p:nvSpPr>
          <p:cNvPr id="20" name="Text 18"/>
          <p:cNvSpPr txBox="1"/>
          <p:nvPr/>
        </p:nvSpPr>
        <p:spPr>
          <a:xfrm>
            <a:off x="6400800" y="262432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Shift</a:t>
            </a:r>
            <a:endParaRPr lang="en-US" sz="2000" dirty="0"/>
          </a:p>
        </p:txBody>
      </p:sp>
      <p:sp>
        <p:nvSpPr>
          <p:cNvPr id="21" name="Text 19"/>
          <p:cNvSpPr txBox="1"/>
          <p:nvPr/>
        </p:nvSpPr>
        <p:spPr>
          <a:xfrm>
            <a:off x="6400800" y="301752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Your work time, such as Second Shift.</a:t>
            </a:r>
            <a:endParaRPr lang="en-US" sz="1600" dirty="0"/>
          </a:p>
        </p:txBody>
      </p:sp>
      <p:sp>
        <p:nvSpPr>
          <p:cNvPr id="22" name="Shape 20"/>
          <p:cNvSpPr/>
          <p:nvPr/>
        </p:nvSpPr>
        <p:spPr>
          <a:xfrm>
            <a:off x="6172200" y="3749040"/>
            <a:ext cx="5486400" cy="1051560"/>
          </a:xfrm>
          <a:prstGeom prst="roundRect">
            <a:avLst>
              <a:gd name="adj" fmla="val 6957"/>
            </a:avLst>
          </a:prstGeom>
          <a:solidFill>
            <a:srgbClr val="EEF2F7"/>
          </a:solidFill>
          <a:ln w="12700">
            <a:solidFill>
              <a:srgbClr val="EEF2F7"/>
            </a:solidFill>
            <a:prstDash val="solid"/>
          </a:ln>
        </p:spPr>
      </p:sp>
      <p:sp>
        <p:nvSpPr>
          <p:cNvPr id="23" name="Text 21"/>
          <p:cNvSpPr txBox="1"/>
          <p:nvPr/>
        </p:nvSpPr>
        <p:spPr>
          <a:xfrm>
            <a:off x="6400800" y="385876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Scrap</a:t>
            </a:r>
            <a:endParaRPr lang="en-US" sz="2000" dirty="0"/>
          </a:p>
        </p:txBody>
      </p:sp>
      <p:sp>
        <p:nvSpPr>
          <p:cNvPr id="24" name="Text 22"/>
          <p:cNvSpPr txBox="1"/>
          <p:nvPr/>
        </p:nvSpPr>
        <p:spPr>
          <a:xfrm>
            <a:off x="6400800" y="425196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Parts we cannot use.</a:t>
            </a:r>
            <a:endParaRPr lang="en-US" sz="1600" dirty="0"/>
          </a:p>
        </p:txBody>
      </p:sp>
      <p:sp>
        <p:nvSpPr>
          <p:cNvPr id="25" name="Shape 23"/>
          <p:cNvSpPr/>
          <p:nvPr/>
        </p:nvSpPr>
        <p:spPr>
          <a:xfrm>
            <a:off x="6172200" y="4983480"/>
            <a:ext cx="5486400" cy="1051560"/>
          </a:xfrm>
          <a:prstGeom prst="roundRect">
            <a:avLst>
              <a:gd name="adj" fmla="val 6957"/>
            </a:avLst>
          </a:prstGeom>
          <a:solidFill>
            <a:srgbClr val="EEF2F7"/>
          </a:solidFill>
          <a:ln w="12700">
            <a:solidFill>
              <a:srgbClr val="EEF2F7"/>
            </a:solidFill>
            <a:prstDash val="solid"/>
          </a:ln>
        </p:spPr>
      </p:sp>
      <p:sp>
        <p:nvSpPr>
          <p:cNvPr id="26" name="Text 24"/>
          <p:cNvSpPr txBox="1"/>
          <p:nvPr/>
        </p:nvSpPr>
        <p:spPr>
          <a:xfrm>
            <a:off x="6400800" y="509320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Reconcile</a:t>
            </a:r>
            <a:endParaRPr lang="en-US" sz="2000" dirty="0"/>
          </a:p>
        </p:txBody>
      </p:sp>
      <p:sp>
        <p:nvSpPr>
          <p:cNvPr id="27" name="Text 25"/>
          <p:cNvSpPr txBox="1"/>
          <p:nvPr/>
        </p:nvSpPr>
        <p:spPr>
          <a:xfrm>
            <a:off x="6400800" y="548640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Settle up the numbers at the end of the shift.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SCREEN TOUR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Lot Management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830275" y="1211580"/>
            <a:ext cx="7299655" cy="280721"/>
          </a:xfrm>
          <a:prstGeom prst="rect">
            <a:avLst/>
          </a:prstGeom>
          <a:ln w="31750">
            <a:solidFill>
              <a:srgbClr val="000000">
                <a:alpha val="55000"/>
              </a:srgbClr>
            </a:solidFill>
            <a:prstDash val="solid"/>
          </a:ln>
        </p:spPr>
      </p:sp>
      <p:sp>
        <p:nvSpPr>
          <p:cNvPr id="6" name="Shape 3"/>
          <p:cNvSpPr/>
          <p:nvPr/>
        </p:nvSpPr>
        <p:spPr>
          <a:xfrm>
            <a:off x="839419" y="1220724"/>
            <a:ext cx="7281367" cy="262433"/>
          </a:xfrm>
          <a:prstGeom prst="rect">
            <a:avLst/>
          </a:prstGeom>
          <a:ln w="19050">
            <a:solidFill>
              <a:srgbClr val="2E86DE"/>
            </a:solidFill>
            <a:prstDash val="solid"/>
          </a:ln>
        </p:spPr>
      </p:sp>
      <p:sp>
        <p:nvSpPr>
          <p:cNvPr id="7" name="Shape 4"/>
          <p:cNvSpPr/>
          <p:nvPr/>
        </p:nvSpPr>
        <p:spPr>
          <a:xfrm>
            <a:off x="2553919" y="1634033"/>
            <a:ext cx="1505102" cy="213055"/>
          </a:xfrm>
          <a:prstGeom prst="rect">
            <a:avLst/>
          </a:prstGeom>
          <a:ln w="31750">
            <a:solidFill>
              <a:srgbClr val="000000">
                <a:alpha val="55000"/>
              </a:srgbClr>
            </a:solidFill>
            <a:prstDash val="solid"/>
          </a:ln>
        </p:spPr>
      </p:sp>
      <p:sp>
        <p:nvSpPr>
          <p:cNvPr id="8" name="Shape 5"/>
          <p:cNvSpPr/>
          <p:nvPr/>
        </p:nvSpPr>
        <p:spPr>
          <a:xfrm>
            <a:off x="2563063" y="1643177"/>
            <a:ext cx="1486814" cy="194767"/>
          </a:xfrm>
          <a:prstGeom prst="rect">
            <a:avLst/>
          </a:prstGeom>
          <a:ln w="19050">
            <a:solidFill>
              <a:srgbClr val="E67E22"/>
            </a:solidFill>
            <a:prstDash val="solid"/>
          </a:ln>
        </p:spPr>
      </p:sp>
      <p:sp>
        <p:nvSpPr>
          <p:cNvPr id="9" name="Shape 6"/>
          <p:cNvSpPr/>
          <p:nvPr/>
        </p:nvSpPr>
        <p:spPr>
          <a:xfrm>
            <a:off x="427025" y="1858061"/>
            <a:ext cx="2087575" cy="217627"/>
          </a:xfrm>
          <a:prstGeom prst="rect">
            <a:avLst/>
          </a:prstGeom>
          <a:ln w="31750">
            <a:solidFill>
              <a:srgbClr val="000000">
                <a:alpha val="55000"/>
              </a:srgbClr>
            </a:solidFill>
            <a:prstDash val="solid"/>
          </a:ln>
        </p:spPr>
      </p:sp>
      <p:sp>
        <p:nvSpPr>
          <p:cNvPr id="10" name="Shape 7"/>
          <p:cNvSpPr/>
          <p:nvPr/>
        </p:nvSpPr>
        <p:spPr>
          <a:xfrm>
            <a:off x="436169" y="1867205"/>
            <a:ext cx="2069287" cy="199339"/>
          </a:xfrm>
          <a:prstGeom prst="rect">
            <a:avLst/>
          </a:prstGeom>
          <a:ln w="19050">
            <a:solidFill>
              <a:srgbClr val="8E44AD"/>
            </a:solidFill>
            <a:prstDash val="solid"/>
          </a:ln>
        </p:spPr>
      </p:sp>
      <p:sp>
        <p:nvSpPr>
          <p:cNvPr id="11" name="Shape 8"/>
          <p:cNvSpPr/>
          <p:nvPr/>
        </p:nvSpPr>
        <p:spPr>
          <a:xfrm>
            <a:off x="543154" y="2144268"/>
            <a:ext cx="7509053" cy="213055"/>
          </a:xfrm>
          <a:prstGeom prst="rect">
            <a:avLst/>
          </a:prstGeom>
          <a:ln w="31750">
            <a:solidFill>
              <a:srgbClr val="000000">
                <a:alpha val="55000"/>
              </a:srgbClr>
            </a:solidFill>
            <a:prstDash val="solid"/>
          </a:ln>
        </p:spPr>
      </p:sp>
      <p:sp>
        <p:nvSpPr>
          <p:cNvPr id="12" name="Shape 9"/>
          <p:cNvSpPr/>
          <p:nvPr/>
        </p:nvSpPr>
        <p:spPr>
          <a:xfrm>
            <a:off x="552298" y="2153412"/>
            <a:ext cx="7490765" cy="194767"/>
          </a:xfrm>
          <a:prstGeom prst="rect">
            <a:avLst/>
          </a:prstGeom>
          <a:ln w="19050">
            <a:solidFill>
              <a:srgbClr val="16A085"/>
            </a:solidFill>
            <a:prstDash val="solid"/>
          </a:ln>
        </p:spPr>
      </p:sp>
      <p:sp>
        <p:nvSpPr>
          <p:cNvPr id="13" name="Shape 10"/>
          <p:cNvSpPr/>
          <p:nvPr/>
        </p:nvSpPr>
        <p:spPr>
          <a:xfrm>
            <a:off x="543154" y="2557577"/>
            <a:ext cx="7460590" cy="2904134"/>
          </a:xfrm>
          <a:prstGeom prst="rect">
            <a:avLst/>
          </a:prstGeom>
          <a:ln w="31750">
            <a:solidFill>
              <a:srgbClr val="000000">
                <a:alpha val="55000"/>
              </a:srgbClr>
            </a:solidFill>
            <a:prstDash val="solid"/>
          </a:ln>
        </p:spPr>
      </p:sp>
      <p:sp>
        <p:nvSpPr>
          <p:cNvPr id="14" name="Shape 11"/>
          <p:cNvSpPr/>
          <p:nvPr/>
        </p:nvSpPr>
        <p:spPr>
          <a:xfrm>
            <a:off x="552298" y="2566721"/>
            <a:ext cx="7442302" cy="2885846"/>
          </a:xfrm>
          <a:prstGeom prst="rect">
            <a:avLst/>
          </a:prstGeom>
          <a:ln w="19050">
            <a:solidFill>
              <a:srgbClr val="C0392B"/>
            </a:solidFill>
            <a:prstDash val="solid"/>
          </a:ln>
        </p:spPr>
      </p:sp>
      <p:sp>
        <p:nvSpPr>
          <p:cNvPr id="15" name="Shape 12"/>
          <p:cNvSpPr/>
          <p:nvPr/>
        </p:nvSpPr>
        <p:spPr>
          <a:xfrm>
            <a:off x="543154" y="5550408"/>
            <a:ext cx="3224174" cy="319126"/>
          </a:xfrm>
          <a:prstGeom prst="rect">
            <a:avLst/>
          </a:prstGeom>
          <a:ln w="31750">
            <a:solidFill>
              <a:srgbClr val="000000">
                <a:alpha val="55000"/>
              </a:srgbClr>
            </a:solidFill>
            <a:prstDash val="solid"/>
          </a:ln>
        </p:spPr>
      </p:sp>
      <p:sp>
        <p:nvSpPr>
          <p:cNvPr id="16" name="Shape 13"/>
          <p:cNvSpPr/>
          <p:nvPr/>
        </p:nvSpPr>
        <p:spPr>
          <a:xfrm>
            <a:off x="552298" y="5559552"/>
            <a:ext cx="3205886" cy="300838"/>
          </a:xfrm>
          <a:prstGeom prst="rect">
            <a:avLst/>
          </a:prstGeom>
          <a:ln w="19050">
            <a:solidFill>
              <a:srgbClr val="B7950B"/>
            </a:solidFill>
            <a:prstDash val="solid"/>
          </a:ln>
        </p:spPr>
      </p:sp>
      <p:sp>
        <p:nvSpPr>
          <p:cNvPr id="17" name="Shape 14"/>
          <p:cNvSpPr/>
          <p:nvPr/>
        </p:nvSpPr>
        <p:spPr>
          <a:xfrm>
            <a:off x="555955" y="1233068"/>
            <a:ext cx="237744" cy="237744"/>
          </a:xfrm>
          <a:prstGeom prst="roundRect">
            <a:avLst>
              <a:gd name="adj" fmla="val 15385"/>
            </a:avLst>
          </a:prstGeom>
          <a:solidFill>
            <a:srgbClr val="2E86DE"/>
          </a:solidFill>
          <a:ln w="9525">
            <a:solidFill>
              <a:srgbClr val="FFFFFF"/>
            </a:solidFill>
            <a:prstDash val="solid"/>
          </a:ln>
        </p:spPr>
      </p:sp>
      <p:sp>
        <p:nvSpPr>
          <p:cNvPr id="18" name="Text 15"/>
          <p:cNvSpPr txBox="1"/>
          <p:nvPr/>
        </p:nvSpPr>
        <p:spPr>
          <a:xfrm>
            <a:off x="555955" y="123306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9" name="Shape 16"/>
          <p:cNvSpPr/>
          <p:nvPr/>
        </p:nvSpPr>
        <p:spPr>
          <a:xfrm>
            <a:off x="2279599" y="1621688"/>
            <a:ext cx="237744" cy="237744"/>
          </a:xfrm>
          <a:prstGeom prst="roundRect">
            <a:avLst>
              <a:gd name="adj" fmla="val 15385"/>
            </a:avLst>
          </a:prstGeom>
          <a:solidFill>
            <a:srgbClr val="E67E22"/>
          </a:solidFill>
          <a:ln w="9525">
            <a:solidFill>
              <a:srgbClr val="FFFFFF"/>
            </a:solidFill>
            <a:prstDash val="solid"/>
          </a:ln>
        </p:spPr>
      </p:sp>
      <p:sp>
        <p:nvSpPr>
          <p:cNvPr id="20" name="Text 17"/>
          <p:cNvSpPr txBox="1"/>
          <p:nvPr/>
        </p:nvSpPr>
        <p:spPr>
          <a:xfrm>
            <a:off x="2279599" y="162168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21" name="Shape 18"/>
          <p:cNvSpPr/>
          <p:nvPr/>
        </p:nvSpPr>
        <p:spPr>
          <a:xfrm>
            <a:off x="436169" y="1583741"/>
            <a:ext cx="237744" cy="237744"/>
          </a:xfrm>
          <a:prstGeom prst="roundRect">
            <a:avLst>
              <a:gd name="adj" fmla="val 15385"/>
            </a:avLst>
          </a:prstGeom>
          <a:solidFill>
            <a:srgbClr val="8E44AD"/>
          </a:solidFill>
          <a:ln w="9525">
            <a:solidFill>
              <a:srgbClr val="FFFFFF"/>
            </a:solidFill>
            <a:prstDash val="solid"/>
          </a:ln>
        </p:spPr>
      </p:sp>
      <p:sp>
        <p:nvSpPr>
          <p:cNvPr id="22" name="Text 19"/>
          <p:cNvSpPr txBox="1"/>
          <p:nvPr/>
        </p:nvSpPr>
        <p:spPr>
          <a:xfrm>
            <a:off x="436169" y="158374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23" name="Shape 20"/>
          <p:cNvSpPr/>
          <p:nvPr/>
        </p:nvSpPr>
        <p:spPr>
          <a:xfrm>
            <a:off x="7805318" y="1869948"/>
            <a:ext cx="237744" cy="237744"/>
          </a:xfrm>
          <a:prstGeom prst="roundRect">
            <a:avLst>
              <a:gd name="adj" fmla="val 15385"/>
            </a:avLst>
          </a:prstGeom>
          <a:solidFill>
            <a:srgbClr val="16A085"/>
          </a:solidFill>
          <a:ln w="9525">
            <a:solidFill>
              <a:srgbClr val="FFFFFF"/>
            </a:solidFill>
            <a:prstDash val="solid"/>
          </a:ln>
        </p:spPr>
      </p:sp>
      <p:sp>
        <p:nvSpPr>
          <p:cNvPr id="24" name="Text 21"/>
          <p:cNvSpPr txBox="1"/>
          <p:nvPr/>
        </p:nvSpPr>
        <p:spPr>
          <a:xfrm>
            <a:off x="7805318" y="18699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5" name="Shape 22"/>
          <p:cNvSpPr/>
          <p:nvPr/>
        </p:nvSpPr>
        <p:spPr>
          <a:xfrm>
            <a:off x="7756855" y="5498287"/>
            <a:ext cx="237744" cy="237744"/>
          </a:xfrm>
          <a:prstGeom prst="roundRect">
            <a:avLst>
              <a:gd name="adj" fmla="val 15385"/>
            </a:avLst>
          </a:prstGeom>
          <a:solidFill>
            <a:srgbClr val="C0392B"/>
          </a:solidFill>
          <a:ln w="9525">
            <a:solidFill>
              <a:srgbClr val="FFFFFF"/>
            </a:solidFill>
            <a:prstDash val="solid"/>
          </a:ln>
        </p:spPr>
      </p:sp>
      <p:sp>
        <p:nvSpPr>
          <p:cNvPr id="26" name="Text 23"/>
          <p:cNvSpPr txBox="1"/>
          <p:nvPr/>
        </p:nvSpPr>
        <p:spPr>
          <a:xfrm>
            <a:off x="7756855" y="5498287"/>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a:t>
            </a:r>
            <a:endParaRPr lang="en-US" sz="1100" dirty="0"/>
          </a:p>
        </p:txBody>
      </p:sp>
      <p:sp>
        <p:nvSpPr>
          <p:cNvPr id="27" name="Shape 24"/>
          <p:cNvSpPr/>
          <p:nvPr/>
        </p:nvSpPr>
        <p:spPr>
          <a:xfrm>
            <a:off x="268834" y="5591099"/>
            <a:ext cx="237744" cy="237744"/>
          </a:xfrm>
          <a:prstGeom prst="roundRect">
            <a:avLst>
              <a:gd name="adj" fmla="val 15385"/>
            </a:avLst>
          </a:prstGeom>
          <a:solidFill>
            <a:srgbClr val="B7950B"/>
          </a:solidFill>
          <a:ln w="9525">
            <a:solidFill>
              <a:srgbClr val="FFFFFF"/>
            </a:solidFill>
            <a:prstDash val="solid"/>
          </a:ln>
        </p:spPr>
      </p:sp>
      <p:sp>
        <p:nvSpPr>
          <p:cNvPr id="28" name="Text 25"/>
          <p:cNvSpPr txBox="1"/>
          <p:nvPr/>
        </p:nvSpPr>
        <p:spPr>
          <a:xfrm>
            <a:off x="268834" y="559109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a:t>
            </a:r>
            <a:endParaRPr lang="en-US" sz="1100" dirty="0"/>
          </a:p>
        </p:txBody>
      </p:sp>
      <p:sp>
        <p:nvSpPr>
          <p:cNvPr id="29" name="Shape 26"/>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30" name="Text 27"/>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31" name="Text 28"/>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Top bar: Date Time, current shift, who is signed in, </a:t>
            </a:r>
            <a:pPr indent="0" marL="0">
              <a:buNone/>
            </a:pPr>
            <a:r>
              <a:rPr lang="en-US" sz="1500" b="1" dirty="0">
                <a:solidFill>
                  <a:srgbClr val="12263F"/>
                </a:solidFill>
                <a:latin typeface="Calibri" pitchFamily="34" charset="0"/>
                <a:ea typeface="Calibri" pitchFamily="34" charset="-122"/>
                <a:cs typeface="Calibri" pitchFamily="34" charset="-120"/>
              </a:rPr>
              <a:t>Downtime</a:t>
            </a:r>
            <a:endParaRPr lang="en-US" sz="1500" dirty="0"/>
          </a:p>
        </p:txBody>
      </p:sp>
      <p:sp>
        <p:nvSpPr>
          <p:cNvPr id="32" name="Shape 29"/>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33" name="Text 30"/>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34" name="Text 31"/>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Your machine</a:t>
            </a:r>
            <a:endParaRPr lang="en-US" sz="1500" dirty="0"/>
          </a:p>
        </p:txBody>
      </p:sp>
      <p:sp>
        <p:nvSpPr>
          <p:cNvPr id="35" name="Shape 32"/>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36" name="Text 33"/>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37" name="Text 34"/>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two tabs</a:t>
            </a:r>
            <a:endParaRPr lang="en-US" sz="1500" dirty="0"/>
          </a:p>
        </p:txBody>
      </p:sp>
      <p:sp>
        <p:nvSpPr>
          <p:cNvPr id="38" name="Shape 35"/>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9" name="Text 36"/>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0" name="Text 37"/>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die in this machine</a:t>
            </a:r>
            <a:endParaRPr lang="en-US" sz="1500" dirty="0"/>
          </a:p>
        </p:txBody>
      </p:sp>
      <p:sp>
        <p:nvSpPr>
          <p:cNvPr id="41" name="Shape 38"/>
          <p:cNvSpPr/>
          <p:nvPr/>
        </p:nvSpPr>
        <p:spPr>
          <a:xfrm>
            <a:off x="8458200" y="3776472"/>
            <a:ext cx="310896" cy="310896"/>
          </a:xfrm>
          <a:prstGeom prst="roundRect">
            <a:avLst>
              <a:gd name="adj" fmla="val 14706"/>
            </a:avLst>
          </a:prstGeom>
          <a:solidFill>
            <a:srgbClr val="C0392B"/>
          </a:solidFill>
          <a:ln w="12700">
            <a:solidFill>
              <a:srgbClr val="C0392B"/>
            </a:solidFill>
            <a:prstDash val="solid"/>
          </a:ln>
        </p:spPr>
      </p:sp>
      <p:sp>
        <p:nvSpPr>
          <p:cNvPr id="42" name="Text 39"/>
          <p:cNvSpPr txBox="1"/>
          <p:nvPr/>
        </p:nvSpPr>
        <p:spPr>
          <a:xfrm>
            <a:off x="8458200" y="3776472"/>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3" name="Text 40"/>
          <p:cNvSpPr txBox="1"/>
          <p:nvPr/>
        </p:nvSpPr>
        <p:spPr>
          <a:xfrm>
            <a:off x="8915400" y="3749040"/>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One row for each cavity</a:t>
            </a:r>
            <a:endParaRPr lang="en-US" sz="1500" dirty="0"/>
          </a:p>
        </p:txBody>
      </p:sp>
      <p:sp>
        <p:nvSpPr>
          <p:cNvPr id="44" name="Shape 41"/>
          <p:cNvSpPr/>
          <p:nvPr/>
        </p:nvSpPr>
        <p:spPr>
          <a:xfrm>
            <a:off x="8458200" y="4434840"/>
            <a:ext cx="310896" cy="310896"/>
          </a:xfrm>
          <a:prstGeom prst="roundRect">
            <a:avLst>
              <a:gd name="adj" fmla="val 14706"/>
            </a:avLst>
          </a:prstGeom>
          <a:solidFill>
            <a:srgbClr val="B7950B"/>
          </a:solidFill>
          <a:ln w="12700">
            <a:solidFill>
              <a:srgbClr val="B7950B"/>
            </a:solidFill>
            <a:prstDash val="solid"/>
          </a:ln>
        </p:spPr>
      </p:sp>
      <p:sp>
        <p:nvSpPr>
          <p:cNvPr id="45" name="Text 42"/>
          <p:cNvSpPr txBox="1"/>
          <p:nvPr/>
        </p:nvSpPr>
        <p:spPr>
          <a:xfrm>
            <a:off x="8458200" y="443484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6" name="Text 43"/>
          <p:cNvSpPr txBox="1"/>
          <p:nvPr/>
        </p:nvSpPr>
        <p:spPr>
          <a:xfrm>
            <a:off x="8915400" y="440740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Lot Management Open Cavity</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Sign in with your PIN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1486" cy="5303520"/>
          </a:xfrm>
          <a:prstGeom prst="rect">
            <a:avLst/>
          </a:prstGeom>
        </p:spPr>
      </p:pic>
      <p:sp>
        <p:nvSpPr>
          <p:cNvPr id="5" name="Shape 2"/>
          <p:cNvSpPr/>
          <p:nvPr/>
        </p:nvSpPr>
        <p:spPr>
          <a:xfrm>
            <a:off x="6016752" y="1619402"/>
            <a:ext cx="887882" cy="181966"/>
          </a:xfrm>
          <a:prstGeom prst="rect">
            <a:avLst/>
          </a:prstGeom>
          <a:ln w="31750">
            <a:solidFill>
              <a:srgbClr val="000000">
                <a:alpha val="55000"/>
              </a:srgbClr>
            </a:solidFill>
            <a:prstDash val="solid"/>
          </a:ln>
        </p:spPr>
      </p:sp>
      <p:sp>
        <p:nvSpPr>
          <p:cNvPr id="6" name="Shape 3"/>
          <p:cNvSpPr/>
          <p:nvPr/>
        </p:nvSpPr>
        <p:spPr>
          <a:xfrm>
            <a:off x="6025896" y="1628546"/>
            <a:ext cx="869594" cy="163678"/>
          </a:xfrm>
          <a:prstGeom prst="rect">
            <a:avLst/>
          </a:prstGeom>
          <a:ln w="19050">
            <a:solidFill>
              <a:srgbClr val="FFB400"/>
            </a:solidFill>
            <a:prstDash val="solid"/>
          </a:ln>
        </p:spPr>
      </p:sp>
      <p:sp>
        <p:nvSpPr>
          <p:cNvPr id="7" name="Shape 4"/>
          <p:cNvSpPr/>
          <p:nvPr/>
        </p:nvSpPr>
        <p:spPr>
          <a:xfrm>
            <a:off x="5879592" y="1482242"/>
            <a:ext cx="256032" cy="256032"/>
          </a:xfrm>
          <a:prstGeom prst="ellipse">
            <a:avLst/>
          </a:prstGeom>
          <a:solidFill>
            <a:srgbClr val="FFB400"/>
          </a:solidFill>
          <a:ln w="9525">
            <a:solidFill>
              <a:srgbClr val="111111"/>
            </a:solidFill>
            <a:prstDash val="solid"/>
          </a:ln>
        </p:spPr>
      </p:sp>
      <p:sp>
        <p:nvSpPr>
          <p:cNvPr id="8" name="Text 5"/>
          <p:cNvSpPr txBox="1"/>
          <p:nvPr/>
        </p:nvSpPr>
        <p:spPr>
          <a:xfrm>
            <a:off x="5879592" y="148224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559406" y="3567989"/>
            <a:ext cx="2210105" cy="2402129"/>
          </a:xfrm>
          <a:prstGeom prst="rect">
            <a:avLst/>
          </a:prstGeom>
          <a:ln w="31750">
            <a:solidFill>
              <a:srgbClr val="000000">
                <a:alpha val="55000"/>
              </a:srgbClr>
            </a:solidFill>
            <a:prstDash val="solid"/>
          </a:ln>
        </p:spPr>
      </p:sp>
      <p:sp>
        <p:nvSpPr>
          <p:cNvPr id="10" name="Shape 7"/>
          <p:cNvSpPr/>
          <p:nvPr/>
        </p:nvSpPr>
        <p:spPr>
          <a:xfrm>
            <a:off x="2568550" y="3577133"/>
            <a:ext cx="2191817" cy="2383841"/>
          </a:xfrm>
          <a:prstGeom prst="rect">
            <a:avLst/>
          </a:prstGeom>
          <a:ln w="19050">
            <a:solidFill>
              <a:srgbClr val="FFB400"/>
            </a:solidFill>
            <a:prstDash val="solid"/>
          </a:ln>
        </p:spPr>
      </p:sp>
      <p:sp>
        <p:nvSpPr>
          <p:cNvPr id="11" name="Shape 8"/>
          <p:cNvSpPr/>
          <p:nvPr/>
        </p:nvSpPr>
        <p:spPr>
          <a:xfrm>
            <a:off x="2422246" y="3430829"/>
            <a:ext cx="256032" cy="256032"/>
          </a:xfrm>
          <a:prstGeom prst="ellipse">
            <a:avLst/>
          </a:prstGeom>
          <a:solidFill>
            <a:srgbClr val="FFB400"/>
          </a:solidFill>
          <a:ln w="9525">
            <a:solidFill>
              <a:srgbClr val="111111"/>
            </a:solidFill>
            <a:prstDash val="solid"/>
          </a:ln>
        </p:spPr>
      </p:sp>
      <p:sp>
        <p:nvSpPr>
          <p:cNvPr id="12" name="Text 9"/>
          <p:cNvSpPr txBox="1"/>
          <p:nvPr/>
        </p:nvSpPr>
        <p:spPr>
          <a:xfrm>
            <a:off x="2422246" y="34308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616098" y="2675534"/>
            <a:ext cx="2040026" cy="317297"/>
          </a:xfrm>
          <a:prstGeom prst="rect">
            <a:avLst/>
          </a:prstGeom>
          <a:ln w="31750">
            <a:solidFill>
              <a:srgbClr val="000000">
                <a:alpha val="55000"/>
              </a:srgbClr>
            </a:solidFill>
            <a:prstDash val="solid"/>
          </a:ln>
        </p:spPr>
      </p:sp>
      <p:sp>
        <p:nvSpPr>
          <p:cNvPr id="14" name="Shape 11"/>
          <p:cNvSpPr/>
          <p:nvPr/>
        </p:nvSpPr>
        <p:spPr>
          <a:xfrm>
            <a:off x="2625242" y="2684678"/>
            <a:ext cx="2021738" cy="299009"/>
          </a:xfrm>
          <a:prstGeom prst="rect">
            <a:avLst/>
          </a:prstGeom>
          <a:ln w="19050">
            <a:solidFill>
              <a:srgbClr val="FFB400"/>
            </a:solidFill>
            <a:prstDash val="solid"/>
          </a:ln>
        </p:spPr>
      </p:sp>
      <p:sp>
        <p:nvSpPr>
          <p:cNvPr id="15" name="Shape 12"/>
          <p:cNvSpPr/>
          <p:nvPr/>
        </p:nvSpPr>
        <p:spPr>
          <a:xfrm>
            <a:off x="2478938" y="2538374"/>
            <a:ext cx="256032" cy="256032"/>
          </a:xfrm>
          <a:prstGeom prst="ellipse">
            <a:avLst/>
          </a:prstGeom>
          <a:solidFill>
            <a:srgbClr val="FFB400"/>
          </a:solidFill>
          <a:ln w="9525">
            <a:solidFill>
              <a:srgbClr val="111111"/>
            </a:solidFill>
            <a:prstDash val="solid"/>
          </a:ln>
        </p:spPr>
      </p:sp>
      <p:sp>
        <p:nvSpPr>
          <p:cNvPr id="16" name="Text 13"/>
          <p:cNvSpPr txBox="1"/>
          <p:nvPr/>
        </p:nvSpPr>
        <p:spPr>
          <a:xfrm>
            <a:off x="2478938" y="253837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When you first arrive at your terminal. Tap "Operator" to sign in.</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your five-digit PIN.</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number shows here.</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Full time employees pin start with a 0.</a:t>
            </a:r>
            <a:endParaRPr lang="en-US" sz="1300" dirty="0"/>
          </a:p>
          <a:p>
            <a:pPr indent="0" marL="0">
              <a:buNone/>
            </a:pPr>
            <a:endParaRPr lang="en-US" sz="1300" dirty="0"/>
          </a:p>
          <a:p>
            <a:pPr indent="0" marL="0">
              <a:buNone/>
            </a:pPr>
            <a:r>
              <a:rPr lang="en-US" sz="1300" dirty="0">
                <a:solidFill>
                  <a:srgbClr val="5A6472"/>
                </a:solidFill>
                <a:latin typeface="Calibri" pitchFamily="34" charset="0"/>
                <a:ea typeface="Calibri" pitchFamily="34" charset="-122"/>
                <a:cs typeface="Calibri" pitchFamily="34" charset="-120"/>
              </a:rPr>
              <a:t>Example 0 X X X X</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PIN not recognized</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11903" y="3655771"/>
            <a:ext cx="933602" cy="286207"/>
          </a:xfrm>
          <a:prstGeom prst="rect">
            <a:avLst/>
          </a:prstGeom>
          <a:ln w="31750">
            <a:solidFill>
              <a:srgbClr val="000000">
                <a:alpha val="55000"/>
              </a:srgbClr>
            </a:solidFill>
            <a:prstDash val="solid"/>
          </a:ln>
        </p:spPr>
      </p:sp>
      <p:sp>
        <p:nvSpPr>
          <p:cNvPr id="6" name="Shape 3"/>
          <p:cNvSpPr/>
          <p:nvPr/>
        </p:nvSpPr>
        <p:spPr>
          <a:xfrm>
            <a:off x="4721047" y="3664915"/>
            <a:ext cx="915314" cy="267919"/>
          </a:xfrm>
          <a:prstGeom prst="rect">
            <a:avLst/>
          </a:prstGeom>
          <a:ln w="19050">
            <a:solidFill>
              <a:srgbClr val="FFB400"/>
            </a:solidFill>
            <a:prstDash val="solid"/>
          </a:ln>
        </p:spPr>
      </p:sp>
      <p:sp>
        <p:nvSpPr>
          <p:cNvPr id="7" name="Shape 4"/>
          <p:cNvSpPr/>
          <p:nvPr/>
        </p:nvSpPr>
        <p:spPr>
          <a:xfrm>
            <a:off x="4574743" y="3518611"/>
            <a:ext cx="256032" cy="256032"/>
          </a:xfrm>
          <a:prstGeom prst="ellipse">
            <a:avLst/>
          </a:prstGeom>
          <a:solidFill>
            <a:srgbClr val="FFB400"/>
          </a:solidFill>
          <a:ln w="9525">
            <a:solidFill>
              <a:srgbClr val="111111"/>
            </a:solidFill>
            <a:prstDash val="solid"/>
          </a:ln>
        </p:spPr>
      </p:sp>
      <p:sp>
        <p:nvSpPr>
          <p:cNvPr id="8" name="Text 5"/>
          <p:cNvSpPr txBox="1"/>
          <p:nvPr/>
        </p:nvSpPr>
        <p:spPr>
          <a:xfrm>
            <a:off x="4574743" y="351861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941625" y="3655771"/>
            <a:ext cx="1409090" cy="286207"/>
          </a:xfrm>
          <a:prstGeom prst="rect">
            <a:avLst/>
          </a:prstGeom>
          <a:ln w="31750">
            <a:solidFill>
              <a:srgbClr val="000000">
                <a:alpha val="55000"/>
              </a:srgbClr>
            </a:solidFill>
            <a:prstDash val="solid"/>
          </a:ln>
        </p:spPr>
      </p:sp>
      <p:sp>
        <p:nvSpPr>
          <p:cNvPr id="10" name="Shape 7"/>
          <p:cNvSpPr/>
          <p:nvPr/>
        </p:nvSpPr>
        <p:spPr>
          <a:xfrm>
            <a:off x="2950769" y="3664915"/>
            <a:ext cx="1390802" cy="267919"/>
          </a:xfrm>
          <a:prstGeom prst="rect">
            <a:avLst/>
          </a:prstGeom>
          <a:ln w="19050">
            <a:solidFill>
              <a:srgbClr val="FFB400"/>
            </a:solidFill>
            <a:prstDash val="solid"/>
          </a:ln>
        </p:spPr>
      </p:sp>
      <p:sp>
        <p:nvSpPr>
          <p:cNvPr id="11" name="Shape 8"/>
          <p:cNvSpPr/>
          <p:nvPr/>
        </p:nvSpPr>
        <p:spPr>
          <a:xfrm>
            <a:off x="2804465" y="3518611"/>
            <a:ext cx="256032" cy="256032"/>
          </a:xfrm>
          <a:prstGeom prst="ellipse">
            <a:avLst/>
          </a:prstGeom>
          <a:solidFill>
            <a:srgbClr val="FFB400"/>
          </a:solidFill>
          <a:ln w="9525">
            <a:solidFill>
              <a:srgbClr val="111111"/>
            </a:solidFill>
            <a:prstDash val="solid"/>
          </a:ln>
        </p:spPr>
      </p:sp>
      <p:sp>
        <p:nvSpPr>
          <p:cNvPr id="12" name="Text 9"/>
          <p:cNvSpPr txBox="1"/>
          <p:nvPr/>
        </p:nvSpPr>
        <p:spPr>
          <a:xfrm>
            <a:off x="2804465" y="351861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Most of the time it is a typo. Tap </a:t>
            </a:r>
            <a:pPr indent="0" marL="0">
              <a:buNone/>
            </a:pPr>
            <a:r>
              <a:rPr lang="en-US" sz="1700" b="1" dirty="0">
                <a:solidFill>
                  <a:srgbClr val="12263F"/>
                </a:solidFill>
                <a:latin typeface="Calibri" pitchFamily="34" charset="0"/>
                <a:ea typeface="Calibri" pitchFamily="34" charset="-122"/>
                <a:cs typeface="Calibri" pitchFamily="34" charset="-120"/>
              </a:rPr>
              <a:t>Re-type PIN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New here? Tap </a:t>
            </a:r>
            <a:pPr indent="0" marL="0">
              <a:buNone/>
            </a:pPr>
            <a:r>
              <a:rPr lang="en-US" sz="1700" b="1" dirty="0">
                <a:solidFill>
                  <a:srgbClr val="12263F"/>
                </a:solidFill>
                <a:latin typeface="Calibri" pitchFamily="34" charset="0"/>
                <a:ea typeface="Calibri" pitchFamily="34" charset="-122"/>
                <a:cs typeface="Calibri" pitchFamily="34" charset="-120"/>
              </a:rPr>
              <a:t>Register New User</a:t>
            </a:r>
            <a:pPr indent="0" marL="0">
              <a:buNone/>
            </a:pPr>
            <a:r>
              <a:rPr lang="en-US" sz="1700" dirty="0">
                <a:solidFill>
                  <a:srgbClr val="1B1B1B"/>
                </a:solidFill>
                <a:latin typeface="Calibri" pitchFamily="34" charset="0"/>
                <a:ea typeface="Calibri" pitchFamily="34" charset="-122"/>
                <a:cs typeface="Calibri" pitchFamily="34" charset="-120"/>
              </a:rPr>
              <a:t>. Add your initials and name.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Pick your machine and check the die</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2595982" y="2014423"/>
            <a:ext cx="2678278" cy="381305"/>
          </a:xfrm>
          <a:prstGeom prst="rect">
            <a:avLst/>
          </a:prstGeom>
          <a:ln w="31750">
            <a:solidFill>
              <a:srgbClr val="000000">
                <a:alpha val="55000"/>
              </a:srgbClr>
            </a:solidFill>
            <a:prstDash val="solid"/>
          </a:ln>
        </p:spPr>
      </p:sp>
      <p:sp>
        <p:nvSpPr>
          <p:cNvPr id="6" name="Shape 3"/>
          <p:cNvSpPr/>
          <p:nvPr/>
        </p:nvSpPr>
        <p:spPr>
          <a:xfrm>
            <a:off x="2605126" y="2023567"/>
            <a:ext cx="2659990" cy="363017"/>
          </a:xfrm>
          <a:prstGeom prst="rect">
            <a:avLst/>
          </a:prstGeom>
          <a:ln w="19050">
            <a:solidFill>
              <a:srgbClr val="FFB400"/>
            </a:solidFill>
            <a:prstDash val="solid"/>
          </a:ln>
        </p:spPr>
      </p:sp>
      <p:sp>
        <p:nvSpPr>
          <p:cNvPr id="7" name="Shape 4"/>
          <p:cNvSpPr/>
          <p:nvPr/>
        </p:nvSpPr>
        <p:spPr>
          <a:xfrm>
            <a:off x="2458822" y="1877263"/>
            <a:ext cx="256032" cy="256032"/>
          </a:xfrm>
          <a:prstGeom prst="ellipse">
            <a:avLst/>
          </a:prstGeom>
          <a:solidFill>
            <a:srgbClr val="FFB400"/>
          </a:solidFill>
          <a:ln w="9525">
            <a:solidFill>
              <a:srgbClr val="111111"/>
            </a:solidFill>
            <a:prstDash val="solid"/>
          </a:ln>
        </p:spPr>
      </p:sp>
      <p:sp>
        <p:nvSpPr>
          <p:cNvPr id="8" name="Text 5"/>
          <p:cNvSpPr txBox="1"/>
          <p:nvPr/>
        </p:nvSpPr>
        <p:spPr>
          <a:xfrm>
            <a:off x="2458822" y="187726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324551" y="2049170"/>
            <a:ext cx="674827" cy="311810"/>
          </a:xfrm>
          <a:prstGeom prst="rect">
            <a:avLst/>
          </a:prstGeom>
          <a:ln w="31750">
            <a:solidFill>
              <a:srgbClr val="000000">
                <a:alpha val="55000"/>
              </a:srgbClr>
            </a:solidFill>
            <a:prstDash val="solid"/>
          </a:ln>
        </p:spPr>
      </p:sp>
      <p:sp>
        <p:nvSpPr>
          <p:cNvPr id="10" name="Shape 7"/>
          <p:cNvSpPr/>
          <p:nvPr/>
        </p:nvSpPr>
        <p:spPr>
          <a:xfrm>
            <a:off x="5333695" y="2058314"/>
            <a:ext cx="656539" cy="293522"/>
          </a:xfrm>
          <a:prstGeom prst="rect">
            <a:avLst/>
          </a:prstGeom>
          <a:ln w="19050">
            <a:solidFill>
              <a:srgbClr val="FFB400"/>
            </a:solidFill>
            <a:prstDash val="solid"/>
          </a:ln>
        </p:spPr>
      </p:sp>
      <p:sp>
        <p:nvSpPr>
          <p:cNvPr id="11" name="Shape 8"/>
          <p:cNvSpPr/>
          <p:nvPr/>
        </p:nvSpPr>
        <p:spPr>
          <a:xfrm>
            <a:off x="5187391" y="1912010"/>
            <a:ext cx="256032" cy="256032"/>
          </a:xfrm>
          <a:prstGeom prst="ellipse">
            <a:avLst/>
          </a:prstGeom>
          <a:solidFill>
            <a:srgbClr val="FFB400"/>
          </a:solidFill>
          <a:ln w="9525">
            <a:solidFill>
              <a:srgbClr val="111111"/>
            </a:solidFill>
            <a:prstDash val="solid"/>
          </a:ln>
        </p:spPr>
      </p:sp>
      <p:sp>
        <p:nvSpPr>
          <p:cNvPr id="12" name="Text 9"/>
          <p:cNvSpPr txBox="1"/>
          <p:nvPr/>
        </p:nvSpPr>
        <p:spPr>
          <a:xfrm>
            <a:off x="5187391" y="191201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machine box. Pick your machine.</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die name here. It must match the die in the press.</a:t>
            </a:r>
            <a:endParaRPr lang="en-US" sz="1700" dirty="0"/>
          </a:p>
        </p:txBody>
      </p:sp>
      <p:sp>
        <p:nvSpPr>
          <p:cNvPr id="19" name="Text 16"/>
          <p:cNvSpPr txBox="1"/>
          <p:nvPr/>
        </p:nvSpPr>
        <p:spPr>
          <a:xfrm>
            <a:off x="8458200" y="30632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Wrong die on the screen? Stop and call your team lead.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Open a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38582" y="2906878"/>
            <a:ext cx="7469734" cy="392278"/>
          </a:xfrm>
          <a:prstGeom prst="rect">
            <a:avLst/>
          </a:prstGeom>
          <a:ln w="31750">
            <a:solidFill>
              <a:srgbClr val="000000">
                <a:alpha val="55000"/>
              </a:srgbClr>
            </a:solidFill>
            <a:prstDash val="solid"/>
          </a:ln>
        </p:spPr>
      </p:sp>
      <p:sp>
        <p:nvSpPr>
          <p:cNvPr id="6" name="Shape 3"/>
          <p:cNvSpPr/>
          <p:nvPr/>
        </p:nvSpPr>
        <p:spPr>
          <a:xfrm>
            <a:off x="547726" y="2916022"/>
            <a:ext cx="7451446" cy="373990"/>
          </a:xfrm>
          <a:prstGeom prst="rect">
            <a:avLst/>
          </a:prstGeom>
          <a:ln w="19050">
            <a:solidFill>
              <a:srgbClr val="FFB400"/>
            </a:solidFill>
            <a:prstDash val="solid"/>
          </a:ln>
        </p:spPr>
      </p:sp>
      <p:sp>
        <p:nvSpPr>
          <p:cNvPr id="7" name="Shape 4"/>
          <p:cNvSpPr/>
          <p:nvPr/>
        </p:nvSpPr>
        <p:spPr>
          <a:xfrm>
            <a:off x="411480" y="2769718"/>
            <a:ext cx="256032" cy="256032"/>
          </a:xfrm>
          <a:prstGeom prst="ellipse">
            <a:avLst/>
          </a:prstGeom>
          <a:solidFill>
            <a:srgbClr val="FFB400"/>
          </a:solidFill>
          <a:ln w="9525">
            <a:solidFill>
              <a:srgbClr val="111111"/>
            </a:solidFill>
            <a:prstDash val="solid"/>
          </a:ln>
        </p:spPr>
      </p:sp>
      <p:sp>
        <p:nvSpPr>
          <p:cNvPr id="8" name="Text 5"/>
          <p:cNvSpPr txBox="1"/>
          <p:nvPr/>
        </p:nvSpPr>
        <p:spPr>
          <a:xfrm>
            <a:off x="411480" y="276971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740603" y="2994660"/>
            <a:ext cx="1028700" cy="222199"/>
          </a:xfrm>
          <a:prstGeom prst="rect">
            <a:avLst/>
          </a:prstGeom>
          <a:ln w="31750">
            <a:solidFill>
              <a:srgbClr val="000000">
                <a:alpha val="55000"/>
              </a:srgbClr>
            </a:solidFill>
            <a:prstDash val="solid"/>
          </a:ln>
        </p:spPr>
      </p:sp>
      <p:sp>
        <p:nvSpPr>
          <p:cNvPr id="10" name="Shape 7"/>
          <p:cNvSpPr/>
          <p:nvPr/>
        </p:nvSpPr>
        <p:spPr>
          <a:xfrm>
            <a:off x="5749747" y="3003804"/>
            <a:ext cx="1010412" cy="203911"/>
          </a:xfrm>
          <a:prstGeom prst="rect">
            <a:avLst/>
          </a:prstGeom>
          <a:ln w="19050">
            <a:solidFill>
              <a:srgbClr val="FFB400"/>
            </a:solidFill>
            <a:prstDash val="solid"/>
          </a:ln>
        </p:spPr>
      </p:sp>
      <p:sp>
        <p:nvSpPr>
          <p:cNvPr id="11" name="Shape 8"/>
          <p:cNvSpPr/>
          <p:nvPr/>
        </p:nvSpPr>
        <p:spPr>
          <a:xfrm>
            <a:off x="5603443" y="2857500"/>
            <a:ext cx="256032" cy="256032"/>
          </a:xfrm>
          <a:prstGeom prst="ellipse">
            <a:avLst/>
          </a:prstGeom>
          <a:solidFill>
            <a:srgbClr val="FFB400"/>
          </a:solidFill>
          <a:ln w="9525">
            <a:solidFill>
              <a:srgbClr val="111111"/>
            </a:solidFill>
            <a:prstDash val="solid"/>
          </a:ln>
        </p:spPr>
      </p:sp>
      <p:sp>
        <p:nvSpPr>
          <p:cNvPr id="12" name="Text 9"/>
          <p:cNvSpPr txBox="1"/>
          <p:nvPr/>
        </p:nvSpPr>
        <p:spPr>
          <a:xfrm>
            <a:off x="5603443" y="28575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38582" y="5544922"/>
            <a:ext cx="1150315" cy="329184"/>
          </a:xfrm>
          <a:prstGeom prst="rect">
            <a:avLst/>
          </a:prstGeom>
          <a:ln w="31750">
            <a:solidFill>
              <a:srgbClr val="000000">
                <a:alpha val="55000"/>
              </a:srgbClr>
            </a:solidFill>
            <a:prstDash val="solid"/>
          </a:ln>
        </p:spPr>
      </p:sp>
      <p:sp>
        <p:nvSpPr>
          <p:cNvPr id="14" name="Shape 11"/>
          <p:cNvSpPr/>
          <p:nvPr/>
        </p:nvSpPr>
        <p:spPr>
          <a:xfrm>
            <a:off x="547726" y="5554066"/>
            <a:ext cx="1132027" cy="310896"/>
          </a:xfrm>
          <a:prstGeom prst="rect">
            <a:avLst/>
          </a:prstGeom>
          <a:ln w="19050">
            <a:solidFill>
              <a:srgbClr val="FFB400"/>
            </a:solidFill>
            <a:prstDash val="solid"/>
          </a:ln>
        </p:spPr>
      </p:sp>
      <p:sp>
        <p:nvSpPr>
          <p:cNvPr id="15" name="Shape 12"/>
          <p:cNvSpPr/>
          <p:nvPr/>
        </p:nvSpPr>
        <p:spPr>
          <a:xfrm>
            <a:off x="411480" y="5407762"/>
            <a:ext cx="256032" cy="256032"/>
          </a:xfrm>
          <a:prstGeom prst="ellipse">
            <a:avLst/>
          </a:prstGeom>
          <a:solidFill>
            <a:srgbClr val="FFB400"/>
          </a:solidFill>
          <a:ln w="9525">
            <a:solidFill>
              <a:srgbClr val="111111"/>
            </a:solidFill>
            <a:prstDash val="solid"/>
          </a:ln>
        </p:spPr>
      </p:sp>
      <p:sp>
        <p:nvSpPr>
          <p:cNvPr id="16" name="Text 13"/>
          <p:cNvSpPr txBox="1"/>
          <p:nvPr/>
        </p:nvSpPr>
        <p:spPr>
          <a:xfrm>
            <a:off x="411480" y="540776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flipH="1">
            <a:off x="2733142" y="2540203"/>
            <a:ext cx="502920" cy="402336"/>
          </a:xfrm>
          <a:prstGeom prst="line">
            <a:avLst/>
          </a:prstGeom>
          <a:noFill/>
          <a:ln w="57150">
            <a:solidFill>
              <a:srgbClr val="000000">
                <a:alpha val="60000"/>
              </a:srgbClr>
            </a:solidFill>
            <a:prstDash val="solid"/>
          </a:ln>
        </p:spPr>
      </p:sp>
      <p:sp>
        <p:nvSpPr>
          <p:cNvPr id="18" name="Shape 15"/>
          <p:cNvSpPr/>
          <p:nvPr/>
        </p:nvSpPr>
        <p:spPr>
          <a:xfrm flipH="1">
            <a:off x="2733142" y="2540203"/>
            <a:ext cx="502920" cy="402336"/>
          </a:xfrm>
          <a:prstGeom prst="line">
            <a:avLst/>
          </a:prstGeom>
          <a:noFill/>
          <a:ln w="31750">
            <a:solidFill>
              <a:srgbClr val="FFB400"/>
            </a:solidFill>
            <a:prstDash val="solid"/>
            <a:tailEnd type="triangle"/>
          </a:ln>
        </p:spPr>
      </p:sp>
      <p:sp>
        <p:nvSpPr>
          <p:cNvPr id="19" name="Shape 16"/>
          <p:cNvSpPr/>
          <p:nvPr/>
        </p:nvSpPr>
        <p:spPr>
          <a:xfrm>
            <a:off x="8458200" y="1179576"/>
            <a:ext cx="310896" cy="310896"/>
          </a:xfrm>
          <a:prstGeom prst="ellipse">
            <a:avLst/>
          </a:prstGeom>
          <a:solidFill>
            <a:srgbClr val="FFB400"/>
          </a:solidFill>
          <a:ln w="9525">
            <a:solidFill>
              <a:srgbClr val="111111"/>
            </a:solidFill>
            <a:prstDash val="solid"/>
          </a:ln>
        </p:spPr>
      </p:sp>
      <p:sp>
        <p:nvSpPr>
          <p:cNvPr id="20" name="Text 17"/>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1" name="Text 18"/>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Find the cavity that says </a:t>
            </a:r>
            <a:pPr indent="0" marL="0">
              <a:buNone/>
            </a:pPr>
            <a:r>
              <a:rPr lang="en-US" sz="1700" b="1" dirty="0">
                <a:solidFill>
                  <a:srgbClr val="12263F"/>
                </a:solidFill>
                <a:latin typeface="Calibri" pitchFamily="34" charset="0"/>
                <a:ea typeface="Calibri" pitchFamily="34" charset="-122"/>
                <a:cs typeface="Calibri" pitchFamily="34" charset="-120"/>
              </a:rPr>
              <a:t>no basket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2" name="Shape 19"/>
          <p:cNvSpPr/>
          <p:nvPr/>
        </p:nvSpPr>
        <p:spPr>
          <a:xfrm>
            <a:off x="8458200" y="2093976"/>
            <a:ext cx="310896" cy="310896"/>
          </a:xfrm>
          <a:prstGeom prst="ellipse">
            <a:avLst/>
          </a:prstGeom>
          <a:solidFill>
            <a:srgbClr val="FFB400"/>
          </a:solidFill>
          <a:ln w="9525">
            <a:solidFill>
              <a:srgbClr val="111111"/>
            </a:solidFill>
            <a:prstDash val="solid"/>
          </a:ln>
        </p:spPr>
      </p:sp>
      <p:sp>
        <p:nvSpPr>
          <p:cNvPr id="23" name="Text 20"/>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4" name="Text 21"/>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input field </a:t>
            </a:r>
            <a:pPr indent="0" marL="0">
              <a:buNone/>
            </a:pPr>
            <a:r>
              <a:rPr lang="en-US" sz="1700" b="1" dirty="0">
                <a:solidFill>
                  <a:srgbClr val="12263F"/>
                </a:solidFill>
                <a:latin typeface="Calibri" pitchFamily="34" charset="0"/>
                <a:ea typeface="Calibri" pitchFamily="34" charset="-122"/>
                <a:cs typeface="Calibri" pitchFamily="34" charset="-120"/>
              </a:rPr>
              <a:t>Scan LTT</a:t>
            </a:r>
            <a:pPr indent="0" marL="0">
              <a:buNone/>
            </a:pPr>
            <a:r>
              <a:rPr lang="en-US" sz="1700" dirty="0">
                <a:solidFill>
                  <a:srgbClr val="1B1B1B"/>
                </a:solidFill>
                <a:latin typeface="Calibri" pitchFamily="34" charset="0"/>
                <a:ea typeface="Calibri" pitchFamily="34" charset="-122"/>
                <a:cs typeface="Calibri" pitchFamily="34" charset="-120"/>
              </a:rPr>
              <a:t>. Scan the ticket on the basket. Tap anywhere else on the screen for the update to take</a:t>
            </a:r>
            <a:endParaRPr lang="en-US" sz="1700" dirty="0"/>
          </a:p>
        </p:txBody>
      </p:sp>
      <p:sp>
        <p:nvSpPr>
          <p:cNvPr id="25" name="Shape 22"/>
          <p:cNvSpPr/>
          <p:nvPr/>
        </p:nvSpPr>
        <p:spPr>
          <a:xfrm>
            <a:off x="8458200" y="3008376"/>
            <a:ext cx="310896" cy="310896"/>
          </a:xfrm>
          <a:prstGeom prst="ellipse">
            <a:avLst/>
          </a:prstGeom>
          <a:solidFill>
            <a:srgbClr val="FFB400"/>
          </a:solidFill>
          <a:ln w="9525">
            <a:solidFill>
              <a:srgbClr val="111111"/>
            </a:solidFill>
            <a:prstDash val="solid"/>
          </a:ln>
        </p:spPr>
      </p:sp>
      <p:sp>
        <p:nvSpPr>
          <p:cNvPr id="26" name="Text 23"/>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7" name="Text 24"/>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Open 1 basket(s)</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8" name="Text 25"/>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Scanning alone does not open it. You must tap the button.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CHANGEOVER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Start many baskets at once</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6289243" y="3565246"/>
            <a:ext cx="1132027" cy="1437437"/>
          </a:xfrm>
          <a:prstGeom prst="rect">
            <a:avLst/>
          </a:prstGeom>
          <a:ln w="31750">
            <a:solidFill>
              <a:srgbClr val="000000">
                <a:alpha val="55000"/>
              </a:srgbClr>
            </a:solidFill>
            <a:prstDash val="solid"/>
          </a:ln>
        </p:spPr>
      </p:sp>
      <p:sp>
        <p:nvSpPr>
          <p:cNvPr id="6" name="Shape 3"/>
          <p:cNvSpPr/>
          <p:nvPr/>
        </p:nvSpPr>
        <p:spPr>
          <a:xfrm>
            <a:off x="6298387" y="3574390"/>
            <a:ext cx="1113739" cy="1419149"/>
          </a:xfrm>
          <a:prstGeom prst="rect">
            <a:avLst/>
          </a:prstGeom>
          <a:ln w="19050">
            <a:solidFill>
              <a:srgbClr val="FFB400"/>
            </a:solidFill>
            <a:prstDash val="solid"/>
          </a:ln>
        </p:spPr>
      </p:sp>
      <p:sp>
        <p:nvSpPr>
          <p:cNvPr id="7" name="Shape 4"/>
          <p:cNvSpPr/>
          <p:nvPr/>
        </p:nvSpPr>
        <p:spPr>
          <a:xfrm>
            <a:off x="6152083" y="3428086"/>
            <a:ext cx="256032" cy="256032"/>
          </a:xfrm>
          <a:prstGeom prst="ellipse">
            <a:avLst/>
          </a:prstGeom>
          <a:solidFill>
            <a:srgbClr val="FFB400"/>
          </a:solidFill>
          <a:ln w="9525">
            <a:solidFill>
              <a:srgbClr val="111111"/>
            </a:solidFill>
            <a:prstDash val="solid"/>
          </a:ln>
        </p:spPr>
      </p:sp>
      <p:sp>
        <p:nvSpPr>
          <p:cNvPr id="8" name="Text 5"/>
          <p:cNvSpPr txBox="1"/>
          <p:nvPr/>
        </p:nvSpPr>
        <p:spPr>
          <a:xfrm>
            <a:off x="6152083" y="342808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52298" y="5943600"/>
            <a:ext cx="1266444" cy="361188"/>
          </a:xfrm>
          <a:prstGeom prst="rect">
            <a:avLst/>
          </a:prstGeom>
          <a:ln w="31750">
            <a:solidFill>
              <a:srgbClr val="000000">
                <a:alpha val="55000"/>
              </a:srgbClr>
            </a:solidFill>
            <a:prstDash val="solid"/>
          </a:ln>
        </p:spPr>
      </p:sp>
      <p:sp>
        <p:nvSpPr>
          <p:cNvPr id="10" name="Shape 7"/>
          <p:cNvSpPr/>
          <p:nvPr/>
        </p:nvSpPr>
        <p:spPr>
          <a:xfrm>
            <a:off x="561442" y="5952744"/>
            <a:ext cx="1248156" cy="342900"/>
          </a:xfrm>
          <a:prstGeom prst="rect">
            <a:avLst/>
          </a:prstGeom>
          <a:ln w="19050">
            <a:solidFill>
              <a:srgbClr val="FFB400"/>
            </a:solidFill>
            <a:prstDash val="solid"/>
          </a:ln>
        </p:spPr>
      </p:sp>
      <p:sp>
        <p:nvSpPr>
          <p:cNvPr id="11" name="Shape 8"/>
          <p:cNvSpPr/>
          <p:nvPr/>
        </p:nvSpPr>
        <p:spPr>
          <a:xfrm>
            <a:off x="415138" y="5806440"/>
            <a:ext cx="256032" cy="256032"/>
          </a:xfrm>
          <a:prstGeom prst="ellipse">
            <a:avLst/>
          </a:prstGeom>
          <a:solidFill>
            <a:srgbClr val="FFB400"/>
          </a:solidFill>
          <a:ln w="9525">
            <a:solidFill>
              <a:srgbClr val="111111"/>
            </a:solidFill>
            <a:prstDash val="solid"/>
          </a:ln>
        </p:spPr>
      </p:sp>
      <p:sp>
        <p:nvSpPr>
          <p:cNvPr id="12" name="Text 9"/>
          <p:cNvSpPr txBox="1"/>
          <p:nvPr/>
        </p:nvSpPr>
        <p:spPr>
          <a:xfrm>
            <a:off x="415138" y="580644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Scan a ticket into each empty row.</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a:t>
            </a:r>
            <a:pPr indent="0" marL="0">
              <a:buNone/>
            </a:pPr>
            <a:r>
              <a:rPr lang="en-US" sz="1700" b="1" dirty="0">
                <a:solidFill>
                  <a:srgbClr val="12263F"/>
                </a:solidFill>
                <a:latin typeface="Calibri" pitchFamily="34" charset="0"/>
                <a:ea typeface="Calibri" pitchFamily="34" charset="-122"/>
                <a:cs typeface="Calibri" pitchFamily="34" charset="-120"/>
              </a:rPr>
              <a:t>Open</a:t>
            </a:r>
            <a:pPr indent="0" marL="0">
              <a:buNone/>
            </a:pPr>
            <a:r>
              <a:rPr lang="en-US" sz="1700" dirty="0">
                <a:solidFill>
                  <a:srgbClr val="1B1B1B"/>
                </a:solidFill>
                <a:latin typeface="Calibri" pitchFamily="34" charset="0"/>
                <a:ea typeface="Calibri" pitchFamily="34" charset="-122"/>
                <a:cs typeface="Calibri" pitchFamily="34" charset="-120"/>
              </a:rPr>
              <a:t> button. It counts your scans.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Release a full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1691"/>
          </a:xfrm>
          <a:prstGeom prst="rect">
            <a:avLst/>
          </a:prstGeom>
        </p:spPr>
      </p:pic>
      <p:sp>
        <p:nvSpPr>
          <p:cNvPr id="5" name="Shape 2"/>
          <p:cNvSpPr/>
          <p:nvPr/>
        </p:nvSpPr>
        <p:spPr>
          <a:xfrm>
            <a:off x="6836054" y="2472538"/>
            <a:ext cx="781812" cy="299009"/>
          </a:xfrm>
          <a:prstGeom prst="rect">
            <a:avLst/>
          </a:prstGeom>
          <a:ln w="31750">
            <a:solidFill>
              <a:srgbClr val="000000">
                <a:alpha val="55000"/>
              </a:srgbClr>
            </a:solidFill>
            <a:prstDash val="solid"/>
          </a:ln>
        </p:spPr>
      </p:sp>
      <p:sp>
        <p:nvSpPr>
          <p:cNvPr id="6" name="Shape 3"/>
          <p:cNvSpPr/>
          <p:nvPr/>
        </p:nvSpPr>
        <p:spPr>
          <a:xfrm>
            <a:off x="6845198" y="2481682"/>
            <a:ext cx="763524" cy="280721"/>
          </a:xfrm>
          <a:prstGeom prst="rect">
            <a:avLst/>
          </a:prstGeom>
          <a:ln w="19050">
            <a:solidFill>
              <a:srgbClr val="FFB400"/>
            </a:solidFill>
            <a:prstDash val="solid"/>
          </a:ln>
        </p:spPr>
      </p:sp>
      <p:sp>
        <p:nvSpPr>
          <p:cNvPr id="7" name="Shape 4"/>
          <p:cNvSpPr/>
          <p:nvPr/>
        </p:nvSpPr>
        <p:spPr>
          <a:xfrm>
            <a:off x="6698894" y="2335378"/>
            <a:ext cx="256032" cy="256032"/>
          </a:xfrm>
          <a:prstGeom prst="ellipse">
            <a:avLst/>
          </a:prstGeom>
          <a:solidFill>
            <a:srgbClr val="FFB400"/>
          </a:solidFill>
          <a:ln w="9525">
            <a:solidFill>
              <a:srgbClr val="111111"/>
            </a:solidFill>
            <a:prstDash val="solid"/>
          </a:ln>
        </p:spPr>
      </p:sp>
      <p:sp>
        <p:nvSpPr>
          <p:cNvPr id="8" name="Text 5"/>
          <p:cNvSpPr txBox="1"/>
          <p:nvPr/>
        </p:nvSpPr>
        <p:spPr>
          <a:xfrm>
            <a:off x="6698894" y="23353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978408" y="2686507"/>
            <a:ext cx="1209751" cy="352958"/>
          </a:xfrm>
          <a:prstGeom prst="rect">
            <a:avLst/>
          </a:prstGeom>
          <a:ln w="31750">
            <a:solidFill>
              <a:srgbClr val="000000">
                <a:alpha val="55000"/>
              </a:srgbClr>
            </a:solidFill>
            <a:prstDash val="solid"/>
          </a:ln>
        </p:spPr>
      </p:sp>
      <p:sp>
        <p:nvSpPr>
          <p:cNvPr id="10" name="Shape 7"/>
          <p:cNvSpPr/>
          <p:nvPr/>
        </p:nvSpPr>
        <p:spPr>
          <a:xfrm>
            <a:off x="987552" y="2695651"/>
            <a:ext cx="1191463" cy="334670"/>
          </a:xfrm>
          <a:prstGeom prst="rect">
            <a:avLst/>
          </a:prstGeom>
          <a:ln w="19050">
            <a:solidFill>
              <a:srgbClr val="FFB400"/>
            </a:solidFill>
            <a:prstDash val="solid"/>
          </a:ln>
        </p:spPr>
      </p:sp>
      <p:sp>
        <p:nvSpPr>
          <p:cNvPr id="11" name="Shape 8"/>
          <p:cNvSpPr/>
          <p:nvPr/>
        </p:nvSpPr>
        <p:spPr>
          <a:xfrm>
            <a:off x="841248" y="2549347"/>
            <a:ext cx="256032" cy="256032"/>
          </a:xfrm>
          <a:prstGeom prst="ellipse">
            <a:avLst/>
          </a:prstGeom>
          <a:solidFill>
            <a:srgbClr val="FFB400"/>
          </a:solidFill>
          <a:ln w="9525">
            <a:solidFill>
              <a:srgbClr val="111111"/>
            </a:solidFill>
            <a:prstDash val="solid"/>
          </a:ln>
        </p:spPr>
      </p:sp>
      <p:sp>
        <p:nvSpPr>
          <p:cNvPr id="12" name="Text 9"/>
          <p:cNvSpPr txBox="1"/>
          <p:nvPr/>
        </p:nvSpPr>
        <p:spPr>
          <a:xfrm>
            <a:off x="841248" y="2549347"/>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978408" y="3557016"/>
            <a:ext cx="4825289" cy="607162"/>
          </a:xfrm>
          <a:prstGeom prst="rect">
            <a:avLst/>
          </a:prstGeom>
          <a:ln w="31750">
            <a:solidFill>
              <a:srgbClr val="000000">
                <a:alpha val="55000"/>
              </a:srgbClr>
            </a:solidFill>
            <a:prstDash val="solid"/>
          </a:ln>
        </p:spPr>
      </p:sp>
      <p:sp>
        <p:nvSpPr>
          <p:cNvPr id="14" name="Shape 11"/>
          <p:cNvSpPr/>
          <p:nvPr/>
        </p:nvSpPr>
        <p:spPr>
          <a:xfrm>
            <a:off x="987552" y="3566160"/>
            <a:ext cx="4807001" cy="588874"/>
          </a:xfrm>
          <a:prstGeom prst="rect">
            <a:avLst/>
          </a:prstGeom>
          <a:ln w="19050">
            <a:solidFill>
              <a:srgbClr val="FFB400"/>
            </a:solidFill>
            <a:prstDash val="solid"/>
          </a:ln>
        </p:spPr>
      </p:sp>
      <p:sp>
        <p:nvSpPr>
          <p:cNvPr id="15" name="Shape 12"/>
          <p:cNvSpPr/>
          <p:nvPr/>
        </p:nvSpPr>
        <p:spPr>
          <a:xfrm>
            <a:off x="841248" y="3419856"/>
            <a:ext cx="256032" cy="256032"/>
          </a:xfrm>
          <a:prstGeom prst="ellipse">
            <a:avLst/>
          </a:prstGeom>
          <a:solidFill>
            <a:srgbClr val="FFB400"/>
          </a:solidFill>
          <a:ln w="9525">
            <a:solidFill>
              <a:srgbClr val="111111"/>
            </a:solidFill>
            <a:prstDash val="solid"/>
          </a:ln>
        </p:spPr>
      </p:sp>
      <p:sp>
        <p:nvSpPr>
          <p:cNvPr id="16" name="Text 13"/>
          <p:cNvSpPr txBox="1"/>
          <p:nvPr/>
        </p:nvSpPr>
        <p:spPr>
          <a:xfrm>
            <a:off x="841248" y="341985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4332427" y="4186123"/>
            <a:ext cx="1471270" cy="312725"/>
          </a:xfrm>
          <a:prstGeom prst="rect">
            <a:avLst/>
          </a:prstGeom>
          <a:ln w="31750">
            <a:solidFill>
              <a:srgbClr val="000000">
                <a:alpha val="55000"/>
              </a:srgbClr>
            </a:solidFill>
            <a:prstDash val="solid"/>
          </a:ln>
        </p:spPr>
      </p:sp>
      <p:sp>
        <p:nvSpPr>
          <p:cNvPr id="18" name="Shape 15"/>
          <p:cNvSpPr/>
          <p:nvPr/>
        </p:nvSpPr>
        <p:spPr>
          <a:xfrm>
            <a:off x="4341571" y="4195267"/>
            <a:ext cx="1452982" cy="294437"/>
          </a:xfrm>
          <a:prstGeom prst="rect">
            <a:avLst/>
          </a:prstGeom>
          <a:ln w="19050">
            <a:solidFill>
              <a:srgbClr val="FFB400"/>
            </a:solidFill>
            <a:prstDash val="solid"/>
          </a:ln>
        </p:spPr>
      </p:sp>
      <p:sp>
        <p:nvSpPr>
          <p:cNvPr id="19" name="Shape 16"/>
          <p:cNvSpPr/>
          <p:nvPr/>
        </p:nvSpPr>
        <p:spPr>
          <a:xfrm>
            <a:off x="4195267" y="4048963"/>
            <a:ext cx="256032" cy="256032"/>
          </a:xfrm>
          <a:prstGeom prst="ellipse">
            <a:avLst/>
          </a:prstGeom>
          <a:solidFill>
            <a:srgbClr val="FFB400"/>
          </a:solidFill>
          <a:ln w="9525">
            <a:solidFill>
              <a:srgbClr val="111111"/>
            </a:solidFill>
            <a:prstDash val="solid"/>
          </a:ln>
        </p:spPr>
      </p:sp>
      <p:sp>
        <p:nvSpPr>
          <p:cNvPr id="20" name="Text 17"/>
          <p:cNvSpPr txBox="1"/>
          <p:nvPr/>
        </p:nvSpPr>
        <p:spPr>
          <a:xfrm>
            <a:off x="4195267" y="404896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4419295" y="4795114"/>
            <a:ext cx="1384402" cy="326441"/>
          </a:xfrm>
          <a:prstGeom prst="rect">
            <a:avLst/>
          </a:prstGeom>
          <a:ln w="31750">
            <a:solidFill>
              <a:srgbClr val="000000">
                <a:alpha val="55000"/>
              </a:srgbClr>
            </a:solidFill>
            <a:prstDash val="solid"/>
          </a:ln>
        </p:spPr>
      </p:sp>
      <p:sp>
        <p:nvSpPr>
          <p:cNvPr id="22" name="Shape 19"/>
          <p:cNvSpPr/>
          <p:nvPr/>
        </p:nvSpPr>
        <p:spPr>
          <a:xfrm>
            <a:off x="4428439" y="4804258"/>
            <a:ext cx="1366114" cy="308153"/>
          </a:xfrm>
          <a:prstGeom prst="rect">
            <a:avLst/>
          </a:prstGeom>
          <a:ln w="19050">
            <a:solidFill>
              <a:srgbClr val="FFB400"/>
            </a:solidFill>
            <a:prstDash val="solid"/>
          </a:ln>
        </p:spPr>
      </p:sp>
      <p:sp>
        <p:nvSpPr>
          <p:cNvPr id="23" name="Shape 20"/>
          <p:cNvSpPr/>
          <p:nvPr/>
        </p:nvSpPr>
        <p:spPr>
          <a:xfrm>
            <a:off x="4282135" y="4657954"/>
            <a:ext cx="256032" cy="256032"/>
          </a:xfrm>
          <a:prstGeom prst="ellipse">
            <a:avLst/>
          </a:prstGeom>
          <a:solidFill>
            <a:srgbClr val="FFB400"/>
          </a:solidFill>
          <a:ln w="9525">
            <a:solidFill>
              <a:srgbClr val="111111"/>
            </a:solidFill>
            <a:prstDash val="solid"/>
          </a:ln>
        </p:spPr>
      </p:sp>
      <p:sp>
        <p:nvSpPr>
          <p:cNvPr id="24" name="Text 21"/>
          <p:cNvSpPr txBox="1"/>
          <p:nvPr/>
        </p:nvSpPr>
        <p:spPr>
          <a:xfrm>
            <a:off x="4282135" y="465795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5</a:t>
            </a:r>
            <a:endParaRPr lang="en-US" sz="1200" dirty="0"/>
          </a:p>
        </p:txBody>
      </p:sp>
      <p:sp>
        <p:nvSpPr>
          <p:cNvPr id="25" name="Shape 22"/>
          <p:cNvSpPr/>
          <p:nvPr/>
        </p:nvSpPr>
        <p:spPr>
          <a:xfrm>
            <a:off x="8458200" y="1179576"/>
            <a:ext cx="310896" cy="310896"/>
          </a:xfrm>
          <a:prstGeom prst="ellipse">
            <a:avLst/>
          </a:prstGeom>
          <a:solidFill>
            <a:srgbClr val="FFB400"/>
          </a:solidFill>
          <a:ln w="9525">
            <a:solidFill>
              <a:srgbClr val="111111"/>
            </a:solidFill>
            <a:prstDash val="solid"/>
          </a:ln>
        </p:spPr>
      </p:sp>
      <p:sp>
        <p:nvSpPr>
          <p:cNvPr id="26" name="Text 23"/>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7" name="Text 24"/>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Release</a:t>
            </a:r>
            <a:pPr indent="0" marL="0">
              <a:buNone/>
            </a:pPr>
            <a:r>
              <a:rPr lang="en-US" sz="1700" dirty="0">
                <a:solidFill>
                  <a:srgbClr val="1B1B1B"/>
                </a:solidFill>
                <a:latin typeface="Calibri" pitchFamily="34" charset="0"/>
                <a:ea typeface="Calibri" pitchFamily="34" charset="-122"/>
                <a:cs typeface="Calibri" pitchFamily="34" charset="-120"/>
              </a:rPr>
              <a:t> on the full basket.</a:t>
            </a:r>
            <a:endParaRPr lang="en-US" sz="1700" dirty="0"/>
          </a:p>
        </p:txBody>
      </p:sp>
      <p:sp>
        <p:nvSpPr>
          <p:cNvPr id="28" name="Shape 25"/>
          <p:cNvSpPr/>
          <p:nvPr/>
        </p:nvSpPr>
        <p:spPr>
          <a:xfrm>
            <a:off x="8458200" y="2093976"/>
            <a:ext cx="310896" cy="310896"/>
          </a:xfrm>
          <a:prstGeom prst="ellipse">
            <a:avLst/>
          </a:prstGeom>
          <a:solidFill>
            <a:srgbClr val="FFB400"/>
          </a:solidFill>
          <a:ln w="9525">
            <a:solidFill>
              <a:srgbClr val="111111"/>
            </a:solidFill>
            <a:prstDash val="solid"/>
          </a:ln>
        </p:spPr>
      </p:sp>
      <p:sp>
        <p:nvSpPr>
          <p:cNvPr id="29" name="Text 26"/>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30" name="Text 27"/>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pieces you put in. Or type the press counter number below it.</a:t>
            </a:r>
            <a:endParaRPr lang="en-US" sz="1700" dirty="0"/>
          </a:p>
        </p:txBody>
      </p:sp>
      <p:sp>
        <p:nvSpPr>
          <p:cNvPr id="31" name="Shape 28"/>
          <p:cNvSpPr/>
          <p:nvPr/>
        </p:nvSpPr>
        <p:spPr>
          <a:xfrm>
            <a:off x="8458200" y="3008376"/>
            <a:ext cx="310896" cy="310896"/>
          </a:xfrm>
          <a:prstGeom prst="ellipse">
            <a:avLst/>
          </a:prstGeom>
          <a:solidFill>
            <a:srgbClr val="FFB400"/>
          </a:solidFill>
          <a:ln w="9525">
            <a:solidFill>
              <a:srgbClr val="111111"/>
            </a:solidFill>
            <a:prstDash val="solid"/>
          </a:ln>
        </p:spPr>
      </p:sp>
      <p:sp>
        <p:nvSpPr>
          <p:cNvPr id="32" name="Text 29"/>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33" name="Text 30"/>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three boxes. They add up for you.</a:t>
            </a:r>
            <a:endParaRPr lang="en-US" sz="1700" dirty="0"/>
          </a:p>
        </p:txBody>
      </p:sp>
      <p:sp>
        <p:nvSpPr>
          <p:cNvPr id="34" name="Shape 31"/>
          <p:cNvSpPr/>
          <p:nvPr/>
        </p:nvSpPr>
        <p:spPr>
          <a:xfrm>
            <a:off x="8458200" y="3922776"/>
            <a:ext cx="310896" cy="310896"/>
          </a:xfrm>
          <a:prstGeom prst="ellipse">
            <a:avLst/>
          </a:prstGeom>
          <a:solidFill>
            <a:srgbClr val="FFB400"/>
          </a:solidFill>
          <a:ln w="9525">
            <a:solidFill>
              <a:srgbClr val="111111"/>
            </a:solidFill>
            <a:prstDash val="solid"/>
          </a:ln>
        </p:spPr>
      </p:sp>
      <p:sp>
        <p:nvSpPr>
          <p:cNvPr id="35" name="Text 32"/>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6" name="Text 33"/>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Scrap in this basket? Tap </a:t>
            </a:r>
            <a:pPr indent="0" marL="0">
              <a:buNone/>
            </a:pPr>
            <a:r>
              <a:rPr lang="en-US" sz="1700" b="1" dirty="0">
                <a:solidFill>
                  <a:srgbClr val="12263F"/>
                </a:solidFill>
                <a:latin typeface="Calibri" pitchFamily="34" charset="0"/>
                <a:ea typeface="Calibri" pitchFamily="34" charset="-122"/>
                <a:cs typeface="Calibri" pitchFamily="34" charset="-120"/>
              </a:rPr>
              <a:t>Add scrap reason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7" name="Shape 34"/>
          <p:cNvSpPr/>
          <p:nvPr/>
        </p:nvSpPr>
        <p:spPr>
          <a:xfrm>
            <a:off x="8458200" y="4837176"/>
            <a:ext cx="310896" cy="310896"/>
          </a:xfrm>
          <a:prstGeom prst="ellipse">
            <a:avLst/>
          </a:prstGeom>
          <a:solidFill>
            <a:srgbClr val="FFB400"/>
          </a:solidFill>
          <a:ln w="9525">
            <a:solidFill>
              <a:srgbClr val="111111"/>
            </a:solidFill>
            <a:prstDash val="solid"/>
          </a:ln>
        </p:spPr>
      </p:sp>
      <p:sp>
        <p:nvSpPr>
          <p:cNvPr id="38" name="Text 35"/>
          <p:cNvSpPr txBox="1"/>
          <p:nvPr/>
        </p:nvSpPr>
        <p:spPr>
          <a:xfrm>
            <a:off x="8458200" y="48371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5</a:t>
            </a:r>
            <a:endParaRPr lang="en-US" sz="1200" dirty="0"/>
          </a:p>
        </p:txBody>
      </p:sp>
      <p:sp>
        <p:nvSpPr>
          <p:cNvPr id="39" name="Text 36"/>
          <p:cNvSpPr txBox="1"/>
          <p:nvPr/>
        </p:nvSpPr>
        <p:spPr>
          <a:xfrm>
            <a:off x="8897112" y="48006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Release basket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press counter number is wrong</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3062326" y="4079138"/>
            <a:ext cx="2470709" cy="381305"/>
          </a:xfrm>
          <a:prstGeom prst="rect">
            <a:avLst/>
          </a:prstGeom>
          <a:ln w="31750">
            <a:solidFill>
              <a:srgbClr val="000000">
                <a:alpha val="55000"/>
              </a:srgbClr>
            </a:solidFill>
            <a:prstDash val="solid"/>
          </a:ln>
        </p:spPr>
      </p:sp>
      <p:sp>
        <p:nvSpPr>
          <p:cNvPr id="6" name="Shape 3"/>
          <p:cNvSpPr/>
          <p:nvPr/>
        </p:nvSpPr>
        <p:spPr>
          <a:xfrm>
            <a:off x="3071470" y="4088282"/>
            <a:ext cx="2452421" cy="363017"/>
          </a:xfrm>
          <a:prstGeom prst="rect">
            <a:avLst/>
          </a:prstGeom>
          <a:ln w="19050">
            <a:solidFill>
              <a:srgbClr val="FFB400"/>
            </a:solidFill>
            <a:prstDash val="solid"/>
          </a:ln>
        </p:spPr>
      </p:sp>
      <p:sp>
        <p:nvSpPr>
          <p:cNvPr id="7" name="Shape 4"/>
          <p:cNvSpPr/>
          <p:nvPr/>
        </p:nvSpPr>
        <p:spPr>
          <a:xfrm>
            <a:off x="2925166" y="3941978"/>
            <a:ext cx="256032" cy="256032"/>
          </a:xfrm>
          <a:prstGeom prst="ellipse">
            <a:avLst/>
          </a:prstGeom>
          <a:solidFill>
            <a:srgbClr val="FFB400"/>
          </a:solidFill>
          <a:ln w="9525">
            <a:solidFill>
              <a:srgbClr val="111111"/>
            </a:solidFill>
            <a:prstDash val="solid"/>
          </a:ln>
        </p:spPr>
      </p:sp>
      <p:sp>
        <p:nvSpPr>
          <p:cNvPr id="8" name="Text 5"/>
          <p:cNvSpPr txBox="1"/>
          <p:nvPr/>
        </p:nvSpPr>
        <p:spPr>
          <a:xfrm>
            <a:off x="2925166" y="39419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8458200" y="1179576"/>
            <a:ext cx="310896" cy="310896"/>
          </a:xfrm>
          <a:prstGeom prst="ellipse">
            <a:avLst/>
          </a:prstGeom>
          <a:solidFill>
            <a:srgbClr val="FFB400"/>
          </a:solidFill>
          <a:ln w="9525">
            <a:solidFill>
              <a:srgbClr val="111111"/>
            </a:solidFill>
            <a:prstDash val="solid"/>
          </a:ln>
        </p:spPr>
      </p:sp>
      <p:sp>
        <p:nvSpPr>
          <p:cNvPr id="10" name="Text 7"/>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1" name="Text 8"/>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Press shot counter wrong? Reset it here with </a:t>
            </a:r>
            <a:pPr indent="0" marL="0">
              <a:buNone/>
            </a:pPr>
            <a:r>
              <a:rPr lang="en-US" sz="1700" b="1" dirty="0">
                <a:solidFill>
                  <a:srgbClr val="12263F"/>
                </a:solidFill>
                <a:latin typeface="Calibri" pitchFamily="34" charset="0"/>
                <a:ea typeface="Calibri" pitchFamily="34" charset="-122"/>
                <a:cs typeface="Calibri" pitchFamily="34" charset="-120"/>
              </a:rPr>
              <a:t>Counter reset / wrong total?</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WHEN IT LOOKS WRONG</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counter was reset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1533449" y="2058314"/>
            <a:ext cx="1555394" cy="381305"/>
          </a:xfrm>
          <a:prstGeom prst="rect">
            <a:avLst/>
          </a:prstGeom>
          <a:ln w="31750">
            <a:solidFill>
              <a:srgbClr val="000000">
                <a:alpha val="55000"/>
              </a:srgbClr>
            </a:solidFill>
            <a:prstDash val="solid"/>
          </a:ln>
        </p:spPr>
      </p:sp>
      <p:sp>
        <p:nvSpPr>
          <p:cNvPr id="6" name="Shape 3"/>
          <p:cNvSpPr/>
          <p:nvPr/>
        </p:nvSpPr>
        <p:spPr>
          <a:xfrm>
            <a:off x="1542593" y="2067458"/>
            <a:ext cx="1537106" cy="363017"/>
          </a:xfrm>
          <a:prstGeom prst="rect">
            <a:avLst/>
          </a:prstGeom>
          <a:ln w="19050">
            <a:solidFill>
              <a:srgbClr val="FFB400"/>
            </a:solidFill>
            <a:prstDash val="solid"/>
          </a:ln>
        </p:spPr>
      </p:sp>
      <p:sp>
        <p:nvSpPr>
          <p:cNvPr id="7" name="Shape 4"/>
          <p:cNvSpPr/>
          <p:nvPr/>
        </p:nvSpPr>
        <p:spPr>
          <a:xfrm>
            <a:off x="1396289" y="1921154"/>
            <a:ext cx="256032" cy="256032"/>
          </a:xfrm>
          <a:prstGeom prst="ellipse">
            <a:avLst/>
          </a:prstGeom>
          <a:solidFill>
            <a:srgbClr val="FFB400"/>
          </a:solidFill>
          <a:ln w="9525">
            <a:solidFill>
              <a:srgbClr val="111111"/>
            </a:solidFill>
            <a:prstDash val="solid"/>
          </a:ln>
        </p:spPr>
      </p:sp>
      <p:sp>
        <p:nvSpPr>
          <p:cNvPr id="8" name="Text 5"/>
          <p:cNvSpPr txBox="1"/>
          <p:nvPr/>
        </p:nvSpPr>
        <p:spPr>
          <a:xfrm>
            <a:off x="1396289" y="192115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533449" y="2507285"/>
            <a:ext cx="5528462" cy="709574"/>
          </a:xfrm>
          <a:prstGeom prst="rect">
            <a:avLst/>
          </a:prstGeom>
          <a:ln w="31750">
            <a:solidFill>
              <a:srgbClr val="000000">
                <a:alpha val="55000"/>
              </a:srgbClr>
            </a:solidFill>
            <a:prstDash val="solid"/>
          </a:ln>
        </p:spPr>
      </p:sp>
      <p:sp>
        <p:nvSpPr>
          <p:cNvPr id="10" name="Shape 7"/>
          <p:cNvSpPr/>
          <p:nvPr/>
        </p:nvSpPr>
        <p:spPr>
          <a:xfrm>
            <a:off x="1542593" y="2516429"/>
            <a:ext cx="5510174" cy="691286"/>
          </a:xfrm>
          <a:prstGeom prst="rect">
            <a:avLst/>
          </a:prstGeom>
          <a:ln w="19050">
            <a:solidFill>
              <a:srgbClr val="FFB400"/>
            </a:solidFill>
            <a:prstDash val="solid"/>
          </a:ln>
        </p:spPr>
      </p:sp>
      <p:sp>
        <p:nvSpPr>
          <p:cNvPr id="11" name="Shape 8"/>
          <p:cNvSpPr/>
          <p:nvPr/>
        </p:nvSpPr>
        <p:spPr>
          <a:xfrm>
            <a:off x="1396289" y="2370125"/>
            <a:ext cx="256032" cy="256032"/>
          </a:xfrm>
          <a:prstGeom prst="ellipse">
            <a:avLst/>
          </a:prstGeom>
          <a:solidFill>
            <a:srgbClr val="FFB400"/>
          </a:solidFill>
          <a:ln w="9525">
            <a:solidFill>
              <a:srgbClr val="111111"/>
            </a:solidFill>
            <a:prstDash val="solid"/>
          </a:ln>
        </p:spPr>
      </p:sp>
      <p:sp>
        <p:nvSpPr>
          <p:cNvPr id="12" name="Text 9"/>
          <p:cNvSpPr txBox="1"/>
          <p:nvPr/>
        </p:nvSpPr>
        <p:spPr>
          <a:xfrm>
            <a:off x="1396289" y="2370125"/>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1533449" y="3473806"/>
            <a:ext cx="5528462" cy="268834"/>
          </a:xfrm>
          <a:prstGeom prst="rect">
            <a:avLst/>
          </a:prstGeom>
          <a:ln w="31750">
            <a:solidFill>
              <a:srgbClr val="000000">
                <a:alpha val="55000"/>
              </a:srgbClr>
            </a:solidFill>
            <a:prstDash val="solid"/>
          </a:ln>
        </p:spPr>
      </p:sp>
      <p:sp>
        <p:nvSpPr>
          <p:cNvPr id="14" name="Shape 11"/>
          <p:cNvSpPr/>
          <p:nvPr/>
        </p:nvSpPr>
        <p:spPr>
          <a:xfrm>
            <a:off x="1542593" y="3482950"/>
            <a:ext cx="5510174" cy="250546"/>
          </a:xfrm>
          <a:prstGeom prst="rect">
            <a:avLst/>
          </a:prstGeom>
          <a:ln w="19050">
            <a:solidFill>
              <a:srgbClr val="FFB400"/>
            </a:solidFill>
            <a:prstDash val="solid"/>
          </a:ln>
        </p:spPr>
      </p:sp>
      <p:sp>
        <p:nvSpPr>
          <p:cNvPr id="15" name="Shape 12"/>
          <p:cNvSpPr/>
          <p:nvPr/>
        </p:nvSpPr>
        <p:spPr>
          <a:xfrm>
            <a:off x="1396289" y="3336646"/>
            <a:ext cx="256032" cy="256032"/>
          </a:xfrm>
          <a:prstGeom prst="ellipse">
            <a:avLst/>
          </a:prstGeom>
          <a:solidFill>
            <a:srgbClr val="FFB400"/>
          </a:solidFill>
          <a:ln w="9525">
            <a:solidFill>
              <a:srgbClr val="111111"/>
            </a:solidFill>
            <a:prstDash val="solid"/>
          </a:ln>
        </p:spPr>
      </p:sp>
      <p:sp>
        <p:nvSpPr>
          <p:cNvPr id="16" name="Text 13"/>
          <p:cNvSpPr txBox="1"/>
          <p:nvPr/>
        </p:nvSpPr>
        <p:spPr>
          <a:xfrm>
            <a:off x="1396289" y="33366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4910328" y="4959706"/>
            <a:ext cx="2151583" cy="570586"/>
          </a:xfrm>
          <a:prstGeom prst="rect">
            <a:avLst/>
          </a:prstGeom>
          <a:ln w="31750">
            <a:solidFill>
              <a:srgbClr val="000000">
                <a:alpha val="55000"/>
              </a:srgbClr>
            </a:solidFill>
            <a:prstDash val="solid"/>
          </a:ln>
        </p:spPr>
      </p:sp>
      <p:sp>
        <p:nvSpPr>
          <p:cNvPr id="18" name="Shape 15"/>
          <p:cNvSpPr/>
          <p:nvPr/>
        </p:nvSpPr>
        <p:spPr>
          <a:xfrm>
            <a:off x="4919472" y="4968850"/>
            <a:ext cx="2133295" cy="552298"/>
          </a:xfrm>
          <a:prstGeom prst="rect">
            <a:avLst/>
          </a:prstGeom>
          <a:ln w="19050">
            <a:solidFill>
              <a:srgbClr val="FFB400"/>
            </a:solidFill>
            <a:prstDash val="solid"/>
          </a:ln>
        </p:spPr>
      </p:sp>
      <p:sp>
        <p:nvSpPr>
          <p:cNvPr id="19" name="Shape 16"/>
          <p:cNvSpPr/>
          <p:nvPr/>
        </p:nvSpPr>
        <p:spPr>
          <a:xfrm>
            <a:off x="4773168" y="4822546"/>
            <a:ext cx="256032" cy="256032"/>
          </a:xfrm>
          <a:prstGeom prst="ellipse">
            <a:avLst/>
          </a:prstGeom>
          <a:solidFill>
            <a:srgbClr val="FFB400"/>
          </a:solidFill>
          <a:ln w="9525">
            <a:solidFill>
              <a:srgbClr val="111111"/>
            </a:solidFill>
            <a:prstDash val="solid"/>
          </a:ln>
        </p:spPr>
      </p:sp>
      <p:sp>
        <p:nvSpPr>
          <p:cNvPr id="20" name="Text 17"/>
          <p:cNvSpPr txBox="1"/>
          <p:nvPr/>
        </p:nvSpPr>
        <p:spPr>
          <a:xfrm>
            <a:off x="4773168" y="48225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Fix counter</a:t>
            </a:r>
            <a:pPr indent="0" marL="0">
              <a:buNone/>
            </a:pPr>
            <a:r>
              <a:rPr lang="en-US" sz="1700" dirty="0">
                <a:solidFill>
                  <a:srgbClr val="1B1B1B"/>
                </a:solidFill>
                <a:latin typeface="Calibri" pitchFamily="34" charset="0"/>
                <a:ea typeface="Calibri" pitchFamily="34" charset="-122"/>
                <a:cs typeface="Calibri" pitchFamily="34" charset="-120"/>
              </a:rPr>
              <a:t>. Type what the counter shows now.</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why it moved.</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Add a short note if you can.</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Record this reading</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3" name="Text 30"/>
          <p:cNvSpPr txBox="1"/>
          <p:nvPr/>
        </p:nvSpPr>
        <p:spPr>
          <a:xfrm>
            <a:off x="8458200" y="48920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Counter was set to zero? Type 0.</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Void an empty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38582" y="3280867"/>
            <a:ext cx="7469734" cy="396850"/>
          </a:xfrm>
          <a:prstGeom prst="rect">
            <a:avLst/>
          </a:prstGeom>
          <a:ln w="31750">
            <a:solidFill>
              <a:srgbClr val="000000">
                <a:alpha val="55000"/>
              </a:srgbClr>
            </a:solidFill>
            <a:prstDash val="solid"/>
          </a:ln>
        </p:spPr>
      </p:sp>
      <p:sp>
        <p:nvSpPr>
          <p:cNvPr id="6" name="Shape 3"/>
          <p:cNvSpPr/>
          <p:nvPr/>
        </p:nvSpPr>
        <p:spPr>
          <a:xfrm>
            <a:off x="547726" y="3290011"/>
            <a:ext cx="7451446" cy="378562"/>
          </a:xfrm>
          <a:prstGeom prst="rect">
            <a:avLst/>
          </a:prstGeom>
          <a:ln w="19050">
            <a:solidFill>
              <a:srgbClr val="FFB400"/>
            </a:solidFill>
            <a:prstDash val="solid"/>
          </a:ln>
        </p:spPr>
      </p:sp>
      <p:sp>
        <p:nvSpPr>
          <p:cNvPr id="7" name="Shape 4"/>
          <p:cNvSpPr/>
          <p:nvPr/>
        </p:nvSpPr>
        <p:spPr>
          <a:xfrm>
            <a:off x="411480" y="3143707"/>
            <a:ext cx="256032" cy="256032"/>
          </a:xfrm>
          <a:prstGeom prst="ellipse">
            <a:avLst/>
          </a:prstGeom>
          <a:solidFill>
            <a:srgbClr val="FFB400"/>
          </a:solidFill>
          <a:ln w="9525">
            <a:solidFill>
              <a:srgbClr val="111111"/>
            </a:solidFill>
            <a:prstDash val="solid"/>
          </a:ln>
        </p:spPr>
      </p:sp>
      <p:sp>
        <p:nvSpPr>
          <p:cNvPr id="8" name="Text 5"/>
          <p:cNvSpPr txBox="1"/>
          <p:nvPr/>
        </p:nvSpPr>
        <p:spPr>
          <a:xfrm>
            <a:off x="411480" y="3143707"/>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6149340" y="3373222"/>
            <a:ext cx="436169" cy="222199"/>
          </a:xfrm>
          <a:prstGeom prst="rect">
            <a:avLst/>
          </a:prstGeom>
          <a:ln w="31750">
            <a:solidFill>
              <a:srgbClr val="000000">
                <a:alpha val="55000"/>
              </a:srgbClr>
            </a:solidFill>
            <a:prstDash val="solid"/>
          </a:ln>
        </p:spPr>
      </p:sp>
      <p:sp>
        <p:nvSpPr>
          <p:cNvPr id="10" name="Shape 7"/>
          <p:cNvSpPr/>
          <p:nvPr/>
        </p:nvSpPr>
        <p:spPr>
          <a:xfrm>
            <a:off x="6158484" y="3382366"/>
            <a:ext cx="417881" cy="203911"/>
          </a:xfrm>
          <a:prstGeom prst="rect">
            <a:avLst/>
          </a:prstGeom>
          <a:ln w="19050">
            <a:solidFill>
              <a:srgbClr val="FFB400"/>
            </a:solidFill>
            <a:prstDash val="solid"/>
          </a:ln>
        </p:spPr>
      </p:sp>
      <p:sp>
        <p:nvSpPr>
          <p:cNvPr id="11" name="Shape 8"/>
          <p:cNvSpPr/>
          <p:nvPr/>
        </p:nvSpPr>
        <p:spPr>
          <a:xfrm>
            <a:off x="6012180" y="3236062"/>
            <a:ext cx="256032" cy="256032"/>
          </a:xfrm>
          <a:prstGeom prst="ellipse">
            <a:avLst/>
          </a:prstGeom>
          <a:solidFill>
            <a:srgbClr val="FFB400"/>
          </a:solidFill>
          <a:ln w="9525">
            <a:solidFill>
              <a:srgbClr val="111111"/>
            </a:solidFill>
            <a:prstDash val="solid"/>
          </a:ln>
        </p:spPr>
      </p:sp>
      <p:sp>
        <p:nvSpPr>
          <p:cNvPr id="12" name="Text 9"/>
          <p:cNvSpPr txBox="1"/>
          <p:nvPr/>
        </p:nvSpPr>
        <p:spPr>
          <a:xfrm>
            <a:off x="6012180" y="323606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031943" y="3961181"/>
            <a:ext cx="533095" cy="319126"/>
          </a:xfrm>
          <a:prstGeom prst="rect">
            <a:avLst/>
          </a:prstGeom>
          <a:ln w="31750">
            <a:solidFill>
              <a:srgbClr val="000000">
                <a:alpha val="55000"/>
              </a:srgbClr>
            </a:solidFill>
            <a:prstDash val="solid"/>
          </a:ln>
        </p:spPr>
      </p:sp>
      <p:sp>
        <p:nvSpPr>
          <p:cNvPr id="14" name="Shape 11"/>
          <p:cNvSpPr/>
          <p:nvPr/>
        </p:nvSpPr>
        <p:spPr>
          <a:xfrm>
            <a:off x="5041087" y="3970325"/>
            <a:ext cx="514807" cy="300838"/>
          </a:xfrm>
          <a:prstGeom prst="rect">
            <a:avLst/>
          </a:prstGeom>
          <a:ln w="19050">
            <a:solidFill>
              <a:srgbClr val="FFB400"/>
            </a:solidFill>
            <a:prstDash val="solid"/>
          </a:ln>
        </p:spPr>
      </p:sp>
      <p:sp>
        <p:nvSpPr>
          <p:cNvPr id="15" name="Shape 12"/>
          <p:cNvSpPr/>
          <p:nvPr/>
        </p:nvSpPr>
        <p:spPr>
          <a:xfrm>
            <a:off x="4894783" y="3824021"/>
            <a:ext cx="256032" cy="256032"/>
          </a:xfrm>
          <a:prstGeom prst="ellipse">
            <a:avLst/>
          </a:prstGeom>
          <a:solidFill>
            <a:srgbClr val="FFB400"/>
          </a:solidFill>
          <a:ln w="9525">
            <a:solidFill>
              <a:srgbClr val="111111"/>
            </a:solidFill>
            <a:prstDash val="solid"/>
          </a:ln>
        </p:spPr>
      </p:sp>
      <p:sp>
        <p:nvSpPr>
          <p:cNvPr id="16" name="Text 13"/>
          <p:cNvSpPr txBox="1"/>
          <p:nvPr/>
        </p:nvSpPr>
        <p:spPr>
          <a:xfrm>
            <a:off x="4894783" y="382402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Find the LOT you want to remove on the </a:t>
            </a:r>
            <a:pPr indent="0" marL="0">
              <a:buNone/>
            </a:pPr>
            <a:r>
              <a:rPr lang="en-US" sz="1700" b="1" dirty="0">
                <a:solidFill>
                  <a:srgbClr val="12263F"/>
                </a:solidFill>
                <a:latin typeface="Calibri" pitchFamily="34" charset="0"/>
                <a:ea typeface="Calibri" pitchFamily="34" charset="-122"/>
                <a:cs typeface="Calibri" pitchFamily="34" charset="-120"/>
              </a:rPr>
              <a:t>Lot Management</a:t>
            </a:r>
            <a:pPr indent="0" marL="0">
              <a:buNone/>
            </a:pPr>
            <a:r>
              <a:rPr lang="en-US" sz="1700" dirty="0">
                <a:solidFill>
                  <a:srgbClr val="1B1B1B"/>
                </a:solidFill>
                <a:latin typeface="Calibri" pitchFamily="34" charset="0"/>
                <a:ea typeface="Calibri" pitchFamily="34" charset="-122"/>
                <a:cs typeface="Calibri" pitchFamily="34" charset="-120"/>
              </a:rPr>
              <a:t> screen.</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Void</a:t>
            </a:r>
            <a:pPr indent="0" marL="0">
              <a:buNone/>
            </a:pPr>
            <a:r>
              <a:rPr lang="en-US" sz="1700" dirty="0">
                <a:solidFill>
                  <a:srgbClr val="1B1B1B"/>
                </a:solidFill>
                <a:latin typeface="Calibri" pitchFamily="34" charset="0"/>
                <a:ea typeface="Calibri" pitchFamily="34" charset="-122"/>
                <a:cs typeface="Calibri" pitchFamily="34" charset="-120"/>
              </a:rPr>
              <a:t> on that row.</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ticket number. Tap </a:t>
            </a:r>
            <a:pPr indent="0" marL="0">
              <a:buNone/>
            </a:pPr>
            <a:r>
              <a:rPr lang="en-US" sz="1700" b="1" dirty="0">
                <a:solidFill>
                  <a:srgbClr val="12263F"/>
                </a:solidFill>
                <a:latin typeface="Calibri" pitchFamily="34" charset="0"/>
                <a:ea typeface="Calibri" pitchFamily="34" charset="-122"/>
                <a:cs typeface="Calibri" pitchFamily="34" charset="-120"/>
              </a:rPr>
              <a:t>Void</a:t>
            </a:r>
            <a:pPr indent="0" marL="0">
              <a:buNone/>
            </a:pPr>
            <a:r>
              <a:rPr lang="en-US" sz="1700" dirty="0">
                <a:solidFill>
                  <a:srgbClr val="1B1B1B"/>
                </a:solidFill>
                <a:latin typeface="Calibri" pitchFamily="34" charset="0"/>
                <a:ea typeface="Calibri" pitchFamily="34" charset="-122"/>
                <a:cs typeface="Calibri" pitchFamily="34" charset="-120"/>
              </a:rPr>
              <a:t> to confirm.</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Only for a basket with nothing in it. It cannot be undone. It prevents that lot number from being used in the system for anything else.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SCREEN TOUR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Reconcile Shift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43154" y="2144268"/>
            <a:ext cx="3229661" cy="159106"/>
          </a:xfrm>
          <a:prstGeom prst="rect">
            <a:avLst/>
          </a:prstGeom>
          <a:ln w="31750">
            <a:solidFill>
              <a:srgbClr val="000000">
                <a:alpha val="55000"/>
              </a:srgbClr>
            </a:solidFill>
            <a:prstDash val="solid"/>
          </a:ln>
        </p:spPr>
      </p:sp>
      <p:sp>
        <p:nvSpPr>
          <p:cNvPr id="6" name="Shape 3"/>
          <p:cNvSpPr/>
          <p:nvPr/>
        </p:nvSpPr>
        <p:spPr>
          <a:xfrm>
            <a:off x="552298" y="2153412"/>
            <a:ext cx="3211373" cy="140818"/>
          </a:xfrm>
          <a:prstGeom prst="rect">
            <a:avLst/>
          </a:prstGeom>
          <a:ln w="19050">
            <a:solidFill>
              <a:srgbClr val="2E86DE"/>
            </a:solidFill>
            <a:prstDash val="solid"/>
          </a:ln>
        </p:spPr>
      </p:sp>
      <p:sp>
        <p:nvSpPr>
          <p:cNvPr id="7" name="Shape 4"/>
          <p:cNvSpPr/>
          <p:nvPr/>
        </p:nvSpPr>
        <p:spPr>
          <a:xfrm>
            <a:off x="3783787" y="2144268"/>
            <a:ext cx="4268419" cy="159106"/>
          </a:xfrm>
          <a:prstGeom prst="rect">
            <a:avLst/>
          </a:prstGeom>
          <a:ln w="31750">
            <a:solidFill>
              <a:srgbClr val="000000">
                <a:alpha val="55000"/>
              </a:srgbClr>
            </a:solidFill>
            <a:prstDash val="solid"/>
          </a:ln>
        </p:spPr>
      </p:sp>
      <p:sp>
        <p:nvSpPr>
          <p:cNvPr id="8" name="Shape 5"/>
          <p:cNvSpPr/>
          <p:nvPr/>
        </p:nvSpPr>
        <p:spPr>
          <a:xfrm>
            <a:off x="3792931" y="2153412"/>
            <a:ext cx="4250131" cy="140818"/>
          </a:xfrm>
          <a:prstGeom prst="rect">
            <a:avLst/>
          </a:prstGeom>
          <a:ln w="19050">
            <a:solidFill>
              <a:srgbClr val="E67E22"/>
            </a:solidFill>
            <a:prstDash val="solid"/>
          </a:ln>
        </p:spPr>
      </p:sp>
      <p:sp>
        <p:nvSpPr>
          <p:cNvPr id="9" name="Shape 6"/>
          <p:cNvSpPr/>
          <p:nvPr/>
        </p:nvSpPr>
        <p:spPr>
          <a:xfrm>
            <a:off x="543154" y="3135478"/>
            <a:ext cx="7509053" cy="163678"/>
          </a:xfrm>
          <a:prstGeom prst="rect">
            <a:avLst/>
          </a:prstGeom>
          <a:ln w="31750">
            <a:solidFill>
              <a:srgbClr val="000000">
                <a:alpha val="55000"/>
              </a:srgbClr>
            </a:solidFill>
            <a:prstDash val="solid"/>
          </a:ln>
        </p:spPr>
      </p:sp>
      <p:sp>
        <p:nvSpPr>
          <p:cNvPr id="10" name="Shape 7"/>
          <p:cNvSpPr/>
          <p:nvPr/>
        </p:nvSpPr>
        <p:spPr>
          <a:xfrm>
            <a:off x="552298" y="3144622"/>
            <a:ext cx="7490765" cy="145390"/>
          </a:xfrm>
          <a:prstGeom prst="rect">
            <a:avLst/>
          </a:prstGeom>
          <a:ln w="19050">
            <a:solidFill>
              <a:srgbClr val="8E44AD"/>
            </a:solidFill>
            <a:prstDash val="solid"/>
          </a:ln>
        </p:spPr>
      </p:sp>
      <p:sp>
        <p:nvSpPr>
          <p:cNvPr id="11" name="Shape 8"/>
          <p:cNvSpPr/>
          <p:nvPr/>
        </p:nvSpPr>
        <p:spPr>
          <a:xfrm>
            <a:off x="543154" y="5418734"/>
            <a:ext cx="7509053" cy="450799"/>
          </a:xfrm>
          <a:prstGeom prst="rect">
            <a:avLst/>
          </a:prstGeom>
          <a:ln w="31750">
            <a:solidFill>
              <a:srgbClr val="000000">
                <a:alpha val="55000"/>
              </a:srgbClr>
            </a:solidFill>
            <a:prstDash val="solid"/>
          </a:ln>
        </p:spPr>
      </p:sp>
      <p:sp>
        <p:nvSpPr>
          <p:cNvPr id="12" name="Shape 9"/>
          <p:cNvSpPr/>
          <p:nvPr/>
        </p:nvSpPr>
        <p:spPr>
          <a:xfrm>
            <a:off x="552298" y="5427878"/>
            <a:ext cx="7490765" cy="432511"/>
          </a:xfrm>
          <a:prstGeom prst="rect">
            <a:avLst/>
          </a:prstGeom>
          <a:ln w="19050">
            <a:solidFill>
              <a:srgbClr val="16A085"/>
            </a:solidFill>
            <a:prstDash val="solid"/>
          </a:ln>
        </p:spPr>
      </p:sp>
      <p:sp>
        <p:nvSpPr>
          <p:cNvPr id="13" name="Shape 10"/>
          <p:cNvSpPr/>
          <p:nvPr/>
        </p:nvSpPr>
        <p:spPr>
          <a:xfrm>
            <a:off x="552298" y="1869948"/>
            <a:ext cx="237744" cy="237744"/>
          </a:xfrm>
          <a:prstGeom prst="roundRect">
            <a:avLst>
              <a:gd name="adj" fmla="val 15385"/>
            </a:avLst>
          </a:prstGeom>
          <a:solidFill>
            <a:srgbClr val="2E86DE"/>
          </a:solidFill>
          <a:ln w="9525">
            <a:solidFill>
              <a:srgbClr val="FFFFFF"/>
            </a:solidFill>
            <a:prstDash val="solid"/>
          </a:ln>
        </p:spPr>
      </p:sp>
      <p:sp>
        <p:nvSpPr>
          <p:cNvPr id="14" name="Text 11"/>
          <p:cNvSpPr txBox="1"/>
          <p:nvPr/>
        </p:nvSpPr>
        <p:spPr>
          <a:xfrm>
            <a:off x="552298" y="18699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5" name="Shape 12"/>
          <p:cNvSpPr/>
          <p:nvPr/>
        </p:nvSpPr>
        <p:spPr>
          <a:xfrm>
            <a:off x="3792931" y="1869948"/>
            <a:ext cx="237744" cy="237744"/>
          </a:xfrm>
          <a:prstGeom prst="roundRect">
            <a:avLst>
              <a:gd name="adj" fmla="val 15385"/>
            </a:avLst>
          </a:prstGeom>
          <a:solidFill>
            <a:srgbClr val="E67E22"/>
          </a:solidFill>
          <a:ln w="9525">
            <a:solidFill>
              <a:srgbClr val="FFFFFF"/>
            </a:solidFill>
            <a:prstDash val="solid"/>
          </a:ln>
        </p:spPr>
      </p:sp>
      <p:sp>
        <p:nvSpPr>
          <p:cNvPr id="16" name="Text 13"/>
          <p:cNvSpPr txBox="1"/>
          <p:nvPr/>
        </p:nvSpPr>
        <p:spPr>
          <a:xfrm>
            <a:off x="3792931" y="18699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17" name="Shape 14"/>
          <p:cNvSpPr/>
          <p:nvPr/>
        </p:nvSpPr>
        <p:spPr>
          <a:xfrm>
            <a:off x="552298" y="2861158"/>
            <a:ext cx="237744" cy="237744"/>
          </a:xfrm>
          <a:prstGeom prst="roundRect">
            <a:avLst>
              <a:gd name="adj" fmla="val 15385"/>
            </a:avLst>
          </a:prstGeom>
          <a:solidFill>
            <a:srgbClr val="8E44AD"/>
          </a:solidFill>
          <a:ln w="9525">
            <a:solidFill>
              <a:srgbClr val="FFFFFF"/>
            </a:solidFill>
            <a:prstDash val="solid"/>
          </a:ln>
        </p:spPr>
      </p:sp>
      <p:sp>
        <p:nvSpPr>
          <p:cNvPr id="18" name="Text 15"/>
          <p:cNvSpPr txBox="1"/>
          <p:nvPr/>
        </p:nvSpPr>
        <p:spPr>
          <a:xfrm>
            <a:off x="552298" y="286115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19" name="Shape 16"/>
          <p:cNvSpPr/>
          <p:nvPr/>
        </p:nvSpPr>
        <p:spPr>
          <a:xfrm>
            <a:off x="552298" y="5144414"/>
            <a:ext cx="237744" cy="237744"/>
          </a:xfrm>
          <a:prstGeom prst="roundRect">
            <a:avLst>
              <a:gd name="adj" fmla="val 15385"/>
            </a:avLst>
          </a:prstGeom>
          <a:solidFill>
            <a:srgbClr val="16A085"/>
          </a:solidFill>
          <a:ln w="9525">
            <a:solidFill>
              <a:srgbClr val="FFFFFF"/>
            </a:solidFill>
            <a:prstDash val="solid"/>
          </a:ln>
        </p:spPr>
      </p:sp>
      <p:sp>
        <p:nvSpPr>
          <p:cNvPr id="20" name="Text 17"/>
          <p:cNvSpPr txBox="1"/>
          <p:nvPr/>
        </p:nvSpPr>
        <p:spPr>
          <a:xfrm>
            <a:off x="552298" y="514441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1" name="Shape 18"/>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22" name="Text 19"/>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23" name="Text 20"/>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Your shift and the press counter</a:t>
            </a:r>
            <a:endParaRPr lang="en-US" sz="1500" dirty="0"/>
          </a:p>
        </p:txBody>
      </p:sp>
      <p:sp>
        <p:nvSpPr>
          <p:cNvPr id="24" name="Shape 21"/>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25" name="Text 22"/>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26" name="Text 23"/>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Shots lost on the whole die</a:t>
            </a:r>
            <a:endParaRPr lang="en-US" sz="1500" dirty="0"/>
          </a:p>
        </p:txBody>
      </p:sp>
      <p:sp>
        <p:nvSpPr>
          <p:cNvPr id="27" name="Shape 24"/>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28" name="Text 25"/>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9" name="Text 26"/>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Each cavity, after </a:t>
            </a:r>
            <a:pPr indent="0" marL="0">
              <a:buNone/>
            </a:pPr>
            <a:r>
              <a:rPr lang="en-US" sz="1500" b="1" dirty="0">
                <a:solidFill>
                  <a:srgbClr val="12263F"/>
                </a:solidFill>
                <a:latin typeface="Calibri" pitchFamily="34" charset="0"/>
                <a:ea typeface="Calibri" pitchFamily="34" charset="-122"/>
                <a:cs typeface="Calibri" pitchFamily="34" charset="-120"/>
              </a:rPr>
              <a:t>Compute</a:t>
            </a:r>
            <a:endParaRPr lang="en-US" sz="1500" dirty="0"/>
          </a:p>
        </p:txBody>
      </p:sp>
      <p:sp>
        <p:nvSpPr>
          <p:cNvPr id="30" name="Shape 27"/>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1" name="Text 28"/>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32" name="Text 29"/>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totals, and the button to send</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Start the shift entry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756209" y="3439973"/>
            <a:ext cx="2073859" cy="614477"/>
          </a:xfrm>
          <a:prstGeom prst="rect">
            <a:avLst/>
          </a:prstGeom>
          <a:ln w="31750">
            <a:solidFill>
              <a:srgbClr val="000000">
                <a:alpha val="55000"/>
              </a:srgbClr>
            </a:solidFill>
            <a:prstDash val="solid"/>
          </a:ln>
        </p:spPr>
      </p:sp>
      <p:sp>
        <p:nvSpPr>
          <p:cNvPr id="6" name="Shape 3"/>
          <p:cNvSpPr/>
          <p:nvPr/>
        </p:nvSpPr>
        <p:spPr>
          <a:xfrm>
            <a:off x="765353" y="3449117"/>
            <a:ext cx="2055571" cy="596189"/>
          </a:xfrm>
          <a:prstGeom prst="rect">
            <a:avLst/>
          </a:prstGeom>
          <a:ln w="19050">
            <a:solidFill>
              <a:srgbClr val="FFB400"/>
            </a:solidFill>
            <a:prstDash val="solid"/>
          </a:ln>
        </p:spPr>
      </p:sp>
      <p:sp>
        <p:nvSpPr>
          <p:cNvPr id="7" name="Shape 4"/>
          <p:cNvSpPr/>
          <p:nvPr/>
        </p:nvSpPr>
        <p:spPr>
          <a:xfrm>
            <a:off x="619049" y="3302813"/>
            <a:ext cx="256032" cy="256032"/>
          </a:xfrm>
          <a:prstGeom prst="ellipse">
            <a:avLst/>
          </a:prstGeom>
          <a:solidFill>
            <a:srgbClr val="FFB400"/>
          </a:solidFill>
          <a:ln w="9525">
            <a:solidFill>
              <a:srgbClr val="111111"/>
            </a:solidFill>
            <a:prstDash val="solid"/>
          </a:ln>
        </p:spPr>
      </p:sp>
      <p:sp>
        <p:nvSpPr>
          <p:cNvPr id="8" name="Text 5"/>
          <p:cNvSpPr txBox="1"/>
          <p:nvPr/>
        </p:nvSpPr>
        <p:spPr>
          <a:xfrm>
            <a:off x="619049" y="330281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829154" y="3249778"/>
            <a:ext cx="1555394" cy="803758"/>
          </a:xfrm>
          <a:prstGeom prst="rect">
            <a:avLst/>
          </a:prstGeom>
          <a:ln w="31750">
            <a:solidFill>
              <a:srgbClr val="000000">
                <a:alpha val="55000"/>
              </a:srgbClr>
            </a:solidFill>
            <a:prstDash val="solid"/>
          </a:ln>
        </p:spPr>
      </p:sp>
      <p:sp>
        <p:nvSpPr>
          <p:cNvPr id="10" name="Shape 7"/>
          <p:cNvSpPr/>
          <p:nvPr/>
        </p:nvSpPr>
        <p:spPr>
          <a:xfrm>
            <a:off x="2838298" y="3258922"/>
            <a:ext cx="1537106" cy="785470"/>
          </a:xfrm>
          <a:prstGeom prst="rect">
            <a:avLst/>
          </a:prstGeom>
          <a:ln w="19050">
            <a:solidFill>
              <a:srgbClr val="FFB400"/>
            </a:solidFill>
            <a:prstDash val="solid"/>
          </a:ln>
        </p:spPr>
      </p:sp>
      <p:sp>
        <p:nvSpPr>
          <p:cNvPr id="11" name="Shape 8"/>
          <p:cNvSpPr/>
          <p:nvPr/>
        </p:nvSpPr>
        <p:spPr>
          <a:xfrm>
            <a:off x="2691994" y="3112618"/>
            <a:ext cx="256032" cy="256032"/>
          </a:xfrm>
          <a:prstGeom prst="ellipse">
            <a:avLst/>
          </a:prstGeom>
          <a:solidFill>
            <a:srgbClr val="FFB400"/>
          </a:solidFill>
          <a:ln w="9525">
            <a:solidFill>
              <a:srgbClr val="111111"/>
            </a:solidFill>
            <a:prstDash val="solid"/>
          </a:ln>
        </p:spPr>
      </p:sp>
      <p:sp>
        <p:nvSpPr>
          <p:cNvPr id="12" name="Text 9"/>
          <p:cNvSpPr txBox="1"/>
          <p:nvPr/>
        </p:nvSpPr>
        <p:spPr>
          <a:xfrm>
            <a:off x="2691994" y="311261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4383634" y="3482950"/>
            <a:ext cx="1322222" cy="570586"/>
          </a:xfrm>
          <a:prstGeom prst="rect">
            <a:avLst/>
          </a:prstGeom>
          <a:ln w="31750">
            <a:solidFill>
              <a:srgbClr val="000000">
                <a:alpha val="55000"/>
              </a:srgbClr>
            </a:solidFill>
            <a:prstDash val="solid"/>
          </a:ln>
        </p:spPr>
      </p:sp>
      <p:sp>
        <p:nvSpPr>
          <p:cNvPr id="14" name="Shape 11"/>
          <p:cNvSpPr/>
          <p:nvPr/>
        </p:nvSpPr>
        <p:spPr>
          <a:xfrm>
            <a:off x="4392778" y="3492094"/>
            <a:ext cx="1303934" cy="552298"/>
          </a:xfrm>
          <a:prstGeom prst="rect">
            <a:avLst/>
          </a:prstGeom>
          <a:ln w="19050">
            <a:solidFill>
              <a:srgbClr val="FFB400"/>
            </a:solidFill>
            <a:prstDash val="solid"/>
          </a:ln>
        </p:spPr>
      </p:sp>
      <p:sp>
        <p:nvSpPr>
          <p:cNvPr id="15" name="Shape 12"/>
          <p:cNvSpPr/>
          <p:nvPr/>
        </p:nvSpPr>
        <p:spPr>
          <a:xfrm>
            <a:off x="4246474" y="3345790"/>
            <a:ext cx="256032" cy="256032"/>
          </a:xfrm>
          <a:prstGeom prst="ellipse">
            <a:avLst/>
          </a:prstGeom>
          <a:solidFill>
            <a:srgbClr val="FFB400"/>
          </a:solidFill>
          <a:ln w="9525">
            <a:solidFill>
              <a:srgbClr val="111111"/>
            </a:solidFill>
            <a:prstDash val="solid"/>
          </a:ln>
        </p:spPr>
      </p:sp>
      <p:sp>
        <p:nvSpPr>
          <p:cNvPr id="16" name="Text 13"/>
          <p:cNvSpPr txBox="1"/>
          <p:nvPr/>
        </p:nvSpPr>
        <p:spPr>
          <a:xfrm>
            <a:off x="4246474" y="334579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your shift.</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number on the press counter.</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Compute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Shift just ended? The list shows the last three shifts.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Warm-up and test shots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72254" y="3137306"/>
            <a:ext cx="1036930" cy="467258"/>
          </a:xfrm>
          <a:prstGeom prst="rect">
            <a:avLst/>
          </a:prstGeom>
          <a:ln w="31750">
            <a:solidFill>
              <a:srgbClr val="000000">
                <a:alpha val="55000"/>
              </a:srgbClr>
            </a:solidFill>
            <a:prstDash val="solid"/>
          </a:ln>
        </p:spPr>
      </p:sp>
      <p:sp>
        <p:nvSpPr>
          <p:cNvPr id="6" name="Shape 3"/>
          <p:cNvSpPr/>
          <p:nvPr/>
        </p:nvSpPr>
        <p:spPr>
          <a:xfrm>
            <a:off x="4781398" y="3146450"/>
            <a:ext cx="1018642" cy="448970"/>
          </a:xfrm>
          <a:prstGeom prst="rect">
            <a:avLst/>
          </a:prstGeom>
          <a:ln w="19050">
            <a:solidFill>
              <a:srgbClr val="FFB400"/>
            </a:solidFill>
            <a:prstDash val="solid"/>
          </a:ln>
        </p:spPr>
      </p:sp>
      <p:sp>
        <p:nvSpPr>
          <p:cNvPr id="7" name="Shape 4"/>
          <p:cNvSpPr/>
          <p:nvPr/>
        </p:nvSpPr>
        <p:spPr>
          <a:xfrm>
            <a:off x="4635094" y="3000146"/>
            <a:ext cx="256032" cy="256032"/>
          </a:xfrm>
          <a:prstGeom prst="ellipse">
            <a:avLst/>
          </a:prstGeom>
          <a:solidFill>
            <a:srgbClr val="FFB400"/>
          </a:solidFill>
          <a:ln w="9525">
            <a:solidFill>
              <a:srgbClr val="111111"/>
            </a:solidFill>
            <a:prstDash val="solid"/>
          </a:ln>
        </p:spPr>
      </p:sp>
      <p:sp>
        <p:nvSpPr>
          <p:cNvPr id="8" name="Text 5"/>
          <p:cNvSpPr txBox="1"/>
          <p:nvPr/>
        </p:nvSpPr>
        <p:spPr>
          <a:xfrm>
            <a:off x="4635094" y="30001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4772254" y="3621024"/>
            <a:ext cx="1036930" cy="467258"/>
          </a:xfrm>
          <a:prstGeom prst="rect">
            <a:avLst/>
          </a:prstGeom>
          <a:ln w="31750">
            <a:solidFill>
              <a:srgbClr val="000000">
                <a:alpha val="55000"/>
              </a:srgbClr>
            </a:solidFill>
            <a:prstDash val="solid"/>
          </a:ln>
        </p:spPr>
      </p:sp>
      <p:sp>
        <p:nvSpPr>
          <p:cNvPr id="10" name="Shape 7"/>
          <p:cNvSpPr/>
          <p:nvPr/>
        </p:nvSpPr>
        <p:spPr>
          <a:xfrm>
            <a:off x="4781398" y="3630168"/>
            <a:ext cx="1018642" cy="448970"/>
          </a:xfrm>
          <a:prstGeom prst="rect">
            <a:avLst/>
          </a:prstGeom>
          <a:ln w="19050">
            <a:solidFill>
              <a:srgbClr val="FFB400"/>
            </a:solidFill>
            <a:prstDash val="solid"/>
          </a:ln>
        </p:spPr>
      </p:sp>
      <p:sp>
        <p:nvSpPr>
          <p:cNvPr id="11" name="Shape 8"/>
          <p:cNvSpPr/>
          <p:nvPr/>
        </p:nvSpPr>
        <p:spPr>
          <a:xfrm>
            <a:off x="4635094" y="3483864"/>
            <a:ext cx="256032" cy="256032"/>
          </a:xfrm>
          <a:prstGeom prst="ellipse">
            <a:avLst/>
          </a:prstGeom>
          <a:solidFill>
            <a:srgbClr val="FFB400"/>
          </a:solidFill>
          <a:ln w="9525">
            <a:solidFill>
              <a:srgbClr val="111111"/>
            </a:solidFill>
            <a:prstDash val="solid"/>
          </a:ln>
        </p:spPr>
      </p:sp>
      <p:sp>
        <p:nvSpPr>
          <p:cNvPr id="12" name="Text 9"/>
          <p:cNvSpPr txBox="1"/>
          <p:nvPr/>
        </p:nvSpPr>
        <p:spPr>
          <a:xfrm>
            <a:off x="4635094" y="348386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786177" y="4079138"/>
            <a:ext cx="2013509" cy="381305"/>
          </a:xfrm>
          <a:prstGeom prst="rect">
            <a:avLst/>
          </a:prstGeom>
          <a:ln w="31750">
            <a:solidFill>
              <a:srgbClr val="000000">
                <a:alpha val="55000"/>
              </a:srgbClr>
            </a:solidFill>
            <a:prstDash val="solid"/>
          </a:ln>
        </p:spPr>
      </p:sp>
      <p:sp>
        <p:nvSpPr>
          <p:cNvPr id="14" name="Shape 11"/>
          <p:cNvSpPr/>
          <p:nvPr/>
        </p:nvSpPr>
        <p:spPr>
          <a:xfrm>
            <a:off x="2795321" y="4088282"/>
            <a:ext cx="1995221" cy="363017"/>
          </a:xfrm>
          <a:prstGeom prst="rect">
            <a:avLst/>
          </a:prstGeom>
          <a:ln w="19050">
            <a:solidFill>
              <a:srgbClr val="FFB400"/>
            </a:solidFill>
            <a:prstDash val="solid"/>
          </a:ln>
        </p:spPr>
      </p:sp>
      <p:sp>
        <p:nvSpPr>
          <p:cNvPr id="15" name="Shape 12"/>
          <p:cNvSpPr/>
          <p:nvPr/>
        </p:nvSpPr>
        <p:spPr>
          <a:xfrm>
            <a:off x="2649017" y="3941978"/>
            <a:ext cx="256032" cy="256032"/>
          </a:xfrm>
          <a:prstGeom prst="ellipse">
            <a:avLst/>
          </a:prstGeom>
          <a:solidFill>
            <a:srgbClr val="FFB400"/>
          </a:solidFill>
          <a:ln w="9525">
            <a:solidFill>
              <a:srgbClr val="111111"/>
            </a:solidFill>
            <a:prstDash val="solid"/>
          </a:ln>
        </p:spPr>
      </p:sp>
      <p:sp>
        <p:nvSpPr>
          <p:cNvPr id="16" name="Text 13"/>
          <p:cNvSpPr txBox="1"/>
          <p:nvPr/>
        </p:nvSpPr>
        <p:spPr>
          <a:xfrm>
            <a:off x="2649017" y="39419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warm-up shots.</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quality test shots.</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Other shots lost on the whole die? Tap </a:t>
            </a:r>
            <a:pPr indent="0" marL="0">
              <a:buNone/>
            </a:pPr>
            <a:r>
              <a:rPr lang="en-US" sz="1700" b="1" dirty="0">
                <a:solidFill>
                  <a:srgbClr val="12263F"/>
                </a:solidFill>
                <a:latin typeface="Calibri" pitchFamily="34" charset="0"/>
                <a:ea typeface="Calibri" pitchFamily="34" charset="-122"/>
                <a:cs typeface="Calibri" pitchFamily="34" charset="-120"/>
              </a:rPr>
              <a:t>Add die-wide scrap</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Type shots, not pieces. The screen does the math.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Check Good on each cavity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3044952" y="3560674"/>
            <a:ext cx="1209751" cy="467258"/>
          </a:xfrm>
          <a:prstGeom prst="rect">
            <a:avLst/>
          </a:prstGeom>
          <a:ln w="31750">
            <a:solidFill>
              <a:srgbClr val="000000">
                <a:alpha val="55000"/>
              </a:srgbClr>
            </a:solidFill>
            <a:prstDash val="solid"/>
          </a:ln>
        </p:spPr>
      </p:sp>
      <p:sp>
        <p:nvSpPr>
          <p:cNvPr id="6" name="Shape 3"/>
          <p:cNvSpPr/>
          <p:nvPr/>
        </p:nvSpPr>
        <p:spPr>
          <a:xfrm>
            <a:off x="3054096" y="3569818"/>
            <a:ext cx="1191463" cy="448970"/>
          </a:xfrm>
          <a:prstGeom prst="rect">
            <a:avLst/>
          </a:prstGeom>
          <a:ln w="19050">
            <a:solidFill>
              <a:srgbClr val="FFB400"/>
            </a:solidFill>
            <a:prstDash val="solid"/>
          </a:ln>
        </p:spPr>
      </p:sp>
      <p:sp>
        <p:nvSpPr>
          <p:cNvPr id="7" name="Shape 4"/>
          <p:cNvSpPr/>
          <p:nvPr/>
        </p:nvSpPr>
        <p:spPr>
          <a:xfrm>
            <a:off x="2907792" y="3423514"/>
            <a:ext cx="256032" cy="256032"/>
          </a:xfrm>
          <a:prstGeom prst="ellipse">
            <a:avLst/>
          </a:prstGeom>
          <a:solidFill>
            <a:srgbClr val="FFB400"/>
          </a:solidFill>
          <a:ln w="9525">
            <a:solidFill>
              <a:srgbClr val="111111"/>
            </a:solidFill>
            <a:prstDash val="solid"/>
          </a:ln>
        </p:spPr>
      </p:sp>
      <p:sp>
        <p:nvSpPr>
          <p:cNvPr id="8" name="Text 5"/>
          <p:cNvSpPr txBox="1"/>
          <p:nvPr/>
        </p:nvSpPr>
        <p:spPr>
          <a:xfrm>
            <a:off x="2907792" y="342351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4253789" y="3560674"/>
            <a:ext cx="1296619" cy="467258"/>
          </a:xfrm>
          <a:prstGeom prst="rect">
            <a:avLst/>
          </a:prstGeom>
          <a:ln w="31750">
            <a:solidFill>
              <a:srgbClr val="000000">
                <a:alpha val="55000"/>
              </a:srgbClr>
            </a:solidFill>
            <a:prstDash val="solid"/>
          </a:ln>
        </p:spPr>
      </p:sp>
      <p:sp>
        <p:nvSpPr>
          <p:cNvPr id="10" name="Shape 7"/>
          <p:cNvSpPr/>
          <p:nvPr/>
        </p:nvSpPr>
        <p:spPr>
          <a:xfrm>
            <a:off x="4262933" y="3569818"/>
            <a:ext cx="1278331" cy="448970"/>
          </a:xfrm>
          <a:prstGeom prst="rect">
            <a:avLst/>
          </a:prstGeom>
          <a:ln w="19050">
            <a:solidFill>
              <a:srgbClr val="FFB400"/>
            </a:solidFill>
            <a:prstDash val="solid"/>
          </a:ln>
        </p:spPr>
      </p:sp>
      <p:sp>
        <p:nvSpPr>
          <p:cNvPr id="11" name="Shape 8"/>
          <p:cNvSpPr/>
          <p:nvPr/>
        </p:nvSpPr>
        <p:spPr>
          <a:xfrm>
            <a:off x="4116629" y="3423514"/>
            <a:ext cx="256032" cy="256032"/>
          </a:xfrm>
          <a:prstGeom prst="ellipse">
            <a:avLst/>
          </a:prstGeom>
          <a:solidFill>
            <a:srgbClr val="FFB400"/>
          </a:solidFill>
          <a:ln w="9525">
            <a:solidFill>
              <a:srgbClr val="111111"/>
            </a:solidFill>
            <a:prstDash val="solid"/>
          </a:ln>
        </p:spPr>
      </p:sp>
      <p:sp>
        <p:nvSpPr>
          <p:cNvPr id="12" name="Text 9"/>
          <p:cNvSpPr txBox="1"/>
          <p:nvPr/>
        </p:nvSpPr>
        <p:spPr>
          <a:xfrm>
            <a:off x="4116629" y="342351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a:t>
            </a:r>
            <a:pPr indent="0" marL="0">
              <a:buNone/>
            </a:pPr>
            <a:r>
              <a:rPr lang="en-US" sz="1700" b="1" dirty="0">
                <a:solidFill>
                  <a:srgbClr val="12263F"/>
                </a:solidFill>
                <a:latin typeface="Calibri" pitchFamily="34" charset="0"/>
                <a:ea typeface="Calibri" pitchFamily="34" charset="-122"/>
                <a:cs typeface="Calibri" pitchFamily="34" charset="-120"/>
              </a:rPr>
              <a:t>Good</a:t>
            </a:r>
            <a:pPr indent="0" marL="0">
              <a:buNone/>
            </a:pPr>
            <a:r>
              <a:rPr lang="en-US" sz="1700" dirty="0">
                <a:solidFill>
                  <a:srgbClr val="1B1B1B"/>
                </a:solidFill>
                <a:latin typeface="Calibri" pitchFamily="34" charset="0"/>
                <a:ea typeface="Calibri" pitchFamily="34" charset="-122"/>
                <a:cs typeface="Calibri" pitchFamily="34" charset="-120"/>
              </a:rPr>
              <a:t> number. Change it if your count is different.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Scrap on this cavity? Tap the number under </a:t>
            </a:r>
            <a:pPr indent="0" marL="0">
              <a:buNone/>
            </a:pPr>
            <a:r>
              <a:rPr lang="en-US" sz="1700" b="1" dirty="0">
                <a:solidFill>
                  <a:srgbClr val="12263F"/>
                </a:solidFill>
                <a:latin typeface="Calibri" pitchFamily="34" charset="0"/>
                <a:ea typeface="Calibri" pitchFamily="34" charset="-122"/>
                <a:cs typeface="Calibri" pitchFamily="34" charset="-120"/>
              </a:rPr>
              <a:t>Cavity scrap</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Add scrap on a cavity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713232" y="4160520"/>
            <a:ext cx="6503213" cy="222199"/>
          </a:xfrm>
          <a:prstGeom prst="rect">
            <a:avLst/>
          </a:prstGeom>
          <a:ln w="31750">
            <a:solidFill>
              <a:srgbClr val="000000">
                <a:alpha val="55000"/>
              </a:srgbClr>
            </a:solidFill>
            <a:prstDash val="solid"/>
          </a:ln>
        </p:spPr>
      </p:sp>
      <p:sp>
        <p:nvSpPr>
          <p:cNvPr id="6" name="Shape 3"/>
          <p:cNvSpPr/>
          <p:nvPr/>
        </p:nvSpPr>
        <p:spPr>
          <a:xfrm>
            <a:off x="722376" y="4169664"/>
            <a:ext cx="6484925" cy="203911"/>
          </a:xfrm>
          <a:prstGeom prst="rect">
            <a:avLst/>
          </a:prstGeom>
          <a:ln w="19050">
            <a:solidFill>
              <a:srgbClr val="FFB400"/>
            </a:solidFill>
            <a:prstDash val="solid"/>
          </a:ln>
        </p:spPr>
      </p:sp>
      <p:sp>
        <p:nvSpPr>
          <p:cNvPr id="7" name="Shape 4"/>
          <p:cNvSpPr/>
          <p:nvPr/>
        </p:nvSpPr>
        <p:spPr>
          <a:xfrm>
            <a:off x="576072" y="4023360"/>
            <a:ext cx="256032" cy="256032"/>
          </a:xfrm>
          <a:prstGeom prst="ellipse">
            <a:avLst/>
          </a:prstGeom>
          <a:solidFill>
            <a:srgbClr val="FFB400"/>
          </a:solidFill>
          <a:ln w="9525">
            <a:solidFill>
              <a:srgbClr val="111111"/>
            </a:solidFill>
            <a:prstDash val="solid"/>
          </a:ln>
        </p:spPr>
      </p:sp>
      <p:sp>
        <p:nvSpPr>
          <p:cNvPr id="8" name="Text 5"/>
          <p:cNvSpPr txBox="1"/>
          <p:nvPr/>
        </p:nvSpPr>
        <p:spPr>
          <a:xfrm>
            <a:off x="576072" y="402336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7198157" y="4160520"/>
            <a:ext cx="494690" cy="222199"/>
          </a:xfrm>
          <a:prstGeom prst="rect">
            <a:avLst/>
          </a:prstGeom>
          <a:ln w="31750">
            <a:solidFill>
              <a:srgbClr val="000000">
                <a:alpha val="55000"/>
              </a:srgbClr>
            </a:solidFill>
            <a:prstDash val="solid"/>
          </a:ln>
        </p:spPr>
      </p:sp>
      <p:sp>
        <p:nvSpPr>
          <p:cNvPr id="10" name="Shape 7"/>
          <p:cNvSpPr/>
          <p:nvPr/>
        </p:nvSpPr>
        <p:spPr>
          <a:xfrm>
            <a:off x="7207301" y="4169664"/>
            <a:ext cx="476402" cy="203911"/>
          </a:xfrm>
          <a:prstGeom prst="rect">
            <a:avLst/>
          </a:prstGeom>
          <a:ln w="19050">
            <a:solidFill>
              <a:srgbClr val="FFB400"/>
            </a:solidFill>
            <a:prstDash val="solid"/>
          </a:ln>
        </p:spPr>
      </p:sp>
      <p:sp>
        <p:nvSpPr>
          <p:cNvPr id="11" name="Shape 8"/>
          <p:cNvSpPr/>
          <p:nvPr/>
        </p:nvSpPr>
        <p:spPr>
          <a:xfrm>
            <a:off x="7060997" y="4023360"/>
            <a:ext cx="256032" cy="256032"/>
          </a:xfrm>
          <a:prstGeom prst="ellipse">
            <a:avLst/>
          </a:prstGeom>
          <a:solidFill>
            <a:srgbClr val="FFB400"/>
          </a:solidFill>
          <a:ln w="9525">
            <a:solidFill>
              <a:srgbClr val="111111"/>
            </a:solidFill>
            <a:prstDash val="solid"/>
          </a:ln>
        </p:spPr>
      </p:sp>
      <p:sp>
        <p:nvSpPr>
          <p:cNvPr id="12" name="Text 9"/>
          <p:cNvSpPr txBox="1"/>
          <p:nvPr/>
        </p:nvSpPr>
        <p:spPr>
          <a:xfrm>
            <a:off x="7060997" y="402336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713232" y="4379062"/>
            <a:ext cx="1072591" cy="251460"/>
          </a:xfrm>
          <a:prstGeom prst="rect">
            <a:avLst/>
          </a:prstGeom>
          <a:ln w="31750">
            <a:solidFill>
              <a:srgbClr val="000000">
                <a:alpha val="55000"/>
              </a:srgbClr>
            </a:solidFill>
            <a:prstDash val="solid"/>
          </a:ln>
        </p:spPr>
      </p:sp>
      <p:sp>
        <p:nvSpPr>
          <p:cNvPr id="14" name="Shape 11"/>
          <p:cNvSpPr/>
          <p:nvPr/>
        </p:nvSpPr>
        <p:spPr>
          <a:xfrm>
            <a:off x="722376" y="4388206"/>
            <a:ext cx="1054303" cy="233172"/>
          </a:xfrm>
          <a:prstGeom prst="rect">
            <a:avLst/>
          </a:prstGeom>
          <a:ln w="19050">
            <a:solidFill>
              <a:srgbClr val="FFB400"/>
            </a:solidFill>
            <a:prstDash val="solid"/>
          </a:ln>
        </p:spPr>
      </p:sp>
      <p:sp>
        <p:nvSpPr>
          <p:cNvPr id="15" name="Shape 12"/>
          <p:cNvSpPr/>
          <p:nvPr/>
        </p:nvSpPr>
        <p:spPr>
          <a:xfrm>
            <a:off x="576072" y="4241902"/>
            <a:ext cx="256032" cy="256032"/>
          </a:xfrm>
          <a:prstGeom prst="ellipse">
            <a:avLst/>
          </a:prstGeom>
          <a:solidFill>
            <a:srgbClr val="FFB400"/>
          </a:solidFill>
          <a:ln w="9525">
            <a:solidFill>
              <a:srgbClr val="111111"/>
            </a:solidFill>
            <a:prstDash val="solid"/>
          </a:ln>
        </p:spPr>
      </p:sp>
      <p:sp>
        <p:nvSpPr>
          <p:cNvPr id="16" name="Text 13"/>
          <p:cNvSpPr txBox="1"/>
          <p:nvPr/>
        </p:nvSpPr>
        <p:spPr>
          <a:xfrm>
            <a:off x="576072" y="424190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the scrap reason.</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how many.</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More than one reason? Tap </a:t>
            </a:r>
            <a:pPr indent="0" marL="0">
              <a:buNone/>
            </a:pPr>
            <a:r>
              <a:rPr lang="en-US" sz="1700" b="1" dirty="0">
                <a:solidFill>
                  <a:srgbClr val="12263F"/>
                </a:solidFill>
                <a:latin typeface="Calibri" pitchFamily="34" charset="0"/>
                <a:ea typeface="Calibri" pitchFamily="34" charset="-122"/>
                <a:cs typeface="Calibri" pitchFamily="34" charset="-120"/>
              </a:rPr>
              <a:t>Add scrap reason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An amber number needs a reason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29277" y="2653589"/>
            <a:ext cx="968350" cy="467258"/>
          </a:xfrm>
          <a:prstGeom prst="rect">
            <a:avLst/>
          </a:prstGeom>
          <a:ln w="31750">
            <a:solidFill>
              <a:srgbClr val="000000">
                <a:alpha val="55000"/>
              </a:srgbClr>
            </a:solidFill>
            <a:prstDash val="solid"/>
          </a:ln>
        </p:spPr>
      </p:sp>
      <p:sp>
        <p:nvSpPr>
          <p:cNvPr id="6" name="Shape 3"/>
          <p:cNvSpPr/>
          <p:nvPr/>
        </p:nvSpPr>
        <p:spPr>
          <a:xfrm>
            <a:off x="4738421" y="2662733"/>
            <a:ext cx="950062" cy="448970"/>
          </a:xfrm>
          <a:prstGeom prst="rect">
            <a:avLst/>
          </a:prstGeom>
          <a:ln w="19050">
            <a:solidFill>
              <a:srgbClr val="FFB400"/>
            </a:solidFill>
            <a:prstDash val="solid"/>
          </a:ln>
        </p:spPr>
      </p:sp>
      <p:sp>
        <p:nvSpPr>
          <p:cNvPr id="7" name="Shape 4"/>
          <p:cNvSpPr/>
          <p:nvPr/>
        </p:nvSpPr>
        <p:spPr>
          <a:xfrm>
            <a:off x="4592117" y="2516429"/>
            <a:ext cx="256032" cy="256032"/>
          </a:xfrm>
          <a:prstGeom prst="ellipse">
            <a:avLst/>
          </a:prstGeom>
          <a:solidFill>
            <a:srgbClr val="FFB400"/>
          </a:solidFill>
          <a:ln w="9525">
            <a:solidFill>
              <a:srgbClr val="111111"/>
            </a:solidFill>
            <a:prstDash val="solid"/>
          </a:ln>
        </p:spPr>
      </p:sp>
      <p:sp>
        <p:nvSpPr>
          <p:cNvPr id="8" name="Text 5"/>
          <p:cNvSpPr txBox="1"/>
          <p:nvPr/>
        </p:nvSpPr>
        <p:spPr>
          <a:xfrm>
            <a:off x="4592117" y="25164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3952037" y="5633618"/>
            <a:ext cx="1572768" cy="268834"/>
          </a:xfrm>
          <a:prstGeom prst="rect">
            <a:avLst/>
          </a:prstGeom>
          <a:ln w="31750">
            <a:solidFill>
              <a:srgbClr val="000000">
                <a:alpha val="55000"/>
              </a:srgbClr>
            </a:solidFill>
            <a:prstDash val="solid"/>
          </a:ln>
        </p:spPr>
      </p:sp>
      <p:sp>
        <p:nvSpPr>
          <p:cNvPr id="10" name="Shape 7"/>
          <p:cNvSpPr/>
          <p:nvPr/>
        </p:nvSpPr>
        <p:spPr>
          <a:xfrm>
            <a:off x="3961181" y="5642762"/>
            <a:ext cx="1554480" cy="250546"/>
          </a:xfrm>
          <a:prstGeom prst="rect">
            <a:avLst/>
          </a:prstGeom>
          <a:ln w="19050">
            <a:solidFill>
              <a:srgbClr val="FFB400"/>
            </a:solidFill>
            <a:prstDash val="solid"/>
          </a:ln>
        </p:spPr>
      </p:sp>
      <p:sp>
        <p:nvSpPr>
          <p:cNvPr id="11" name="Shape 8"/>
          <p:cNvSpPr/>
          <p:nvPr/>
        </p:nvSpPr>
        <p:spPr>
          <a:xfrm>
            <a:off x="3814877" y="5496458"/>
            <a:ext cx="256032" cy="256032"/>
          </a:xfrm>
          <a:prstGeom prst="ellipse">
            <a:avLst/>
          </a:prstGeom>
          <a:solidFill>
            <a:srgbClr val="FFB400"/>
          </a:solidFill>
          <a:ln w="9525">
            <a:solidFill>
              <a:srgbClr val="111111"/>
            </a:solidFill>
            <a:prstDash val="solid"/>
          </a:ln>
        </p:spPr>
      </p:sp>
      <p:sp>
        <p:nvSpPr>
          <p:cNvPr id="12" name="Text 9"/>
          <p:cNvSpPr txBox="1"/>
          <p:nvPr/>
        </p:nvSpPr>
        <p:spPr>
          <a:xfrm>
            <a:off x="3814877" y="549645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557723" y="5486400"/>
            <a:ext cx="2280514" cy="570586"/>
          </a:xfrm>
          <a:prstGeom prst="rect">
            <a:avLst/>
          </a:prstGeom>
          <a:ln w="31750">
            <a:solidFill>
              <a:srgbClr val="000000">
                <a:alpha val="55000"/>
              </a:srgbClr>
            </a:solidFill>
            <a:prstDash val="solid"/>
          </a:ln>
        </p:spPr>
      </p:sp>
      <p:sp>
        <p:nvSpPr>
          <p:cNvPr id="14" name="Shape 11"/>
          <p:cNvSpPr/>
          <p:nvPr/>
        </p:nvSpPr>
        <p:spPr>
          <a:xfrm>
            <a:off x="5566867" y="5495544"/>
            <a:ext cx="2262226" cy="552298"/>
          </a:xfrm>
          <a:prstGeom prst="rect">
            <a:avLst/>
          </a:prstGeom>
          <a:ln w="19050">
            <a:solidFill>
              <a:srgbClr val="FFB400"/>
            </a:solidFill>
            <a:prstDash val="solid"/>
          </a:ln>
        </p:spPr>
      </p:sp>
      <p:sp>
        <p:nvSpPr>
          <p:cNvPr id="15" name="Shape 12"/>
          <p:cNvSpPr/>
          <p:nvPr/>
        </p:nvSpPr>
        <p:spPr>
          <a:xfrm>
            <a:off x="5420563" y="5349240"/>
            <a:ext cx="256032" cy="256032"/>
          </a:xfrm>
          <a:prstGeom prst="ellipse">
            <a:avLst/>
          </a:prstGeom>
          <a:solidFill>
            <a:srgbClr val="FFB400"/>
          </a:solidFill>
          <a:ln w="9525">
            <a:solidFill>
              <a:srgbClr val="111111"/>
            </a:solidFill>
            <a:prstDash val="solid"/>
          </a:ln>
        </p:spPr>
      </p:sp>
      <p:sp>
        <p:nvSpPr>
          <p:cNvPr id="16" name="Text 13"/>
          <p:cNvSpPr txBox="1"/>
          <p:nvPr/>
        </p:nvSpPr>
        <p:spPr>
          <a:xfrm>
            <a:off x="5420563" y="534924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This cavity does not add up. The number turns amber.</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screen names the cavity that needs a reason.</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b="1" dirty="0">
                <a:solidFill>
                  <a:srgbClr val="12263F"/>
                </a:solidFill>
                <a:latin typeface="Calibri" pitchFamily="34" charset="0"/>
                <a:ea typeface="Calibri" pitchFamily="34" charset="-122"/>
                <a:cs typeface="Calibri" pitchFamily="34" charset="-120"/>
              </a:rPr>
              <a:t>Submit shift entry</a:t>
            </a:r>
            <a:pPr indent="0" marL="0">
              <a:buNone/>
            </a:pPr>
            <a:r>
              <a:rPr lang="en-US" sz="1700" dirty="0">
                <a:solidFill>
                  <a:srgbClr val="1B1B1B"/>
                </a:solidFill>
                <a:latin typeface="Calibri" pitchFamily="34" charset="0"/>
                <a:ea typeface="Calibri" pitchFamily="34" charset="-122"/>
                <a:cs typeface="Calibri" pitchFamily="34" charset="-120"/>
              </a:rPr>
              <a:t> stays grey until each amber number has a reason.</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Give a reason, then send</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150815"/>
          </a:xfrm>
          <a:prstGeom prst="rect">
            <a:avLst/>
          </a:prstGeom>
        </p:spPr>
      </p:pic>
      <p:sp>
        <p:nvSpPr>
          <p:cNvPr id="5" name="Shape 2"/>
          <p:cNvSpPr/>
          <p:nvPr/>
        </p:nvSpPr>
        <p:spPr>
          <a:xfrm>
            <a:off x="6119165" y="4028846"/>
            <a:ext cx="585216" cy="286207"/>
          </a:xfrm>
          <a:prstGeom prst="rect">
            <a:avLst/>
          </a:prstGeom>
          <a:ln w="31750">
            <a:solidFill>
              <a:srgbClr val="000000">
                <a:alpha val="55000"/>
              </a:srgbClr>
            </a:solidFill>
            <a:prstDash val="solid"/>
          </a:ln>
        </p:spPr>
      </p:sp>
      <p:sp>
        <p:nvSpPr>
          <p:cNvPr id="6" name="Shape 3"/>
          <p:cNvSpPr/>
          <p:nvPr/>
        </p:nvSpPr>
        <p:spPr>
          <a:xfrm>
            <a:off x="6128309" y="4037990"/>
            <a:ext cx="566928" cy="267919"/>
          </a:xfrm>
          <a:prstGeom prst="rect">
            <a:avLst/>
          </a:prstGeom>
          <a:ln w="19050">
            <a:solidFill>
              <a:srgbClr val="FFB400"/>
            </a:solidFill>
            <a:prstDash val="solid"/>
          </a:ln>
        </p:spPr>
      </p:sp>
      <p:sp>
        <p:nvSpPr>
          <p:cNvPr id="7" name="Shape 4"/>
          <p:cNvSpPr/>
          <p:nvPr/>
        </p:nvSpPr>
        <p:spPr>
          <a:xfrm>
            <a:off x="5982005" y="3891686"/>
            <a:ext cx="256032" cy="256032"/>
          </a:xfrm>
          <a:prstGeom prst="ellipse">
            <a:avLst/>
          </a:prstGeom>
          <a:solidFill>
            <a:srgbClr val="FFB400"/>
          </a:solidFill>
          <a:ln w="9525">
            <a:solidFill>
              <a:srgbClr val="111111"/>
            </a:solidFill>
            <a:prstDash val="solid"/>
          </a:ln>
        </p:spPr>
      </p:sp>
      <p:sp>
        <p:nvSpPr>
          <p:cNvPr id="8" name="Text 5"/>
          <p:cNvSpPr txBox="1"/>
          <p:nvPr/>
        </p:nvSpPr>
        <p:spPr>
          <a:xfrm>
            <a:off x="5982005" y="389168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077163" y="4811573"/>
            <a:ext cx="6853428" cy="235001"/>
          </a:xfrm>
          <a:prstGeom prst="rect">
            <a:avLst/>
          </a:prstGeom>
          <a:ln w="31750">
            <a:solidFill>
              <a:srgbClr val="000000">
                <a:alpha val="55000"/>
              </a:srgbClr>
            </a:solidFill>
            <a:prstDash val="solid"/>
          </a:ln>
        </p:spPr>
      </p:sp>
      <p:sp>
        <p:nvSpPr>
          <p:cNvPr id="10" name="Shape 7"/>
          <p:cNvSpPr/>
          <p:nvPr/>
        </p:nvSpPr>
        <p:spPr>
          <a:xfrm>
            <a:off x="1086307" y="4820717"/>
            <a:ext cx="6835140" cy="216713"/>
          </a:xfrm>
          <a:prstGeom prst="rect">
            <a:avLst/>
          </a:prstGeom>
          <a:ln w="19050">
            <a:solidFill>
              <a:srgbClr val="FFB400"/>
            </a:solidFill>
            <a:prstDash val="solid"/>
          </a:ln>
        </p:spPr>
      </p:sp>
      <p:sp>
        <p:nvSpPr>
          <p:cNvPr id="11" name="Shape 8"/>
          <p:cNvSpPr/>
          <p:nvPr/>
        </p:nvSpPr>
        <p:spPr>
          <a:xfrm>
            <a:off x="940003" y="4674413"/>
            <a:ext cx="256032" cy="256032"/>
          </a:xfrm>
          <a:prstGeom prst="ellipse">
            <a:avLst/>
          </a:prstGeom>
          <a:solidFill>
            <a:srgbClr val="FFB400"/>
          </a:solidFill>
          <a:ln w="9525">
            <a:solidFill>
              <a:srgbClr val="111111"/>
            </a:solidFill>
            <a:prstDash val="solid"/>
          </a:ln>
        </p:spPr>
      </p:sp>
      <p:sp>
        <p:nvSpPr>
          <p:cNvPr id="12" name="Text 9"/>
          <p:cNvSpPr txBox="1"/>
          <p:nvPr/>
        </p:nvSpPr>
        <p:spPr>
          <a:xfrm>
            <a:off x="940003" y="467441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6613855" y="5717743"/>
            <a:ext cx="1367942" cy="348386"/>
          </a:xfrm>
          <a:prstGeom prst="rect">
            <a:avLst/>
          </a:prstGeom>
          <a:ln w="31750">
            <a:solidFill>
              <a:srgbClr val="000000">
                <a:alpha val="55000"/>
              </a:srgbClr>
            </a:solidFill>
            <a:prstDash val="solid"/>
          </a:ln>
        </p:spPr>
      </p:sp>
      <p:sp>
        <p:nvSpPr>
          <p:cNvPr id="14" name="Shape 11"/>
          <p:cNvSpPr/>
          <p:nvPr/>
        </p:nvSpPr>
        <p:spPr>
          <a:xfrm>
            <a:off x="6622999" y="5726887"/>
            <a:ext cx="1349654" cy="330098"/>
          </a:xfrm>
          <a:prstGeom prst="rect">
            <a:avLst/>
          </a:prstGeom>
          <a:ln w="19050">
            <a:solidFill>
              <a:srgbClr val="FFB400"/>
            </a:solidFill>
            <a:prstDash val="solid"/>
          </a:ln>
        </p:spPr>
      </p:sp>
      <p:sp>
        <p:nvSpPr>
          <p:cNvPr id="15" name="Shape 12"/>
          <p:cNvSpPr/>
          <p:nvPr/>
        </p:nvSpPr>
        <p:spPr>
          <a:xfrm>
            <a:off x="6476695" y="5580583"/>
            <a:ext cx="256032" cy="256032"/>
          </a:xfrm>
          <a:prstGeom prst="ellipse">
            <a:avLst/>
          </a:prstGeom>
          <a:solidFill>
            <a:srgbClr val="FFB400"/>
          </a:solidFill>
          <a:ln w="9525">
            <a:solidFill>
              <a:srgbClr val="111111"/>
            </a:solidFill>
            <a:prstDash val="solid"/>
          </a:ln>
        </p:spPr>
      </p:sp>
      <p:sp>
        <p:nvSpPr>
          <p:cNvPr id="16" name="Text 13"/>
          <p:cNvSpPr txBox="1"/>
          <p:nvPr/>
        </p:nvSpPr>
        <p:spPr>
          <a:xfrm>
            <a:off x="6476695" y="558058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amber number.</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a reason. Not sure? Pick </a:t>
            </a:r>
            <a:pPr indent="0" marL="0">
              <a:buNone/>
            </a:pPr>
            <a:r>
              <a:rPr lang="en-US" sz="1700" b="1" dirty="0">
                <a:solidFill>
                  <a:srgbClr val="12263F"/>
                </a:solidFill>
                <a:latin typeface="Calibri" pitchFamily="34" charset="0"/>
                <a:ea typeface="Calibri" pitchFamily="34" charset="-122"/>
                <a:cs typeface="Calibri" pitchFamily="34" charset="-120"/>
              </a:rPr>
              <a:t>Unknown</a:t>
            </a:r>
            <a:pPr indent="0" marL="0">
              <a:buNone/>
            </a:pPr>
            <a:r>
              <a:rPr lang="en-US" sz="1700" dirty="0">
                <a:solidFill>
                  <a:srgbClr val="1B1B1B"/>
                </a:solidFill>
                <a:latin typeface="Calibri" pitchFamily="34" charset="0"/>
                <a:ea typeface="Calibri" pitchFamily="34" charset="-122"/>
                <a:cs typeface="Calibri" pitchFamily="34" charset="-120"/>
              </a:rPr>
              <a:t> and add a short note.</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Submit shift entry</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Unknown is an honest answer. Do not guess a defect.</a:t>
            </a:r>
            <a:endParaRPr lang="en-US" sz="1300" dirty="0"/>
          </a:p>
          <a:p>
            <a:pPr indent="0" marL="0">
              <a:buNone/>
            </a:pPr>
            <a:endParaRPr lang="en-US" sz="1300" dirty="0"/>
          </a:p>
          <a:p>
            <a:pPr indent="0" marL="0">
              <a:buNone/>
            </a:pPr>
            <a:r>
              <a:rPr lang="en-US" sz="1300" dirty="0">
                <a:solidFill>
                  <a:srgbClr val="5A6472"/>
                </a:solidFill>
                <a:latin typeface="Calibri" pitchFamily="34" charset="0"/>
                <a:ea typeface="Calibri" pitchFamily="34" charset="-122"/>
                <a:cs typeface="Calibri" pitchFamily="34" charset="-120"/>
              </a:rPr>
              <a:t>This highlights a real difference between what's reported by the die, and your shots in the basket. This is important, even if you are unable to account for each part difference.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WHEN IT LOOKS WRONG</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When the machine stops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69657" cy="5303520"/>
          </a:xfrm>
          <a:prstGeom prst="rect">
            <a:avLst/>
          </a:prstGeom>
        </p:spPr>
      </p:pic>
      <p:sp>
        <p:nvSpPr>
          <p:cNvPr id="5" name="Shape 2"/>
          <p:cNvSpPr/>
          <p:nvPr/>
        </p:nvSpPr>
        <p:spPr>
          <a:xfrm>
            <a:off x="6022238" y="1259129"/>
            <a:ext cx="755294" cy="247802"/>
          </a:xfrm>
          <a:prstGeom prst="rect">
            <a:avLst/>
          </a:prstGeom>
          <a:ln w="31750">
            <a:solidFill>
              <a:srgbClr val="000000">
                <a:alpha val="55000"/>
              </a:srgbClr>
            </a:solidFill>
            <a:prstDash val="solid"/>
          </a:ln>
        </p:spPr>
      </p:sp>
      <p:sp>
        <p:nvSpPr>
          <p:cNvPr id="6" name="Shape 3"/>
          <p:cNvSpPr/>
          <p:nvPr/>
        </p:nvSpPr>
        <p:spPr>
          <a:xfrm>
            <a:off x="6031382" y="1268273"/>
            <a:ext cx="737006" cy="229514"/>
          </a:xfrm>
          <a:prstGeom prst="rect">
            <a:avLst/>
          </a:prstGeom>
          <a:ln w="19050">
            <a:solidFill>
              <a:srgbClr val="FFB400"/>
            </a:solidFill>
            <a:prstDash val="solid"/>
          </a:ln>
        </p:spPr>
      </p:sp>
      <p:sp>
        <p:nvSpPr>
          <p:cNvPr id="7" name="Shape 4"/>
          <p:cNvSpPr/>
          <p:nvPr/>
        </p:nvSpPr>
        <p:spPr>
          <a:xfrm>
            <a:off x="5885078" y="1143000"/>
            <a:ext cx="256032" cy="256032"/>
          </a:xfrm>
          <a:prstGeom prst="ellipse">
            <a:avLst/>
          </a:prstGeom>
          <a:solidFill>
            <a:srgbClr val="FFB400"/>
          </a:solidFill>
          <a:ln w="9525">
            <a:solidFill>
              <a:srgbClr val="111111"/>
            </a:solidFill>
            <a:prstDash val="solid"/>
          </a:ln>
        </p:spPr>
      </p:sp>
      <p:sp>
        <p:nvSpPr>
          <p:cNvPr id="8" name="Text 5"/>
          <p:cNvSpPr txBox="1"/>
          <p:nvPr/>
        </p:nvSpPr>
        <p:spPr>
          <a:xfrm>
            <a:off x="5885078" y="11430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531206" y="2263140"/>
            <a:ext cx="656539" cy="225857"/>
          </a:xfrm>
          <a:prstGeom prst="rect">
            <a:avLst/>
          </a:prstGeom>
          <a:ln w="31750">
            <a:solidFill>
              <a:srgbClr val="000000">
                <a:alpha val="55000"/>
              </a:srgbClr>
            </a:solidFill>
            <a:prstDash val="solid"/>
          </a:ln>
        </p:spPr>
      </p:sp>
      <p:sp>
        <p:nvSpPr>
          <p:cNvPr id="10" name="Shape 7"/>
          <p:cNvSpPr/>
          <p:nvPr/>
        </p:nvSpPr>
        <p:spPr>
          <a:xfrm>
            <a:off x="5540350" y="2272284"/>
            <a:ext cx="638251" cy="207569"/>
          </a:xfrm>
          <a:prstGeom prst="rect">
            <a:avLst/>
          </a:prstGeom>
          <a:ln w="19050">
            <a:solidFill>
              <a:srgbClr val="FFB400"/>
            </a:solidFill>
            <a:prstDash val="solid"/>
          </a:ln>
        </p:spPr>
      </p:sp>
      <p:sp>
        <p:nvSpPr>
          <p:cNvPr id="11" name="Shape 8"/>
          <p:cNvSpPr/>
          <p:nvPr/>
        </p:nvSpPr>
        <p:spPr>
          <a:xfrm>
            <a:off x="5394046" y="2125980"/>
            <a:ext cx="256032" cy="256032"/>
          </a:xfrm>
          <a:prstGeom prst="ellipse">
            <a:avLst/>
          </a:prstGeom>
          <a:solidFill>
            <a:srgbClr val="FFB400"/>
          </a:solidFill>
          <a:ln w="9525">
            <a:solidFill>
              <a:srgbClr val="111111"/>
            </a:solidFill>
            <a:prstDash val="solid"/>
          </a:ln>
        </p:spPr>
      </p:sp>
      <p:sp>
        <p:nvSpPr>
          <p:cNvPr id="12" name="Text 9"/>
          <p:cNvSpPr txBox="1"/>
          <p:nvPr/>
        </p:nvSpPr>
        <p:spPr>
          <a:xfrm>
            <a:off x="5394046" y="212598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1820570" y="5394960"/>
            <a:ext cx="1000354" cy="247802"/>
          </a:xfrm>
          <a:prstGeom prst="rect">
            <a:avLst/>
          </a:prstGeom>
          <a:ln w="31750">
            <a:solidFill>
              <a:srgbClr val="000000">
                <a:alpha val="55000"/>
              </a:srgbClr>
            </a:solidFill>
            <a:prstDash val="solid"/>
          </a:ln>
        </p:spPr>
      </p:sp>
      <p:sp>
        <p:nvSpPr>
          <p:cNvPr id="14" name="Shape 11"/>
          <p:cNvSpPr/>
          <p:nvPr/>
        </p:nvSpPr>
        <p:spPr>
          <a:xfrm>
            <a:off x="1829714" y="5404104"/>
            <a:ext cx="982066" cy="229514"/>
          </a:xfrm>
          <a:prstGeom prst="rect">
            <a:avLst/>
          </a:prstGeom>
          <a:ln w="19050">
            <a:solidFill>
              <a:srgbClr val="FFB400"/>
            </a:solidFill>
            <a:prstDash val="solid"/>
          </a:ln>
        </p:spPr>
      </p:sp>
      <p:sp>
        <p:nvSpPr>
          <p:cNvPr id="15" name="Shape 12"/>
          <p:cNvSpPr/>
          <p:nvPr/>
        </p:nvSpPr>
        <p:spPr>
          <a:xfrm>
            <a:off x="1683410" y="5257800"/>
            <a:ext cx="256032" cy="256032"/>
          </a:xfrm>
          <a:prstGeom prst="ellipse">
            <a:avLst/>
          </a:prstGeom>
          <a:solidFill>
            <a:srgbClr val="FFB400"/>
          </a:solidFill>
          <a:ln w="9525">
            <a:solidFill>
              <a:srgbClr val="111111"/>
            </a:solidFill>
            <a:prstDash val="solid"/>
          </a:ln>
        </p:spPr>
      </p:sp>
      <p:sp>
        <p:nvSpPr>
          <p:cNvPr id="16" name="Text 13"/>
          <p:cNvSpPr txBox="1"/>
          <p:nvPr/>
        </p:nvSpPr>
        <p:spPr>
          <a:xfrm>
            <a:off x="1683410" y="52578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2802636" y="5394960"/>
            <a:ext cx="967435" cy="247802"/>
          </a:xfrm>
          <a:prstGeom prst="rect">
            <a:avLst/>
          </a:prstGeom>
          <a:ln w="31750">
            <a:solidFill>
              <a:srgbClr val="000000">
                <a:alpha val="55000"/>
              </a:srgbClr>
            </a:solidFill>
            <a:prstDash val="solid"/>
          </a:ln>
        </p:spPr>
      </p:sp>
      <p:sp>
        <p:nvSpPr>
          <p:cNvPr id="18" name="Shape 15"/>
          <p:cNvSpPr/>
          <p:nvPr/>
        </p:nvSpPr>
        <p:spPr>
          <a:xfrm>
            <a:off x="2811780" y="5404104"/>
            <a:ext cx="949147" cy="229514"/>
          </a:xfrm>
          <a:prstGeom prst="rect">
            <a:avLst/>
          </a:prstGeom>
          <a:ln w="19050">
            <a:solidFill>
              <a:srgbClr val="FFB400"/>
            </a:solidFill>
            <a:prstDash val="solid"/>
          </a:ln>
        </p:spPr>
      </p:sp>
      <p:sp>
        <p:nvSpPr>
          <p:cNvPr id="19" name="Shape 16"/>
          <p:cNvSpPr/>
          <p:nvPr/>
        </p:nvSpPr>
        <p:spPr>
          <a:xfrm>
            <a:off x="2665476" y="5257800"/>
            <a:ext cx="256032" cy="256032"/>
          </a:xfrm>
          <a:prstGeom prst="ellipse">
            <a:avLst/>
          </a:prstGeom>
          <a:solidFill>
            <a:srgbClr val="FFB400"/>
          </a:solidFill>
          <a:ln w="9525">
            <a:solidFill>
              <a:srgbClr val="111111"/>
            </a:solidFill>
            <a:prstDash val="solid"/>
          </a:ln>
        </p:spPr>
      </p:sp>
      <p:sp>
        <p:nvSpPr>
          <p:cNvPr id="20" name="Text 17"/>
          <p:cNvSpPr txBox="1"/>
          <p:nvPr/>
        </p:nvSpPr>
        <p:spPr>
          <a:xfrm>
            <a:off x="2665476" y="52578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Downtime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machine and the shift.</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Machine down now? Tap </a:t>
            </a:r>
            <a:pPr indent="0" marL="0">
              <a:buNone/>
            </a:pPr>
            <a:r>
              <a:rPr lang="en-US" sz="1700" b="1" dirty="0">
                <a:solidFill>
                  <a:srgbClr val="12263F"/>
                </a:solidFill>
                <a:latin typeface="Calibri" pitchFamily="34" charset="0"/>
                <a:ea typeface="Calibri" pitchFamily="34" charset="-122"/>
                <a:cs typeface="Calibri" pitchFamily="34" charset="-120"/>
              </a:rPr>
              <a:t>Start Downtime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Forgot to log a stop? Tap </a:t>
            </a:r>
            <a:pPr indent="0" marL="0">
              <a:buNone/>
            </a:pPr>
            <a:r>
              <a:rPr lang="en-US" sz="1700" b="1" dirty="0">
                <a:solidFill>
                  <a:srgbClr val="12263F"/>
                </a:solidFill>
                <a:latin typeface="Calibri" pitchFamily="34" charset="0"/>
                <a:ea typeface="Calibri" pitchFamily="34" charset="-122"/>
                <a:cs typeface="Calibri" pitchFamily="34" charset="-120"/>
              </a:rPr>
              <a:t>Add Past Event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Hand over to the next operator</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1486" cy="5303520"/>
          </a:xfrm>
          <a:prstGeom prst="rect">
            <a:avLst/>
          </a:prstGeom>
        </p:spPr>
      </p:pic>
      <p:sp>
        <p:nvSpPr>
          <p:cNvPr id="5" name="Shape 2"/>
          <p:cNvSpPr/>
          <p:nvPr/>
        </p:nvSpPr>
        <p:spPr>
          <a:xfrm>
            <a:off x="6016752" y="1619402"/>
            <a:ext cx="887882" cy="181966"/>
          </a:xfrm>
          <a:prstGeom prst="rect">
            <a:avLst/>
          </a:prstGeom>
          <a:ln w="31750">
            <a:solidFill>
              <a:srgbClr val="000000">
                <a:alpha val="55000"/>
              </a:srgbClr>
            </a:solidFill>
            <a:prstDash val="solid"/>
          </a:ln>
        </p:spPr>
      </p:sp>
      <p:sp>
        <p:nvSpPr>
          <p:cNvPr id="6" name="Shape 3"/>
          <p:cNvSpPr/>
          <p:nvPr/>
        </p:nvSpPr>
        <p:spPr>
          <a:xfrm>
            <a:off x="6025896" y="1628546"/>
            <a:ext cx="869594" cy="163678"/>
          </a:xfrm>
          <a:prstGeom prst="rect">
            <a:avLst/>
          </a:prstGeom>
          <a:ln w="19050">
            <a:solidFill>
              <a:srgbClr val="FFB400"/>
            </a:solidFill>
            <a:prstDash val="solid"/>
          </a:ln>
        </p:spPr>
      </p:sp>
      <p:sp>
        <p:nvSpPr>
          <p:cNvPr id="7" name="Shape 4"/>
          <p:cNvSpPr/>
          <p:nvPr/>
        </p:nvSpPr>
        <p:spPr>
          <a:xfrm>
            <a:off x="5879592" y="1482242"/>
            <a:ext cx="256032" cy="256032"/>
          </a:xfrm>
          <a:prstGeom prst="ellipse">
            <a:avLst/>
          </a:prstGeom>
          <a:solidFill>
            <a:srgbClr val="FFB400"/>
          </a:solidFill>
          <a:ln w="9525">
            <a:solidFill>
              <a:srgbClr val="111111"/>
            </a:solidFill>
            <a:prstDash val="solid"/>
          </a:ln>
        </p:spPr>
      </p:sp>
      <p:sp>
        <p:nvSpPr>
          <p:cNvPr id="8" name="Text 5"/>
          <p:cNvSpPr txBox="1"/>
          <p:nvPr/>
        </p:nvSpPr>
        <p:spPr>
          <a:xfrm>
            <a:off x="5879592" y="148224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559406" y="3567989"/>
            <a:ext cx="2210105" cy="2402129"/>
          </a:xfrm>
          <a:prstGeom prst="rect">
            <a:avLst/>
          </a:prstGeom>
          <a:ln w="31750">
            <a:solidFill>
              <a:srgbClr val="000000">
                <a:alpha val="55000"/>
              </a:srgbClr>
            </a:solidFill>
            <a:prstDash val="solid"/>
          </a:ln>
        </p:spPr>
      </p:sp>
      <p:sp>
        <p:nvSpPr>
          <p:cNvPr id="10" name="Shape 7"/>
          <p:cNvSpPr/>
          <p:nvPr/>
        </p:nvSpPr>
        <p:spPr>
          <a:xfrm>
            <a:off x="2568550" y="3577133"/>
            <a:ext cx="2191817" cy="2383841"/>
          </a:xfrm>
          <a:prstGeom prst="rect">
            <a:avLst/>
          </a:prstGeom>
          <a:ln w="19050">
            <a:solidFill>
              <a:srgbClr val="FFB400"/>
            </a:solidFill>
            <a:prstDash val="solid"/>
          </a:ln>
        </p:spPr>
      </p:sp>
      <p:sp>
        <p:nvSpPr>
          <p:cNvPr id="11" name="Shape 8"/>
          <p:cNvSpPr/>
          <p:nvPr/>
        </p:nvSpPr>
        <p:spPr>
          <a:xfrm>
            <a:off x="2422246" y="3430829"/>
            <a:ext cx="256032" cy="256032"/>
          </a:xfrm>
          <a:prstGeom prst="ellipse">
            <a:avLst/>
          </a:prstGeom>
          <a:solidFill>
            <a:srgbClr val="FFB400"/>
          </a:solidFill>
          <a:ln w="9525">
            <a:solidFill>
              <a:srgbClr val="111111"/>
            </a:solidFill>
            <a:prstDash val="solid"/>
          </a:ln>
        </p:spPr>
      </p:sp>
      <p:sp>
        <p:nvSpPr>
          <p:cNvPr id="12" name="Text 9"/>
          <p:cNvSpPr txBox="1"/>
          <p:nvPr/>
        </p:nvSpPr>
        <p:spPr>
          <a:xfrm>
            <a:off x="2422246" y="34308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next operator taps the name here.</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They type their own PIN.</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KEEP THIS ONE</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Quick reference</a:t>
            </a:r>
            <a:endParaRPr lang="en-US" sz="3200" dirty="0"/>
          </a:p>
        </p:txBody>
      </p:sp>
      <p:sp>
        <p:nvSpPr>
          <p:cNvPr id="4" name="Shape 2"/>
          <p:cNvSpPr/>
          <p:nvPr/>
        </p:nvSpPr>
        <p:spPr>
          <a:xfrm>
            <a:off x="411480" y="1234440"/>
            <a:ext cx="3596640" cy="5212080"/>
          </a:xfrm>
          <a:prstGeom prst="roundRect">
            <a:avLst>
              <a:gd name="adj" fmla="val 2034"/>
            </a:avLst>
          </a:prstGeom>
          <a:solidFill>
            <a:srgbClr val="EEF2F7"/>
          </a:solidFill>
          <a:ln w="12700">
            <a:solidFill>
              <a:srgbClr val="EEF2F7"/>
            </a:solidFill>
            <a:prstDash val="solid"/>
          </a:ln>
        </p:spPr>
      </p:sp>
      <p:sp>
        <p:nvSpPr>
          <p:cNvPr id="5" name="Text 3"/>
          <p:cNvSpPr txBox="1"/>
          <p:nvPr/>
        </p:nvSpPr>
        <p:spPr>
          <a:xfrm>
            <a:off x="64008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Every basket</a:t>
            </a:r>
            <a:endParaRPr lang="en-US" sz="2000" dirty="0"/>
          </a:p>
        </p:txBody>
      </p:sp>
      <p:sp>
        <p:nvSpPr>
          <p:cNvPr id="6" name="Text 4"/>
          <p:cNvSpPr txBox="1"/>
          <p:nvPr/>
        </p:nvSpPr>
        <p:spPr>
          <a:xfrm>
            <a:off x="64008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Scan the ticket into the empty row.</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Open 1 basket(s)</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When the basket is full,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Release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Type the press counter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Release basket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4282440" y="1234440"/>
            <a:ext cx="3596640" cy="5212080"/>
          </a:xfrm>
          <a:prstGeom prst="roundRect">
            <a:avLst>
              <a:gd name="adj" fmla="val 2034"/>
            </a:avLst>
          </a:prstGeom>
          <a:solidFill>
            <a:srgbClr val="EEF2F7"/>
          </a:solidFill>
          <a:ln w="12700">
            <a:solidFill>
              <a:srgbClr val="EEF2F7"/>
            </a:solidFill>
            <a:prstDash val="solid"/>
          </a:ln>
        </p:spPr>
      </p:sp>
      <p:sp>
        <p:nvSpPr>
          <p:cNvPr id="8" name="Text 6"/>
          <p:cNvSpPr txBox="1"/>
          <p:nvPr/>
        </p:nvSpPr>
        <p:spPr>
          <a:xfrm>
            <a:off x="451104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End of shift</a:t>
            </a:r>
            <a:endParaRPr lang="en-US" sz="2000" dirty="0"/>
          </a:p>
        </p:txBody>
      </p:sp>
      <p:sp>
        <p:nvSpPr>
          <p:cNvPr id="9" name="Text 7"/>
          <p:cNvSpPr txBox="1"/>
          <p:nvPr/>
        </p:nvSpPr>
        <p:spPr>
          <a:xfrm>
            <a:off x="451104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Open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Reconcile Shift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Pick your shift.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Type the press counter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Compute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Add warm-up and test shots.</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Add scrap on each cavity.</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Give a reason for every amber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Submit shift entry</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8153400" y="1234440"/>
            <a:ext cx="3596640" cy="5212080"/>
          </a:xfrm>
          <a:prstGeom prst="roundRect">
            <a:avLst>
              <a:gd name="adj" fmla="val 2034"/>
            </a:avLst>
          </a:prstGeom>
          <a:solidFill>
            <a:srgbClr val="EEF2F7"/>
          </a:solidFill>
          <a:ln w="12700">
            <a:solidFill>
              <a:srgbClr val="EEF2F7"/>
            </a:solidFill>
            <a:prstDash val="solid"/>
          </a:ln>
        </p:spPr>
      </p:sp>
      <p:sp>
        <p:nvSpPr>
          <p:cNvPr id="11" name="Text 9"/>
          <p:cNvSpPr txBox="1"/>
          <p:nvPr/>
        </p:nvSpPr>
        <p:spPr>
          <a:xfrm>
            <a:off x="838200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When it looks wrong</a:t>
            </a:r>
            <a:endParaRPr lang="en-US" sz="2000" dirty="0"/>
          </a:p>
        </p:txBody>
      </p:sp>
      <p:sp>
        <p:nvSpPr>
          <p:cNvPr id="12" name="Text 10"/>
          <p:cNvSpPr txBox="1"/>
          <p:nvPr/>
        </p:nvSpPr>
        <p:spPr>
          <a:xfrm>
            <a:off x="838200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Counter was reset?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Fix counter</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Machine stopped?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Downtime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Die is wrong on screen? Call your team lead.</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Already sent the shift entry? Call your team lead.</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263F"/>
        </a:solidFill>
      </p:bgPr>
    </p:bg>
    <p:spTree>
      <p:nvGrpSpPr>
        <p:cNvPr id="1" name=""/>
        <p:cNvGrpSpPr/>
        <p:nvPr/>
      </p:nvGrpSpPr>
      <p:grpSpPr>
        <a:xfrm>
          <a:off x="0" y="0"/>
          <a:ext cx="0" cy="0"/>
          <a:chOff x="0" y="0"/>
          <a:chExt cx="0" cy="0"/>
        </a:xfrm>
      </p:grpSpPr>
      <p:sp>
        <p:nvSpPr>
          <p:cNvPr id="2" name="Text 0"/>
          <p:cNvSpPr txBox="1"/>
          <p:nvPr/>
        </p:nvSpPr>
        <p:spPr>
          <a:xfrm>
            <a:off x="731520" y="2377440"/>
            <a:ext cx="10698480" cy="10972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Part 2</a:t>
            </a:r>
            <a:endParaRPr lang="en-US" sz="4400" dirty="0"/>
          </a:p>
        </p:txBody>
      </p:sp>
      <p:sp>
        <p:nvSpPr>
          <p:cNvPr id="3" name="Text 1"/>
          <p:cNvSpPr txBox="1"/>
          <p:nvPr/>
        </p:nvSpPr>
        <p:spPr>
          <a:xfrm>
            <a:off x="731520" y="3474720"/>
            <a:ext cx="10698480" cy="548640"/>
          </a:xfrm>
          <a:prstGeom prst="rect">
            <a:avLst/>
          </a:prstGeom>
          <a:noFill/>
          <a:ln/>
        </p:spPr>
        <p:txBody>
          <a:bodyPr wrap="square" lIns="0" tIns="0" rIns="0" bIns="0" rtlCol="0" anchor="ctr"/>
          <a:lstStyle/>
          <a:p>
            <a:pPr indent="0" marL="0">
              <a:buNone/>
            </a:pPr>
            <a:r>
              <a:rPr lang="en-US" sz="2200" dirty="0">
                <a:solidFill>
                  <a:srgbClr val="FFB400"/>
                </a:solidFill>
                <a:latin typeface="Calibri" pitchFamily="34" charset="0"/>
                <a:ea typeface="Calibri" pitchFamily="34" charset="-122"/>
                <a:cs typeface="Calibri" pitchFamily="34" charset="-120"/>
              </a:rPr>
              <a:t>For team leads</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Supervisor Access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3520"/>
          </a:xfrm>
          <a:prstGeom prst="rect">
            <a:avLst/>
          </a:prstGeom>
        </p:spPr>
      </p:pic>
      <p:sp>
        <p:nvSpPr>
          <p:cNvPr id="5" name="Shape 2"/>
          <p:cNvSpPr/>
          <p:nvPr/>
        </p:nvSpPr>
        <p:spPr>
          <a:xfrm>
            <a:off x="5981090" y="1265530"/>
            <a:ext cx="1152144" cy="258775"/>
          </a:xfrm>
          <a:prstGeom prst="rect">
            <a:avLst/>
          </a:prstGeom>
          <a:ln w="31750">
            <a:solidFill>
              <a:srgbClr val="000000">
                <a:alpha val="55000"/>
              </a:srgbClr>
            </a:solidFill>
            <a:prstDash val="solid"/>
          </a:ln>
        </p:spPr>
      </p:sp>
      <p:sp>
        <p:nvSpPr>
          <p:cNvPr id="6" name="Shape 3"/>
          <p:cNvSpPr/>
          <p:nvPr/>
        </p:nvSpPr>
        <p:spPr>
          <a:xfrm>
            <a:off x="5990234" y="1274674"/>
            <a:ext cx="1133856" cy="240487"/>
          </a:xfrm>
          <a:prstGeom prst="rect">
            <a:avLst/>
          </a:prstGeom>
          <a:ln w="19050">
            <a:solidFill>
              <a:srgbClr val="FFB400"/>
            </a:solidFill>
            <a:prstDash val="solid"/>
          </a:ln>
        </p:spPr>
      </p:sp>
      <p:sp>
        <p:nvSpPr>
          <p:cNvPr id="7" name="Shape 4"/>
          <p:cNvSpPr/>
          <p:nvPr/>
        </p:nvSpPr>
        <p:spPr>
          <a:xfrm>
            <a:off x="5843930" y="1143000"/>
            <a:ext cx="256032" cy="256032"/>
          </a:xfrm>
          <a:prstGeom prst="ellipse">
            <a:avLst/>
          </a:prstGeom>
          <a:solidFill>
            <a:srgbClr val="FFB400"/>
          </a:solidFill>
          <a:ln w="9525">
            <a:solidFill>
              <a:srgbClr val="111111"/>
            </a:solidFill>
            <a:prstDash val="solid"/>
          </a:ln>
        </p:spPr>
      </p:sp>
      <p:sp>
        <p:nvSpPr>
          <p:cNvPr id="8" name="Text 5"/>
          <p:cNvSpPr txBox="1"/>
          <p:nvPr/>
        </p:nvSpPr>
        <p:spPr>
          <a:xfrm>
            <a:off x="5843930" y="11430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292401" y="3269894"/>
            <a:ext cx="2618842" cy="258775"/>
          </a:xfrm>
          <a:prstGeom prst="rect">
            <a:avLst/>
          </a:prstGeom>
          <a:ln w="31750">
            <a:solidFill>
              <a:srgbClr val="000000">
                <a:alpha val="55000"/>
              </a:srgbClr>
            </a:solidFill>
            <a:prstDash val="solid"/>
          </a:ln>
        </p:spPr>
      </p:sp>
      <p:sp>
        <p:nvSpPr>
          <p:cNvPr id="10" name="Shape 7"/>
          <p:cNvSpPr/>
          <p:nvPr/>
        </p:nvSpPr>
        <p:spPr>
          <a:xfrm>
            <a:off x="2301545" y="3279038"/>
            <a:ext cx="2600554" cy="240487"/>
          </a:xfrm>
          <a:prstGeom prst="rect">
            <a:avLst/>
          </a:prstGeom>
          <a:ln w="19050">
            <a:solidFill>
              <a:srgbClr val="FFB400"/>
            </a:solidFill>
            <a:prstDash val="solid"/>
          </a:ln>
        </p:spPr>
      </p:sp>
      <p:sp>
        <p:nvSpPr>
          <p:cNvPr id="11" name="Shape 8"/>
          <p:cNvSpPr/>
          <p:nvPr/>
        </p:nvSpPr>
        <p:spPr>
          <a:xfrm>
            <a:off x="2155241" y="3132734"/>
            <a:ext cx="256032" cy="256032"/>
          </a:xfrm>
          <a:prstGeom prst="ellipse">
            <a:avLst/>
          </a:prstGeom>
          <a:solidFill>
            <a:srgbClr val="FFB400"/>
          </a:solidFill>
          <a:ln w="9525">
            <a:solidFill>
              <a:srgbClr val="111111"/>
            </a:solidFill>
            <a:prstDash val="solid"/>
          </a:ln>
        </p:spPr>
      </p:sp>
      <p:sp>
        <p:nvSpPr>
          <p:cNvPr id="12" name="Text 9"/>
          <p:cNvSpPr txBox="1"/>
          <p:nvPr/>
        </p:nvSpPr>
        <p:spPr>
          <a:xfrm>
            <a:off x="2155241" y="313273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292401" y="4015130"/>
            <a:ext cx="2457907" cy="321869"/>
          </a:xfrm>
          <a:prstGeom prst="rect">
            <a:avLst/>
          </a:prstGeom>
          <a:ln w="31750">
            <a:solidFill>
              <a:srgbClr val="000000">
                <a:alpha val="55000"/>
              </a:srgbClr>
            </a:solidFill>
            <a:prstDash val="solid"/>
          </a:ln>
        </p:spPr>
      </p:sp>
      <p:sp>
        <p:nvSpPr>
          <p:cNvPr id="14" name="Shape 11"/>
          <p:cNvSpPr/>
          <p:nvPr/>
        </p:nvSpPr>
        <p:spPr>
          <a:xfrm>
            <a:off x="2301545" y="4024274"/>
            <a:ext cx="2439619" cy="303581"/>
          </a:xfrm>
          <a:prstGeom prst="rect">
            <a:avLst/>
          </a:prstGeom>
          <a:ln w="19050">
            <a:solidFill>
              <a:srgbClr val="FFB400"/>
            </a:solidFill>
            <a:prstDash val="solid"/>
          </a:ln>
        </p:spPr>
      </p:sp>
      <p:sp>
        <p:nvSpPr>
          <p:cNvPr id="15" name="Shape 12"/>
          <p:cNvSpPr/>
          <p:nvPr/>
        </p:nvSpPr>
        <p:spPr>
          <a:xfrm>
            <a:off x="2155241" y="3877970"/>
            <a:ext cx="256032" cy="256032"/>
          </a:xfrm>
          <a:prstGeom prst="ellipse">
            <a:avLst/>
          </a:prstGeom>
          <a:solidFill>
            <a:srgbClr val="FFB400"/>
          </a:solidFill>
          <a:ln w="9525">
            <a:solidFill>
              <a:srgbClr val="111111"/>
            </a:solidFill>
            <a:prstDash val="solid"/>
          </a:ln>
        </p:spPr>
      </p:sp>
      <p:sp>
        <p:nvSpPr>
          <p:cNvPr id="16" name="Text 13"/>
          <p:cNvSpPr txBox="1"/>
          <p:nvPr/>
        </p:nvSpPr>
        <p:spPr>
          <a:xfrm>
            <a:off x="2155241" y="387797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3993185" y="5343754"/>
            <a:ext cx="917143" cy="258775"/>
          </a:xfrm>
          <a:prstGeom prst="rect">
            <a:avLst/>
          </a:prstGeom>
          <a:ln w="31750">
            <a:solidFill>
              <a:srgbClr val="000000">
                <a:alpha val="55000"/>
              </a:srgbClr>
            </a:solidFill>
            <a:prstDash val="solid"/>
          </a:ln>
        </p:spPr>
      </p:sp>
      <p:sp>
        <p:nvSpPr>
          <p:cNvPr id="18" name="Shape 15"/>
          <p:cNvSpPr/>
          <p:nvPr/>
        </p:nvSpPr>
        <p:spPr>
          <a:xfrm>
            <a:off x="4002329" y="5352898"/>
            <a:ext cx="898855" cy="240487"/>
          </a:xfrm>
          <a:prstGeom prst="rect">
            <a:avLst/>
          </a:prstGeom>
          <a:ln w="19050">
            <a:solidFill>
              <a:srgbClr val="FFB400"/>
            </a:solidFill>
            <a:prstDash val="solid"/>
          </a:ln>
        </p:spPr>
      </p:sp>
      <p:sp>
        <p:nvSpPr>
          <p:cNvPr id="19" name="Shape 16"/>
          <p:cNvSpPr/>
          <p:nvPr/>
        </p:nvSpPr>
        <p:spPr>
          <a:xfrm>
            <a:off x="3856025" y="5206594"/>
            <a:ext cx="256032" cy="256032"/>
          </a:xfrm>
          <a:prstGeom prst="ellipse">
            <a:avLst/>
          </a:prstGeom>
          <a:solidFill>
            <a:srgbClr val="FFB400"/>
          </a:solidFill>
          <a:ln w="9525">
            <a:solidFill>
              <a:srgbClr val="111111"/>
            </a:solidFill>
            <a:prstDash val="solid"/>
          </a:ln>
        </p:spPr>
      </p:sp>
      <p:sp>
        <p:nvSpPr>
          <p:cNvPr id="20" name="Text 17"/>
          <p:cNvSpPr txBox="1"/>
          <p:nvPr/>
        </p:nvSpPr>
        <p:spPr>
          <a:xfrm>
            <a:off x="3856025" y="520659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Supervisor Access</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your own AD user name.</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your password.</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Authenticate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3" name="Text 30"/>
          <p:cNvSpPr txBox="1"/>
          <p:nvPr/>
        </p:nvSpPr>
        <p:spPr>
          <a:xfrm>
            <a:off x="8458200" y="48920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The sign-in lasts five minutes. Everything done then is saved under your name.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Die Mount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3520"/>
          </a:xfrm>
          <a:prstGeom prst="rect">
            <a:avLst/>
          </a:prstGeom>
        </p:spPr>
      </p:pic>
      <p:sp>
        <p:nvSpPr>
          <p:cNvPr id="5" name="Shape 2"/>
          <p:cNvSpPr/>
          <p:nvPr/>
        </p:nvSpPr>
        <p:spPr>
          <a:xfrm>
            <a:off x="7079285" y="1897380"/>
            <a:ext cx="927202" cy="297180"/>
          </a:xfrm>
          <a:prstGeom prst="rect">
            <a:avLst/>
          </a:prstGeom>
          <a:ln w="31750">
            <a:solidFill>
              <a:srgbClr val="000000">
                <a:alpha val="55000"/>
              </a:srgbClr>
            </a:solidFill>
            <a:prstDash val="solid"/>
          </a:ln>
        </p:spPr>
      </p:sp>
      <p:sp>
        <p:nvSpPr>
          <p:cNvPr id="6" name="Shape 3"/>
          <p:cNvSpPr/>
          <p:nvPr/>
        </p:nvSpPr>
        <p:spPr>
          <a:xfrm>
            <a:off x="7088429" y="1906524"/>
            <a:ext cx="908914" cy="278892"/>
          </a:xfrm>
          <a:prstGeom prst="rect">
            <a:avLst/>
          </a:prstGeom>
          <a:ln w="19050">
            <a:solidFill>
              <a:srgbClr val="FFB400"/>
            </a:solidFill>
            <a:prstDash val="solid"/>
          </a:ln>
        </p:spPr>
      </p:sp>
      <p:sp>
        <p:nvSpPr>
          <p:cNvPr id="7" name="Shape 4"/>
          <p:cNvSpPr/>
          <p:nvPr/>
        </p:nvSpPr>
        <p:spPr>
          <a:xfrm>
            <a:off x="6942125" y="1760220"/>
            <a:ext cx="256032" cy="256032"/>
          </a:xfrm>
          <a:prstGeom prst="ellipse">
            <a:avLst/>
          </a:prstGeom>
          <a:solidFill>
            <a:srgbClr val="FFB400"/>
          </a:solidFill>
          <a:ln w="9525">
            <a:solidFill>
              <a:srgbClr val="111111"/>
            </a:solidFill>
            <a:prstDash val="solid"/>
          </a:ln>
        </p:spPr>
      </p:sp>
      <p:sp>
        <p:nvSpPr>
          <p:cNvPr id="8" name="Text 5"/>
          <p:cNvSpPr txBox="1"/>
          <p:nvPr/>
        </p:nvSpPr>
        <p:spPr>
          <a:xfrm>
            <a:off x="6942125" y="176022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357884" y="2999232"/>
            <a:ext cx="3031236" cy="297180"/>
          </a:xfrm>
          <a:prstGeom prst="rect">
            <a:avLst/>
          </a:prstGeom>
          <a:ln w="31750">
            <a:solidFill>
              <a:srgbClr val="000000">
                <a:alpha val="55000"/>
              </a:srgbClr>
            </a:solidFill>
            <a:prstDash val="solid"/>
          </a:ln>
        </p:spPr>
      </p:sp>
      <p:sp>
        <p:nvSpPr>
          <p:cNvPr id="10" name="Shape 7"/>
          <p:cNvSpPr/>
          <p:nvPr/>
        </p:nvSpPr>
        <p:spPr>
          <a:xfrm>
            <a:off x="1367028" y="3008376"/>
            <a:ext cx="3012948" cy="278892"/>
          </a:xfrm>
          <a:prstGeom prst="rect">
            <a:avLst/>
          </a:prstGeom>
          <a:ln w="19050">
            <a:solidFill>
              <a:srgbClr val="FFB400"/>
            </a:solidFill>
            <a:prstDash val="solid"/>
          </a:ln>
        </p:spPr>
      </p:sp>
      <p:sp>
        <p:nvSpPr>
          <p:cNvPr id="11" name="Shape 8"/>
          <p:cNvSpPr/>
          <p:nvPr/>
        </p:nvSpPr>
        <p:spPr>
          <a:xfrm>
            <a:off x="1220724" y="2862072"/>
            <a:ext cx="256032" cy="256032"/>
          </a:xfrm>
          <a:prstGeom prst="ellipse">
            <a:avLst/>
          </a:prstGeom>
          <a:solidFill>
            <a:srgbClr val="FFB400"/>
          </a:solidFill>
          <a:ln w="9525">
            <a:solidFill>
              <a:srgbClr val="111111"/>
            </a:solidFill>
            <a:prstDash val="solid"/>
          </a:ln>
        </p:spPr>
      </p:sp>
      <p:sp>
        <p:nvSpPr>
          <p:cNvPr id="12" name="Text 9"/>
          <p:cNvSpPr txBox="1"/>
          <p:nvPr/>
        </p:nvSpPr>
        <p:spPr>
          <a:xfrm>
            <a:off x="1220724" y="286207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3329330" y="5402275"/>
            <a:ext cx="1060704" cy="297180"/>
          </a:xfrm>
          <a:prstGeom prst="rect">
            <a:avLst/>
          </a:prstGeom>
          <a:ln w="31750">
            <a:solidFill>
              <a:srgbClr val="000000">
                <a:alpha val="55000"/>
              </a:srgbClr>
            </a:solidFill>
            <a:prstDash val="solid"/>
          </a:ln>
        </p:spPr>
      </p:sp>
      <p:sp>
        <p:nvSpPr>
          <p:cNvPr id="14" name="Shape 11"/>
          <p:cNvSpPr/>
          <p:nvPr/>
        </p:nvSpPr>
        <p:spPr>
          <a:xfrm>
            <a:off x="3338474" y="5411419"/>
            <a:ext cx="1042416" cy="278892"/>
          </a:xfrm>
          <a:prstGeom prst="rect">
            <a:avLst/>
          </a:prstGeom>
          <a:ln w="19050">
            <a:solidFill>
              <a:srgbClr val="FFB400"/>
            </a:solidFill>
            <a:prstDash val="solid"/>
          </a:ln>
        </p:spPr>
      </p:sp>
      <p:sp>
        <p:nvSpPr>
          <p:cNvPr id="15" name="Shape 12"/>
          <p:cNvSpPr/>
          <p:nvPr/>
        </p:nvSpPr>
        <p:spPr>
          <a:xfrm>
            <a:off x="3192170" y="5265115"/>
            <a:ext cx="256032" cy="256032"/>
          </a:xfrm>
          <a:prstGeom prst="ellipse">
            <a:avLst/>
          </a:prstGeom>
          <a:solidFill>
            <a:srgbClr val="FFB400"/>
          </a:solidFill>
          <a:ln w="9525">
            <a:solidFill>
              <a:srgbClr val="111111"/>
            </a:solidFill>
            <a:prstDash val="solid"/>
          </a:ln>
        </p:spPr>
      </p:sp>
      <p:sp>
        <p:nvSpPr>
          <p:cNvPr id="16" name="Text 13"/>
          <p:cNvSpPr txBox="1"/>
          <p:nvPr/>
        </p:nvSpPr>
        <p:spPr>
          <a:xfrm>
            <a:off x="3192170" y="5265115"/>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Die changed on the press? Tap </a:t>
            </a:r>
            <a:pPr indent="0" marL="0">
              <a:buNone/>
            </a:pPr>
            <a:r>
              <a:rPr lang="en-US" sz="1700" b="1" dirty="0">
                <a:solidFill>
                  <a:srgbClr val="12263F"/>
                </a:solidFill>
                <a:latin typeface="Calibri" pitchFamily="34" charset="0"/>
                <a:ea typeface="Calibri" pitchFamily="34" charset="-122"/>
                <a:cs typeface="Calibri" pitchFamily="34" charset="-120"/>
              </a:rPr>
              <a:t>Die Mount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Sign in with your own AD user name and password.</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Authenticate</a:t>
            </a:r>
            <a:pPr indent="0" marL="0">
              <a:buNone/>
            </a:pPr>
            <a:r>
              <a:rPr lang="en-US" sz="1700" dirty="0">
                <a:solidFill>
                  <a:srgbClr val="1B1B1B"/>
                </a:solidFill>
                <a:latin typeface="Calibri" pitchFamily="34" charset="0"/>
                <a:ea typeface="Calibri" pitchFamily="34" charset="-122"/>
                <a:cs typeface="Calibri" pitchFamily="34" charset="-120"/>
              </a:rPr>
              <a:t>. Then pick the die that is in the press.</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The screen must always show the die that is really in the press.</a:t>
            </a:r>
            <a:endParaRPr lang="en-US" sz="1300" dirty="0"/>
          </a:p>
          <a:p>
            <a:pPr indent="0" marL="0">
              <a:buNone/>
            </a:pPr>
            <a:endParaRPr lang="en-US" sz="1300" dirty="0"/>
          </a:p>
          <a:p>
            <a:pPr indent="0" marL="0">
              <a:buNone/>
            </a:pPr>
            <a:r>
              <a:rPr lang="en-US" sz="1300" dirty="0">
                <a:solidFill>
                  <a:srgbClr val="5A6472"/>
                </a:solidFill>
                <a:latin typeface="Calibri" pitchFamily="34" charset="0"/>
                <a:ea typeface="Calibri" pitchFamily="34" charset="-122"/>
                <a:cs typeface="Calibri" pitchFamily="34" charset="-120"/>
              </a:rPr>
              <a:t>Mounting a die Is critical, it sets up cavity selection for lot submission, and helps track die life and shot count.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Releasing the Current Mount</a:t>
            </a:r>
            <a:endParaRPr lang="en-US" sz="3200" dirty="0"/>
          </a:p>
        </p:txBody>
      </p:sp>
      <p:pic>
        <p:nvPicPr>
          <p:cNvPr id="4" name="Image 0" descr="Releasing the Current Mount">    </p:cNvPr>
          <p:cNvPicPr>
            <a:picLocks noChangeAspect="1"/>
          </p:cNvPicPr>
          <p:nvPr/>
        </p:nvPicPr>
        <p:blipFill>
          <a:blip r:embed="rId1"/>
          <a:stretch>
            <a:fillRect/>
          </a:stretch>
        </p:blipFill>
        <p:spPr>
          <a:xfrm>
            <a:off x="411480" y="1143000"/>
            <a:ext cx="6517843" cy="5303520"/>
          </a:xfrm>
          <a:prstGeom prst="rect">
            <a:avLst/>
          </a:prstGeom>
        </p:spPr>
      </p:pic>
      <p:sp>
        <p:nvSpPr>
          <p:cNvPr id="5" name="Text 2"/>
          <p:cNvSpPr txBox="1"/>
          <p:nvPr/>
        </p:nvSpPr>
        <p:spPr>
          <a:xfrm>
            <a:off x="8458200" y="1143000"/>
            <a:ext cx="3337560" cy="411480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First release the currently mounted Die</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Mounting a new Die</a:t>
            </a:r>
            <a:endParaRPr lang="en-US" sz="3200" dirty="0"/>
          </a:p>
        </p:txBody>
      </p:sp>
      <p:pic>
        <p:nvPicPr>
          <p:cNvPr id="4" name="Image 0" descr="Mounting a new Die">    </p:cNvPr>
          <p:cNvPicPr>
            <a:picLocks noChangeAspect="1"/>
          </p:cNvPicPr>
          <p:nvPr/>
        </p:nvPicPr>
        <p:blipFill>
          <a:blip r:embed="rId1"/>
          <a:stretch>
            <a:fillRect/>
          </a:stretch>
        </p:blipFill>
        <p:spPr>
          <a:xfrm>
            <a:off x="411480" y="1143000"/>
            <a:ext cx="6548018" cy="5303520"/>
          </a:xfrm>
          <a:prstGeom prst="rect">
            <a:avLst/>
          </a:prstGeom>
        </p:spPr>
      </p:pic>
      <p:sp>
        <p:nvSpPr>
          <p:cNvPr id="5" name="Text 2"/>
          <p:cNvSpPr txBox="1"/>
          <p:nvPr/>
        </p:nvSpPr>
        <p:spPr>
          <a:xfrm>
            <a:off x="8458200" y="1143000"/>
            <a:ext cx="3337560" cy="411480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Select the Die</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Reset Terminal</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1691"/>
          </a:xfrm>
          <a:prstGeom prst="rect">
            <a:avLst/>
          </a:prstGeom>
        </p:spPr>
      </p:pic>
      <p:sp>
        <p:nvSpPr>
          <p:cNvPr id="5" name="Shape 2"/>
          <p:cNvSpPr/>
          <p:nvPr/>
        </p:nvSpPr>
        <p:spPr>
          <a:xfrm>
            <a:off x="7193585" y="1255471"/>
            <a:ext cx="935431" cy="241402"/>
          </a:xfrm>
          <a:prstGeom prst="rect">
            <a:avLst/>
          </a:prstGeom>
          <a:ln w="31750">
            <a:solidFill>
              <a:srgbClr val="000000">
                <a:alpha val="55000"/>
              </a:srgbClr>
            </a:solidFill>
            <a:prstDash val="solid"/>
          </a:ln>
        </p:spPr>
      </p:sp>
      <p:sp>
        <p:nvSpPr>
          <p:cNvPr id="6" name="Shape 3"/>
          <p:cNvSpPr/>
          <p:nvPr/>
        </p:nvSpPr>
        <p:spPr>
          <a:xfrm>
            <a:off x="7202729" y="1264615"/>
            <a:ext cx="917143" cy="223114"/>
          </a:xfrm>
          <a:prstGeom prst="rect">
            <a:avLst/>
          </a:prstGeom>
          <a:ln w="19050">
            <a:solidFill>
              <a:srgbClr val="FFB400"/>
            </a:solidFill>
            <a:prstDash val="solid"/>
          </a:ln>
        </p:spPr>
      </p:sp>
      <p:sp>
        <p:nvSpPr>
          <p:cNvPr id="7" name="Shape 4"/>
          <p:cNvSpPr/>
          <p:nvPr/>
        </p:nvSpPr>
        <p:spPr>
          <a:xfrm>
            <a:off x="7056425" y="1143000"/>
            <a:ext cx="256032" cy="256032"/>
          </a:xfrm>
          <a:prstGeom prst="ellipse">
            <a:avLst/>
          </a:prstGeom>
          <a:solidFill>
            <a:srgbClr val="FFB400"/>
          </a:solidFill>
          <a:ln w="9525">
            <a:solidFill>
              <a:srgbClr val="111111"/>
            </a:solidFill>
            <a:prstDash val="solid"/>
          </a:ln>
        </p:spPr>
      </p:sp>
      <p:sp>
        <p:nvSpPr>
          <p:cNvPr id="8" name="Text 5"/>
          <p:cNvSpPr txBox="1"/>
          <p:nvPr/>
        </p:nvSpPr>
        <p:spPr>
          <a:xfrm>
            <a:off x="7056425" y="11430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905049" y="3540557"/>
            <a:ext cx="2075688" cy="2255825"/>
          </a:xfrm>
          <a:prstGeom prst="rect">
            <a:avLst/>
          </a:prstGeom>
          <a:ln w="31750">
            <a:solidFill>
              <a:srgbClr val="000000">
                <a:alpha val="55000"/>
              </a:srgbClr>
            </a:solidFill>
            <a:prstDash val="solid"/>
          </a:ln>
        </p:spPr>
      </p:sp>
      <p:sp>
        <p:nvSpPr>
          <p:cNvPr id="10" name="Shape 7"/>
          <p:cNvSpPr/>
          <p:nvPr/>
        </p:nvSpPr>
        <p:spPr>
          <a:xfrm>
            <a:off x="2914193" y="3549701"/>
            <a:ext cx="2057400" cy="2237537"/>
          </a:xfrm>
          <a:prstGeom prst="rect">
            <a:avLst/>
          </a:prstGeom>
          <a:ln w="19050">
            <a:solidFill>
              <a:srgbClr val="FFB400"/>
            </a:solidFill>
            <a:prstDash val="solid"/>
          </a:ln>
        </p:spPr>
      </p:sp>
      <p:sp>
        <p:nvSpPr>
          <p:cNvPr id="11" name="Shape 8"/>
          <p:cNvSpPr/>
          <p:nvPr/>
        </p:nvSpPr>
        <p:spPr>
          <a:xfrm>
            <a:off x="2767889" y="3403397"/>
            <a:ext cx="256032" cy="256032"/>
          </a:xfrm>
          <a:prstGeom prst="ellipse">
            <a:avLst/>
          </a:prstGeom>
          <a:solidFill>
            <a:srgbClr val="FFB400"/>
          </a:solidFill>
          <a:ln w="9525">
            <a:solidFill>
              <a:srgbClr val="111111"/>
            </a:solidFill>
            <a:prstDash val="solid"/>
          </a:ln>
        </p:spPr>
      </p:sp>
      <p:sp>
        <p:nvSpPr>
          <p:cNvPr id="12" name="Text 9"/>
          <p:cNvSpPr txBox="1"/>
          <p:nvPr/>
        </p:nvSpPr>
        <p:spPr>
          <a:xfrm>
            <a:off x="2767889" y="3403397"/>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Reset Terminal</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person on the screen is signed out. The next person types their PIN.</a:t>
            </a:r>
            <a:endParaRPr lang="en-US" sz="1700" dirty="0"/>
          </a:p>
        </p:txBody>
      </p:sp>
      <p:sp>
        <p:nvSpPr>
          <p:cNvPr id="19" name="Text 16"/>
          <p:cNvSpPr txBox="1"/>
          <p:nvPr/>
        </p:nvSpPr>
        <p:spPr>
          <a:xfrm>
            <a:off x="8458200" y="30632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It signs out whoever is on the screen, right away. It does not ask first.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Die Cast Production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746090" y="1624889"/>
            <a:ext cx="1446581" cy="358445"/>
          </a:xfrm>
          <a:prstGeom prst="rect">
            <a:avLst/>
          </a:prstGeom>
          <a:ln w="31750">
            <a:solidFill>
              <a:srgbClr val="000000">
                <a:alpha val="55000"/>
              </a:srgbClr>
            </a:solidFill>
            <a:prstDash val="solid"/>
          </a:ln>
        </p:spPr>
      </p:sp>
      <p:sp>
        <p:nvSpPr>
          <p:cNvPr id="6" name="Shape 3"/>
          <p:cNvSpPr/>
          <p:nvPr/>
        </p:nvSpPr>
        <p:spPr>
          <a:xfrm>
            <a:off x="5755234" y="1634033"/>
            <a:ext cx="1428293" cy="340157"/>
          </a:xfrm>
          <a:prstGeom prst="rect">
            <a:avLst/>
          </a:prstGeom>
          <a:ln w="19050">
            <a:solidFill>
              <a:srgbClr val="2E86DE"/>
            </a:solidFill>
            <a:prstDash val="solid"/>
          </a:ln>
        </p:spPr>
      </p:sp>
      <p:sp>
        <p:nvSpPr>
          <p:cNvPr id="7" name="Shape 4"/>
          <p:cNvSpPr/>
          <p:nvPr/>
        </p:nvSpPr>
        <p:spPr>
          <a:xfrm>
            <a:off x="465430" y="2081174"/>
            <a:ext cx="4574743" cy="610819"/>
          </a:xfrm>
          <a:prstGeom prst="rect">
            <a:avLst/>
          </a:prstGeom>
          <a:ln w="31750">
            <a:solidFill>
              <a:srgbClr val="000000">
                <a:alpha val="55000"/>
              </a:srgbClr>
            </a:solidFill>
            <a:prstDash val="solid"/>
          </a:ln>
        </p:spPr>
      </p:sp>
      <p:sp>
        <p:nvSpPr>
          <p:cNvPr id="8" name="Shape 5"/>
          <p:cNvSpPr/>
          <p:nvPr/>
        </p:nvSpPr>
        <p:spPr>
          <a:xfrm>
            <a:off x="474574" y="2090318"/>
            <a:ext cx="4556455" cy="592531"/>
          </a:xfrm>
          <a:prstGeom prst="rect">
            <a:avLst/>
          </a:prstGeom>
          <a:ln w="19050">
            <a:solidFill>
              <a:srgbClr val="E67E22"/>
            </a:solidFill>
            <a:prstDash val="solid"/>
          </a:ln>
        </p:spPr>
      </p:sp>
      <p:sp>
        <p:nvSpPr>
          <p:cNvPr id="9" name="Shape 6"/>
          <p:cNvSpPr/>
          <p:nvPr/>
        </p:nvSpPr>
        <p:spPr>
          <a:xfrm>
            <a:off x="465430" y="2722169"/>
            <a:ext cx="3816706" cy="3225089"/>
          </a:xfrm>
          <a:prstGeom prst="rect">
            <a:avLst/>
          </a:prstGeom>
          <a:ln w="31750">
            <a:solidFill>
              <a:srgbClr val="000000">
                <a:alpha val="55000"/>
              </a:srgbClr>
            </a:solidFill>
            <a:prstDash val="solid"/>
          </a:ln>
        </p:spPr>
      </p:sp>
      <p:sp>
        <p:nvSpPr>
          <p:cNvPr id="10" name="Shape 7"/>
          <p:cNvSpPr/>
          <p:nvPr/>
        </p:nvSpPr>
        <p:spPr>
          <a:xfrm>
            <a:off x="474574" y="2731313"/>
            <a:ext cx="3798418" cy="3206801"/>
          </a:xfrm>
          <a:prstGeom prst="rect">
            <a:avLst/>
          </a:prstGeom>
          <a:ln w="19050">
            <a:solidFill>
              <a:srgbClr val="8E44AD"/>
            </a:solidFill>
            <a:prstDash val="solid"/>
          </a:ln>
        </p:spPr>
      </p:sp>
      <p:sp>
        <p:nvSpPr>
          <p:cNvPr id="11" name="Shape 8"/>
          <p:cNvSpPr/>
          <p:nvPr/>
        </p:nvSpPr>
        <p:spPr>
          <a:xfrm>
            <a:off x="4313225" y="2722169"/>
            <a:ext cx="3816706" cy="3225089"/>
          </a:xfrm>
          <a:prstGeom prst="rect">
            <a:avLst/>
          </a:prstGeom>
          <a:ln w="31750">
            <a:solidFill>
              <a:srgbClr val="000000">
                <a:alpha val="55000"/>
              </a:srgbClr>
            </a:solidFill>
            <a:prstDash val="solid"/>
          </a:ln>
        </p:spPr>
      </p:sp>
      <p:sp>
        <p:nvSpPr>
          <p:cNvPr id="12" name="Shape 9"/>
          <p:cNvSpPr/>
          <p:nvPr/>
        </p:nvSpPr>
        <p:spPr>
          <a:xfrm>
            <a:off x="4322369" y="2731313"/>
            <a:ext cx="3798418" cy="3206801"/>
          </a:xfrm>
          <a:prstGeom prst="rect">
            <a:avLst/>
          </a:prstGeom>
          <a:ln w="19050">
            <a:solidFill>
              <a:srgbClr val="16A085"/>
            </a:solidFill>
            <a:prstDash val="solid"/>
          </a:ln>
        </p:spPr>
      </p:sp>
      <p:sp>
        <p:nvSpPr>
          <p:cNvPr id="13" name="Shape 10"/>
          <p:cNvSpPr/>
          <p:nvPr/>
        </p:nvSpPr>
        <p:spPr>
          <a:xfrm>
            <a:off x="5755234" y="1350569"/>
            <a:ext cx="237744" cy="237744"/>
          </a:xfrm>
          <a:prstGeom prst="roundRect">
            <a:avLst>
              <a:gd name="adj" fmla="val 15385"/>
            </a:avLst>
          </a:prstGeom>
          <a:solidFill>
            <a:srgbClr val="2E86DE"/>
          </a:solidFill>
          <a:ln w="9525">
            <a:solidFill>
              <a:srgbClr val="FFFFFF"/>
            </a:solidFill>
            <a:prstDash val="solid"/>
          </a:ln>
        </p:spPr>
      </p:sp>
      <p:sp>
        <p:nvSpPr>
          <p:cNvPr id="14" name="Text 11"/>
          <p:cNvSpPr txBox="1"/>
          <p:nvPr/>
        </p:nvSpPr>
        <p:spPr>
          <a:xfrm>
            <a:off x="5755234" y="135056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5" name="Shape 12"/>
          <p:cNvSpPr/>
          <p:nvPr/>
        </p:nvSpPr>
        <p:spPr>
          <a:xfrm>
            <a:off x="474574" y="1806854"/>
            <a:ext cx="237744" cy="237744"/>
          </a:xfrm>
          <a:prstGeom prst="roundRect">
            <a:avLst>
              <a:gd name="adj" fmla="val 15385"/>
            </a:avLst>
          </a:prstGeom>
          <a:solidFill>
            <a:srgbClr val="E67E22"/>
          </a:solidFill>
          <a:ln w="9525">
            <a:solidFill>
              <a:srgbClr val="FFFFFF"/>
            </a:solidFill>
            <a:prstDash val="solid"/>
          </a:ln>
        </p:spPr>
      </p:sp>
      <p:sp>
        <p:nvSpPr>
          <p:cNvPr id="16" name="Text 13"/>
          <p:cNvSpPr txBox="1"/>
          <p:nvPr/>
        </p:nvSpPr>
        <p:spPr>
          <a:xfrm>
            <a:off x="474574" y="180685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17" name="Shape 14"/>
          <p:cNvSpPr/>
          <p:nvPr/>
        </p:nvSpPr>
        <p:spPr>
          <a:xfrm>
            <a:off x="191110" y="4215841"/>
            <a:ext cx="237744" cy="237744"/>
          </a:xfrm>
          <a:prstGeom prst="roundRect">
            <a:avLst>
              <a:gd name="adj" fmla="val 15385"/>
            </a:avLst>
          </a:prstGeom>
          <a:solidFill>
            <a:srgbClr val="8E44AD"/>
          </a:solidFill>
          <a:ln w="9525">
            <a:solidFill>
              <a:srgbClr val="FFFFFF"/>
            </a:solidFill>
            <a:prstDash val="solid"/>
          </a:ln>
        </p:spPr>
      </p:sp>
      <p:sp>
        <p:nvSpPr>
          <p:cNvPr id="18" name="Text 15"/>
          <p:cNvSpPr txBox="1"/>
          <p:nvPr/>
        </p:nvSpPr>
        <p:spPr>
          <a:xfrm>
            <a:off x="191110" y="4215841"/>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19" name="Shape 16"/>
          <p:cNvSpPr/>
          <p:nvPr/>
        </p:nvSpPr>
        <p:spPr>
          <a:xfrm>
            <a:off x="4322369" y="5983834"/>
            <a:ext cx="237744" cy="237744"/>
          </a:xfrm>
          <a:prstGeom prst="roundRect">
            <a:avLst>
              <a:gd name="adj" fmla="val 15385"/>
            </a:avLst>
          </a:prstGeom>
          <a:solidFill>
            <a:srgbClr val="16A085"/>
          </a:solidFill>
          <a:ln w="9525">
            <a:solidFill>
              <a:srgbClr val="FFFFFF"/>
            </a:solidFill>
            <a:prstDash val="solid"/>
          </a:ln>
        </p:spPr>
      </p:sp>
      <p:sp>
        <p:nvSpPr>
          <p:cNvPr id="20" name="Text 17"/>
          <p:cNvSpPr txBox="1"/>
          <p:nvPr/>
        </p:nvSpPr>
        <p:spPr>
          <a:xfrm>
            <a:off x="4322369" y="598383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1" name="Shape 18"/>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22" name="Text 19"/>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23" name="Text 20"/>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Pick one area, or all of die cast</a:t>
            </a:r>
            <a:endParaRPr lang="en-US" sz="1500" dirty="0"/>
          </a:p>
        </p:txBody>
      </p:sp>
      <p:sp>
        <p:nvSpPr>
          <p:cNvPr id="24" name="Shape 21"/>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25" name="Text 22"/>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26" name="Text 23"/>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This shift, the last shift, and the change</a:t>
            </a:r>
            <a:endParaRPr lang="en-US" sz="1500" dirty="0"/>
          </a:p>
        </p:txBody>
      </p:sp>
      <p:sp>
        <p:nvSpPr>
          <p:cNvPr id="27" name="Shape 24"/>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28" name="Text 25"/>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9" name="Text 26"/>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Each press and part this shift</a:t>
            </a:r>
            <a:endParaRPr lang="en-US" sz="1500" dirty="0"/>
          </a:p>
        </p:txBody>
      </p:sp>
      <p:sp>
        <p:nvSpPr>
          <p:cNvPr id="30" name="Shape 27"/>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1" name="Text 28"/>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32" name="Text 29"/>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Each press and part last shift</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Every shift</a:t>
            </a:r>
            <a:endParaRPr lang="en-US" sz="3200" dirty="0"/>
          </a:p>
        </p:txBody>
      </p:sp>
      <p:sp>
        <p:nvSpPr>
          <p:cNvPr id="4" name="Shape 2"/>
          <p:cNvSpPr/>
          <p:nvPr/>
        </p:nvSpPr>
        <p:spPr>
          <a:xfrm>
            <a:off x="411480" y="1234440"/>
            <a:ext cx="3596640" cy="5212080"/>
          </a:xfrm>
          <a:prstGeom prst="roundRect">
            <a:avLst>
              <a:gd name="adj" fmla="val 2034"/>
            </a:avLst>
          </a:prstGeom>
          <a:solidFill>
            <a:srgbClr val="EEF2F7"/>
          </a:solidFill>
          <a:ln w="12700">
            <a:solidFill>
              <a:srgbClr val="EEF2F7"/>
            </a:solidFill>
            <a:prstDash val="solid"/>
          </a:ln>
        </p:spPr>
      </p:sp>
      <p:sp>
        <p:nvSpPr>
          <p:cNvPr id="5" name="Text 3"/>
          <p:cNvSpPr txBox="1"/>
          <p:nvPr/>
        </p:nvSpPr>
        <p:spPr>
          <a:xfrm>
            <a:off x="64008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Start of shift</a:t>
            </a:r>
            <a:endParaRPr lang="en-US" sz="2000" dirty="0"/>
          </a:p>
        </p:txBody>
      </p:sp>
      <p:sp>
        <p:nvSpPr>
          <p:cNvPr id="6" name="Text 4"/>
          <p:cNvSpPr txBox="1"/>
          <p:nvPr/>
        </p:nvSpPr>
        <p:spPr>
          <a:xfrm>
            <a:off x="64008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each press shows the right die.</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the presses that are running have baskets open.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Fix a wrong die with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Die Mount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4282440" y="1234440"/>
            <a:ext cx="3596640" cy="5212080"/>
          </a:xfrm>
          <a:prstGeom prst="roundRect">
            <a:avLst>
              <a:gd name="adj" fmla="val 2034"/>
            </a:avLst>
          </a:prstGeom>
          <a:solidFill>
            <a:srgbClr val="EEF2F7"/>
          </a:solidFill>
          <a:ln w="12700">
            <a:solidFill>
              <a:srgbClr val="EEF2F7"/>
            </a:solidFill>
            <a:prstDash val="solid"/>
          </a:ln>
        </p:spPr>
      </p:sp>
      <p:sp>
        <p:nvSpPr>
          <p:cNvPr id="8" name="Text 6"/>
          <p:cNvSpPr txBox="1"/>
          <p:nvPr/>
        </p:nvSpPr>
        <p:spPr>
          <a:xfrm>
            <a:off x="451104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During the shift</a:t>
            </a:r>
            <a:endParaRPr lang="en-US" sz="2000" dirty="0"/>
          </a:p>
        </p:txBody>
      </p:sp>
      <p:sp>
        <p:nvSpPr>
          <p:cNvPr id="9" name="Text 7"/>
          <p:cNvSpPr txBox="1"/>
          <p:nvPr/>
        </p:nvSpPr>
        <p:spPr>
          <a:xfrm>
            <a:off x="451104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Watch the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Die Cast Production</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 screen.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Help with any amber number nobody can explain.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downtime has a reason on it.</a:t>
            </a:r>
            <a:endParaRPr lang="en-US" sz="1800" dirty="0"/>
          </a:p>
        </p:txBody>
      </p:sp>
      <p:sp>
        <p:nvSpPr>
          <p:cNvPr id="10" name="Shape 8"/>
          <p:cNvSpPr/>
          <p:nvPr/>
        </p:nvSpPr>
        <p:spPr>
          <a:xfrm>
            <a:off x="8153400" y="1234440"/>
            <a:ext cx="3596640" cy="5212080"/>
          </a:xfrm>
          <a:prstGeom prst="roundRect">
            <a:avLst>
              <a:gd name="adj" fmla="val 2034"/>
            </a:avLst>
          </a:prstGeom>
          <a:solidFill>
            <a:srgbClr val="EEF2F7"/>
          </a:solidFill>
          <a:ln w="12700">
            <a:solidFill>
              <a:srgbClr val="EEF2F7"/>
            </a:solidFill>
            <a:prstDash val="solid"/>
          </a:ln>
        </p:spPr>
      </p:sp>
      <p:sp>
        <p:nvSpPr>
          <p:cNvPr id="11" name="Text 9"/>
          <p:cNvSpPr txBox="1"/>
          <p:nvPr/>
        </p:nvSpPr>
        <p:spPr>
          <a:xfrm>
            <a:off x="838200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End of shift</a:t>
            </a:r>
            <a:endParaRPr lang="en-US" sz="2000" dirty="0"/>
          </a:p>
        </p:txBody>
      </p:sp>
      <p:sp>
        <p:nvSpPr>
          <p:cNvPr id="12" name="Text 10"/>
          <p:cNvSpPr txBox="1"/>
          <p:nvPr/>
        </p:nvSpPr>
        <p:spPr>
          <a:xfrm>
            <a:off x="838200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every press sent its shift entry.</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Compare this shift with the last one.</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Pass on anything odd to the next team lead.</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Die Cast Terminal Training</dc:title>
  <dc:subject>PptxGenJS Presentation</dc:subject>
  <dc:creator>Blue Ridge Automation</dc:creator>
  <cp:lastModifiedBy>Blue Ridge Automation</cp:lastModifiedBy>
  <cp:revision>1</cp:revision>
  <dcterms:created xsi:type="dcterms:W3CDTF">2026-09-23T17:23:57Z</dcterms:created>
  <dcterms:modified xsi:type="dcterms:W3CDTF">2026-09-23T17:23:57Z</dcterms:modified>
</cp:coreProperties>
</file>