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9" r:id="rId5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223D4-CAC1-4C0A-BAF1-7DEF832E52B0}" v="4" dt="2026-04-07T17:31:30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34" y="10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Brown" userId="443ead84-121f-4f18-b5b8-c6ddf40c16ba" providerId="ADAL" clId="{372D5878-706C-410C-9C98-21558CAFA80C}"/>
    <pc:docChg chg="undo redo custSel addSld delSld modSld sldOrd addMainMaster delMainMaster modMainMaster">
      <pc:chgData name="Jacob Brown" userId="443ead84-121f-4f18-b5b8-c6ddf40c16ba" providerId="ADAL" clId="{372D5878-706C-410C-9C98-21558CAFA80C}" dt="2026-04-07T17:31:49.326" v="9724" actId="18131"/>
      <pc:docMkLst>
        <pc:docMk/>
      </pc:docMkLst>
      <pc:sldChg chg="addSp delSp modSp new mod chgLayout">
        <pc:chgData name="Jacob Brown" userId="443ead84-121f-4f18-b5b8-c6ddf40c16ba" providerId="ADAL" clId="{372D5878-706C-410C-9C98-21558CAFA80C}" dt="2026-04-07T17:31:49.326" v="9724" actId="18131"/>
        <pc:sldMkLst>
          <pc:docMk/>
          <pc:sldMk cId="1762320690" sldId="263"/>
        </pc:sldMkLst>
        <pc:graphicFrameChg chg="add mod ord modGraphic">
          <ac:chgData name="Jacob Brown" userId="443ead84-121f-4f18-b5b8-c6ddf40c16ba" providerId="ADAL" clId="{372D5878-706C-410C-9C98-21558CAFA80C}" dt="2026-04-07T17:30:44.319" v="9716" actId="20577"/>
          <ac:graphicFrameMkLst>
            <pc:docMk/>
            <pc:sldMk cId="1762320690" sldId="263"/>
            <ac:graphicFrameMk id="9" creationId="{74F314EC-313F-45E5-1583-AA803D122AA9}"/>
          </ac:graphicFrameMkLst>
        </pc:graphicFrameChg>
        <pc:picChg chg="mod modCrop">
          <ac:chgData name="Jacob Brown" userId="443ead84-121f-4f18-b5b8-c6ddf40c16ba" providerId="ADAL" clId="{372D5878-706C-410C-9C98-21558CAFA80C}" dt="2026-04-07T17:31:49.326" v="9724" actId="18131"/>
          <ac:picMkLst>
            <pc:docMk/>
            <pc:sldMk cId="1762320690" sldId="263"/>
            <ac:picMk id="13" creationId="{0C79F5A8-40A5-B710-1460-8D24E5106AC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This is a working Manufacturing Execution System for an aluminum die-casting operation supporting automotive. Everything shown is live from the running system. Three themes: complete track &amp; trace, on-demand reporting, and a data-integrity foundation for regulated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&amp; Trace section. The core promise: every part carries its full lineage from raw casting through machining, assembly, and shipment.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single finished-good LOT. One screen shows its whole life: every movement, status change, the components it consumed, its as-built BOM version, and its quality record. No paper, no spreadsheets.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works both directions: from a finished good down to the exact castings and components consumed, and from any raw lot forward to everything it became. This is what a full recall or containment investigation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Operators or quality find any lot instantly by lot number, vendor lot, or part number, and immediately see where every unit is on the floor and its current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section. Every report is on-demand from the floor and exports to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inventory: a live plant-wide WIP snapshot by item and location. Total pieces, open lots, and exactly where everything sits, as of this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Operational reports. Left: tooling life, shots per die against its limit with near/over-limit flags. Right: weekly production, scrap, and downtime by line for trend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Configuration section. The whole system is configured by engineers through the UI. No code, no vendor change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plant hierarchy in ISA-95 tiers, define every part with its routes, BOMs, and container rules, and version every operation template. This is why the system adapts to a new part or line without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section. This matters most for regulated manufacturing. The point is not a certificate; it is that the data model is architected to support these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capability maps to a real requirement. Append-only audit trail with before/after values and attribution supports 21 CFR Part 11 and ALCOA+. AD-backed per-action elevation, recorded on grant and deny, is the electronic-signature-style control. No hard deletes, full genealogy, spec-driven quality, and Draft-Published-Deprecated version control round it out. On the right is the live audit log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To recap: complete genealogy, live floor visibility, instant reporting, full configurability, and a compliance-ready record foundation. Happy to go deeper on any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logo with blue and yellow text&#10;&#10;AI-generated content may be incorrect.">
            <a:extLst>
              <a:ext uri="{FF2B5EF4-FFF2-40B4-BE49-F238E27FC236}">
                <a16:creationId xmlns:a16="http://schemas.microsoft.com/office/drawing/2014/main" id="{141805F3-CAC9-4DF8-596B-A6C35212FE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292" y="740292"/>
            <a:ext cx="5608697" cy="25146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FC2FA80-E520-509E-172B-EC988D9C3E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0" y="3931920"/>
            <a:ext cx="6858000" cy="6400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Project Name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2F2EC41-80CC-AFB3-A7BA-AD538B70CA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67000" y="4574788"/>
            <a:ext cx="6858000" cy="6400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Project Number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7A178DA-9AD5-67DD-147B-2E7A0E5CB6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0" y="5212080"/>
            <a:ext cx="6858000" cy="6400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/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18725-3F6A-AAA4-0617-15B3A58D9AFC}"/>
              </a:ext>
            </a:extLst>
          </p:cNvPr>
          <p:cNvSpPr txBox="1"/>
          <p:nvPr userDrawn="1"/>
        </p:nvSpPr>
        <p:spPr>
          <a:xfrm>
            <a:off x="2667000" y="5852160"/>
            <a:ext cx="6858000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FA8A4D-0880-3734-A5B2-613725D3CA9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9437" y="740292"/>
            <a:ext cx="5605272" cy="2514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Customer Logo – Bad logos are embarrassing, use high quality image</a:t>
            </a:r>
          </a:p>
        </p:txBody>
      </p:sp>
    </p:spTree>
    <p:extLst>
      <p:ext uri="{BB962C8B-B14F-4D97-AF65-F5344CB8AC3E}">
        <p14:creationId xmlns:p14="http://schemas.microsoft.com/office/powerpoint/2010/main" val="152062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D38FE-51C9-F9D9-81FB-383853B2C9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085832" y="274638"/>
            <a:ext cx="1828800" cy="914081"/>
          </a:xfrm>
          <a:prstGeom prst="rect">
            <a:avLst/>
          </a:prstGeom>
        </p:spPr>
        <p:txBody>
          <a:bodyPr vert="ver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200">
                <a:solidFill>
                  <a:schemeClr val="accent1"/>
                </a:solidFill>
              </a:defRPr>
            </a:lvl2pPr>
            <a:lvl3pPr marL="914400" indent="0">
              <a:buNone/>
              <a:defRPr sz="1200">
                <a:solidFill>
                  <a:schemeClr val="accent1"/>
                </a:solidFill>
              </a:defRPr>
            </a:lvl3pPr>
            <a:lvl4pPr marL="1371600" indent="0">
              <a:buNone/>
              <a:defRPr sz="1200">
                <a:solidFill>
                  <a:schemeClr val="accent1"/>
                </a:solidFill>
              </a:defRPr>
            </a:lvl4pPr>
            <a:lvl5pPr marL="1828800" indent="0">
              <a:buNone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Customer Logo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FB0A0-30F6-2BD6-6908-6E69B7631050}"/>
              </a:ext>
            </a:extLst>
          </p:cNvPr>
          <p:cNvSpPr txBox="1"/>
          <p:nvPr userDrawn="1"/>
        </p:nvSpPr>
        <p:spPr>
          <a:xfrm>
            <a:off x="4840138" y="457200"/>
            <a:ext cx="2511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50BFD-4BE2-14DC-3E3F-7A9B6A3C44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168" y="1336047"/>
            <a:ext cx="11027664" cy="46634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[Introductions], [Tour], [Introduction to Blue Ridge Automation], [Team Members – Roles &amp; Responsibilities], [Subcontractor information], [Scope of Work], [Plan and Execution], [Schedule], [Risks / Concerns], [Final Discussions]</a:t>
            </a:r>
          </a:p>
        </p:txBody>
      </p:sp>
    </p:spTree>
    <p:extLst>
      <p:ext uri="{BB962C8B-B14F-4D97-AF65-F5344CB8AC3E}">
        <p14:creationId xmlns:p14="http://schemas.microsoft.com/office/powerpoint/2010/main" val="378373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91E2-6817-F437-6815-F7CFCED2B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017" y="171169"/>
            <a:ext cx="11868727" cy="697050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[Team Member] – [Business Unit]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926885-94C6-C9A0-5E10-DF7439F94F4C}"/>
              </a:ext>
            </a:extLst>
          </p:cNvPr>
          <p:cNvSpPr/>
          <p:nvPr userDrawn="1"/>
        </p:nvSpPr>
        <p:spPr>
          <a:xfrm>
            <a:off x="138544" y="839923"/>
            <a:ext cx="1191463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FE568-DE6E-2C4C-C7C0-B40324A332BF}"/>
              </a:ext>
            </a:extLst>
          </p:cNvPr>
          <p:cNvSpPr txBox="1"/>
          <p:nvPr userDrawn="1"/>
        </p:nvSpPr>
        <p:spPr>
          <a:xfrm>
            <a:off x="2071907" y="1630226"/>
            <a:ext cx="2201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accent1"/>
                </a:solidFill>
                <a:effectLst/>
              </a:rPr>
              <a:t>SKILLSETS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282BC6-727E-FF56-7B08-E43C79C9F4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6690" y="2248545"/>
            <a:ext cx="4572000" cy="410337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Example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3BA748B-822A-9E81-8038-282B60C871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89760" y="1793289"/>
            <a:ext cx="4572000" cy="455863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CBC3C-B549-1885-0407-EB55060C2DE8}"/>
              </a:ext>
            </a:extLst>
          </p:cNvPr>
          <p:cNvSpPr txBox="1"/>
          <p:nvPr userDrawn="1"/>
        </p:nvSpPr>
        <p:spPr>
          <a:xfrm>
            <a:off x="3257124" y="999684"/>
            <a:ext cx="2201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accent1"/>
                </a:solidFill>
                <a:effectLst/>
              </a:rPr>
              <a:t>Project Role: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8B457B-6F0B-0325-06B8-4B50E18982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9760" y="1044400"/>
            <a:ext cx="4572000" cy="4270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Role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06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9DCD-3D9F-28B7-D5B3-F84E8F31E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1C880-7E0E-59E3-B269-67795CC5A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59512-FF9F-744F-EA31-A8945394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D9D85-7FE4-1934-B324-86B0CECC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92BF-2BCF-A5F7-156F-7AAE6E288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6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4391-0591-9706-2285-4FB1C753A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2996" y="365124"/>
            <a:ext cx="7666008" cy="704088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[TITLE]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152-0249-7983-D12B-A53F99115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090"/>
            <a:ext cx="10515600" cy="48882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17FA4-123B-CD05-A134-83FD0AA49B3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085832" y="274638"/>
            <a:ext cx="1828800" cy="914081"/>
          </a:xfrm>
          <a:prstGeom prst="rect">
            <a:avLst/>
          </a:prstGeom>
        </p:spPr>
        <p:txBody>
          <a:bodyPr vert="ver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200">
                <a:solidFill>
                  <a:schemeClr val="accent1"/>
                </a:solidFill>
              </a:defRPr>
            </a:lvl2pPr>
            <a:lvl3pPr marL="914400" indent="0">
              <a:buNone/>
              <a:defRPr sz="1200">
                <a:solidFill>
                  <a:schemeClr val="accent1"/>
                </a:solidFill>
              </a:defRPr>
            </a:lvl3pPr>
            <a:lvl4pPr marL="1371600" indent="0">
              <a:buNone/>
              <a:defRPr sz="1200">
                <a:solidFill>
                  <a:schemeClr val="accent1"/>
                </a:solidFill>
              </a:defRPr>
            </a:lvl4pPr>
            <a:lvl5pPr marL="1828800" indent="0">
              <a:buNone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Customer Logo</a:t>
            </a:r>
          </a:p>
        </p:txBody>
      </p:sp>
    </p:spTree>
    <p:extLst>
      <p:ext uri="{BB962C8B-B14F-4D97-AF65-F5344CB8AC3E}">
        <p14:creationId xmlns:p14="http://schemas.microsoft.com/office/powerpoint/2010/main" val="351333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8E7C-ACB3-2E24-A558-7A5B77F4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1F8B9-3729-00F3-C593-3C0C6BE91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CCF0-57F4-67AF-1EA4-C4145B70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E3425-D18B-D877-F977-A28860F6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587-4717-903B-CF5B-7043C652D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8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4770-4A6E-43EB-95D6-AD7DC557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F31B5-89B6-4DEA-1379-A232CAB68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D9695-2660-3288-F95E-23EE8D43B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B8737-3487-B215-2C96-370600AC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9FA85-8C73-4388-7728-D56ABC05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0499F-9C0A-CE4D-39A8-DB251E78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6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F5FE-D9F1-583B-1FEE-92A54CE5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E71C3-4F04-B260-EB43-41DBB3EBE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A9C52-AF97-02AE-2245-820B10A52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7305C6-5902-1500-04A2-829A6E4F2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4307E-441B-C0AA-4E18-D3C06693D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218F4A-C524-F446-EDAF-1D38CBDA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5A20A5-E52B-7A3E-A42E-3F7962BA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8668AA-2C54-1EC9-4BF5-DE17018D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82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2B0E-0DE4-9188-D825-2FBA9EDE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78773-8158-A85C-9C85-3E534C5B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993AD-3AC1-D0DB-160E-374643C0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EB243-F8F3-B65B-21E1-6F3ABC2A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8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60A77-9DC8-DEF2-73CD-8819A89C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AACAC-A3D6-977A-04D9-28FBECB9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5E30D-2415-0D7E-C6AB-C4F2B43A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0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43FB-8E28-FDFE-A726-9E36F119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4BB8B-A1CC-941F-5AD8-524EE345B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5EE86-A77B-10DB-B564-2553A325F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EEB9A-80E7-DC8B-9A8A-9C7EB9D3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1C037-3724-B065-7D40-F9E4EDDF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DE876-25F6-8C7C-C41B-E8A937F6D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57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9A21-4D72-728D-F247-9E44B6D8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2652E-1DB6-1D58-92D4-282E42F66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91FC7-E4B4-0B11-4480-B9F739277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74E9A-3776-617A-C086-7486A2FF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72283-B95E-0E1F-2881-61EB7E2E9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62B2E-AD56-ABF5-AABB-E0EF8743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3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A78C-B11E-924B-E8BC-7BC28F7B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DD1FE-DDF1-38A0-B409-02BC534F4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8A99C-A07C-E5D6-8990-EAD8A7CE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6D908-D49C-CFA2-4EC3-420E9980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62DF-E279-F245-A7A5-B698579D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18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3BFB9-ECE7-3A30-B0C4-4956221E8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F0032-32FA-52D4-278B-190EF0193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9268F-8626-6AA9-1908-DC3B9FC4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2019FF-C70E-46BF-A1EF-93858C0270B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6E4D6-2BA4-3624-60BB-F3DF0A0E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51141-AC6E-7FB9-F109-F274DFBE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5613192-2424-4726-8EE1-485BA3972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629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D597F1-B730-A7A4-1A2B-B1D775242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38684" y="137160"/>
            <a:ext cx="11914632" cy="6583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and orange dotted mountain peak&#10;&#10;AI-generated content may be incorrect.">
            <a:extLst>
              <a:ext uri="{FF2B5EF4-FFF2-40B4-BE49-F238E27FC236}">
                <a16:creationId xmlns:a16="http://schemas.microsoft.com/office/drawing/2014/main" id="{B3E36962-1560-005A-4F43-AFB2A22363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753" y="5256855"/>
            <a:ext cx="1629468" cy="147218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C79447-674C-2A73-926A-6D09995101E7}"/>
              </a:ext>
            </a:extLst>
          </p:cNvPr>
          <p:cNvCxnSpPr>
            <a:cxnSpLocks/>
          </p:cNvCxnSpPr>
          <p:nvPr userDrawn="1"/>
        </p:nvCxnSpPr>
        <p:spPr>
          <a:xfrm>
            <a:off x="12035126" y="129237"/>
            <a:ext cx="0" cy="590702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1508DA-C4F0-443D-714C-A3B673FA2711}"/>
              </a:ext>
            </a:extLst>
          </p:cNvPr>
          <p:cNvCxnSpPr>
            <a:cxnSpLocks/>
          </p:cNvCxnSpPr>
          <p:nvPr userDrawn="1"/>
        </p:nvCxnSpPr>
        <p:spPr>
          <a:xfrm>
            <a:off x="142440" y="137160"/>
            <a:ext cx="0" cy="65836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791695-AD7E-E243-BC79-3F86FE9F46C4}"/>
              </a:ext>
            </a:extLst>
          </p:cNvPr>
          <p:cNvCxnSpPr>
            <a:cxnSpLocks/>
          </p:cNvCxnSpPr>
          <p:nvPr userDrawn="1"/>
        </p:nvCxnSpPr>
        <p:spPr>
          <a:xfrm>
            <a:off x="139290" y="140922"/>
            <a:ext cx="1190548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346714-161B-F63A-160C-8EA2EE829F86}"/>
              </a:ext>
            </a:extLst>
          </p:cNvPr>
          <p:cNvCxnSpPr>
            <a:cxnSpLocks/>
          </p:cNvCxnSpPr>
          <p:nvPr userDrawn="1"/>
        </p:nvCxnSpPr>
        <p:spPr>
          <a:xfrm>
            <a:off x="146304" y="6707222"/>
            <a:ext cx="10442448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5114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4D89A8-5945-A36E-A8AA-23D07269D5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248772-C222-9CDF-C401-B55291F92C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480177-7344-EA1A-9261-B357186EDA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CE45547-DAB8-5D8A-93BC-AF619032F20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105430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E2761"/>
                </a:solidFill>
                <a:latin typeface="Cambria"/>
              </a:rPr>
              <a:t>Track &amp; Trace + Genealogy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5A6472"/>
                </a:solidFill>
                <a:latin typeface="Calibri"/>
              </a:rPr>
              <a:t>Manufacturing Execution System  —  Capability Showcase</a:t>
            </a:r>
          </a:p>
        </p:txBody>
      </p:sp>
    </p:spTree>
    <p:extLst>
      <p:ext uri="{BB962C8B-B14F-4D97-AF65-F5344CB8AC3E}">
        <p14:creationId xmlns:p14="http://schemas.microsoft.com/office/powerpoint/2010/main" val="352996425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2761"/>
                </a:solidFill>
                <a:latin typeface="Cambria"/>
              </a:rPr>
              <a:t>Track &amp; Trace + Genealogy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5A6472"/>
                </a:solidFill>
                <a:latin typeface="Calibri"/>
              </a:rPr>
              <a:t>Complete part lineage — every LOT, from raw casting to shipment.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Full LOT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60704"/>
            <a:ext cx="11027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Calibri"/>
              </a:rPr>
              <a:t>Every LOT carries its complete production history, genealogy, as-built BOM, and quality record — one screen.</a:t>
            </a:r>
          </a:p>
        </p:txBody>
      </p:sp>
      <p:pic>
        <p:nvPicPr>
          <p:cNvPr id="4" name="Picture 3" descr="C01_lo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1600200"/>
            <a:ext cx="7900416" cy="4937760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Genealogy — forward &amp; backward lineage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60704"/>
            <a:ext cx="11027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Calibri"/>
              </a:rPr>
              <a:t>Trace any finished good to the exact castings and components it consumed, and any lot forward to what it became.</a:t>
            </a:r>
          </a:p>
        </p:txBody>
      </p:sp>
      <p:pic>
        <p:nvPicPr>
          <p:cNvPr id="4" name="Picture 3" descr="C02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1600200"/>
            <a:ext cx="7900416" cy="4937760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Find any part — live location &amp;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60704"/>
            <a:ext cx="11027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Calibri"/>
              </a:rPr>
              <a:t>Search any LOT, vendor lot, or part number and see where every unit sits on the floor and its current state.</a:t>
            </a:r>
          </a:p>
        </p:txBody>
      </p:sp>
      <p:pic>
        <p:nvPicPr>
          <p:cNvPr id="4" name="Picture 3" descr="C03_lot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1600200"/>
            <a:ext cx="7900416" cy="4937760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2761"/>
                </a:solidFill>
                <a:latin typeface="Cambria"/>
              </a:rPr>
              <a:t>Reporting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5A6472"/>
                </a:solidFill>
                <a:latin typeface="Calibri"/>
              </a:rPr>
              <a:t>On-demand operational and traceability reporting, straight from the floor.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Plant-wide inventory, on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60704"/>
            <a:ext cx="11027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Calibri"/>
              </a:rPr>
              <a:t>A live WIP snapshot by item and location — total pieces, open LOTs, and where everything is, as of this minute.</a:t>
            </a:r>
          </a:p>
        </p:txBody>
      </p:sp>
      <p:pic>
        <p:nvPicPr>
          <p:cNvPr id="4" name="Picture 3" descr="C07_report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1600200"/>
            <a:ext cx="7900416" cy="4937760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Operational reporting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60704"/>
            <a:ext cx="11027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Calibri"/>
              </a:rPr>
              <a:t>Tooling life and line performance — shots per die vs. limit, and weekly output, scrap, and downtime by line.</a:t>
            </a:r>
          </a:p>
        </p:txBody>
      </p:sp>
      <p:pic>
        <p:nvPicPr>
          <p:cNvPr id="4" name="Picture 3" descr="C08_report_shot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58853"/>
            <a:ext cx="5500116" cy="3437572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6153911"/>
            <a:ext cx="55001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6472"/>
                </a:solidFill>
                <a:latin typeface="Calibri"/>
              </a:rPr>
              <a:t>Die Cast Shot Count — die life vs. limit</a:t>
            </a:r>
          </a:p>
        </p:txBody>
      </p:sp>
      <p:pic>
        <p:nvPicPr>
          <p:cNvPr id="6" name="Picture 5" descr="C09_report_line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2258853"/>
            <a:ext cx="5500116" cy="3437572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31636" y="6153911"/>
            <a:ext cx="55001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6472"/>
                </a:solidFill>
                <a:latin typeface="Calibri"/>
              </a:rPr>
              <a:t>Production Line Performance — weekly by 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2761"/>
                </a:solidFill>
                <a:latin typeface="Cambria"/>
              </a:rPr>
              <a:t>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5A6472"/>
                </a:solidFill>
                <a:latin typeface="Calibri"/>
              </a:rPr>
              <a:t>The entire system is operator-configurable — no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Configure the plant, parts, and processes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60704"/>
            <a:ext cx="11027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Calibri"/>
              </a:rPr>
              <a:t>Model the plant hierarchy, define parts with routes / BOMs / container rules, and version every operation template.</a:t>
            </a:r>
          </a:p>
        </p:txBody>
      </p:sp>
      <p:pic>
        <p:nvPicPr>
          <p:cNvPr id="4" name="Picture 3" descr="C10_config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31757"/>
            <a:ext cx="3575304" cy="2234565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5285232"/>
            <a:ext cx="35753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6472"/>
                </a:solidFill>
                <a:latin typeface="Calibri"/>
              </a:rPr>
              <a:t>Plant hierarchy (ISA-95)</a:t>
            </a:r>
          </a:p>
        </p:txBody>
      </p:sp>
      <p:pic>
        <p:nvPicPr>
          <p:cNvPr id="6" name="Picture 5" descr="C11_config_i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631757"/>
            <a:ext cx="3575304" cy="2234565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06824" y="5285232"/>
            <a:ext cx="35753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6472"/>
                </a:solidFill>
                <a:latin typeface="Calibri"/>
              </a:rPr>
              <a:t>Item master + routes / BOMs</a:t>
            </a:r>
          </a:p>
        </p:txBody>
      </p:sp>
      <p:pic>
        <p:nvPicPr>
          <p:cNvPr id="8" name="Picture 7" descr="C12_config_optempl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631757"/>
            <a:ext cx="3575304" cy="2234565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56448" y="5285232"/>
            <a:ext cx="357530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A6472"/>
                </a:solidFill>
                <a:latin typeface="Calibri"/>
              </a:rPr>
              <a:t>Versioned operation 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2761"/>
                </a:solidFill>
                <a:latin typeface="Cambria"/>
              </a:rPr>
              <a:t>Built on a Data-Integrity Foundation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5A6472"/>
                </a:solidFill>
                <a:latin typeface="Calibri"/>
              </a:rPr>
              <a:t>Architected to support the record-keeping and traceability requirements of regulated manufacturing.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Every change, attributable and traceable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60704"/>
            <a:ext cx="11027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A6472"/>
                </a:solidFill>
                <a:latin typeface="Calibri"/>
              </a:rPr>
              <a:t>A complete, append-only audit trail — who changed what, when, with before / after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Append-only event log + full audit trail (who / what / when, before→after)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2140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29ABE2"/>
                </a:solidFill>
                <a:latin typeface="Calibri"/>
              </a:rPr>
              <a:t>21 CFR Part 11 audit trail · ALCOA+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23744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AD identity + audited per-action elevation (grant and deny recorded)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0779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29ABE2"/>
                </a:solidFill>
                <a:latin typeface="Calibri"/>
              </a:rPr>
              <a:t>Part 11 electronic-signature-style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1012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No hard deletes — soft-delete + UTC-stamped, immutable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9417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29ABE2"/>
                </a:solidFill>
                <a:latin typeface="Calibri"/>
              </a:rPr>
              <a:t>Record protection &amp;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96512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Full lot genealogy + production history + as-built BOM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29ABE2"/>
                </a:solidFill>
                <a:latin typeface="Calibri"/>
              </a:rPr>
              <a:t>Device History Record traceability (ISO 13485 / 820)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82896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Spec-driven quality + hold / nonconformance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6694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29ABE2"/>
                </a:solidFill>
                <a:latin typeface="Calibri"/>
              </a:rPr>
              <a:t>Nonconformance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Draft → Published → Deprecated version control on BOMs, routes, specs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29ABE2"/>
                </a:solidFill>
                <a:latin typeface="Calibri"/>
              </a:rPr>
              <a:t>Controlled specification revision control</a:t>
            </a:r>
          </a:p>
        </p:txBody>
      </p:sp>
      <p:pic>
        <p:nvPicPr>
          <p:cNvPr id="16" name="Picture 15" descr="C13_config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91727"/>
            <a:ext cx="5074920" cy="3171825"/>
          </a:xfrm>
          <a:prstGeom prst="rect">
            <a:avLst/>
          </a:prstGeom>
          <a:ln w="9525">
            <a:solidFill>
              <a:srgbClr val="D9DDE3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537960" y="62636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472"/>
                </a:solidFill>
                <a:latin typeface="Calibri"/>
              </a:rPr>
              <a:t>Live configuration audit log — attribution, change diffs, severity.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43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E2761"/>
                </a:solidFill>
                <a:latin typeface="Cambria"/>
              </a:rPr>
              <a:t>Track &amp; Trace + Genealogy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5A6472"/>
                </a:solidFill>
                <a:latin typeface="Calibri"/>
              </a:rPr>
              <a:t>Transforming Manufacturing Beyond Limits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Ridge Theme">
  <a:themeElements>
    <a:clrScheme name="Blue Ridge Brand Colors">
      <a:dk1>
        <a:sysClr val="windowText" lastClr="000000"/>
      </a:dk1>
      <a:lt1>
        <a:srgbClr val="FFFFFF"/>
      </a:lt1>
      <a:dk2>
        <a:srgbClr val="0E2841"/>
      </a:dk2>
      <a:lt2>
        <a:srgbClr val="E8E8E8"/>
      </a:lt2>
      <a:accent1>
        <a:srgbClr val="33357D"/>
      </a:accent1>
      <a:accent2>
        <a:srgbClr val="33AFE2"/>
      </a:accent2>
      <a:accent3>
        <a:srgbClr val="FCB040"/>
      </a:accent3>
      <a:accent4>
        <a:srgbClr val="00B050"/>
      </a:accent4>
      <a:accent5>
        <a:srgbClr val="FF0000"/>
      </a:accent5>
      <a:accent6>
        <a:srgbClr val="FFFF00"/>
      </a:accent6>
      <a:hlink>
        <a:srgbClr val="33AFE2"/>
      </a:hlink>
      <a:folHlink>
        <a:srgbClr val="33AFE2"/>
      </a:folHlink>
    </a:clrScheme>
    <a:fontScheme name="Blue Ridge Internal Font Styl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2d2776-74e6-4ef5-9e2b-59b13e26f726">
      <Terms xmlns="http://schemas.microsoft.com/office/infopath/2007/PartnerControls"/>
    </lcf76f155ced4ddcb4097134ff3c332f>
    <TaxCatchAll xmlns="e6b52f45-d9d1-481d-9f6d-946f5bfe47a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FA55DFF5FCAD43ADD09C5D91ED2FC5" ma:contentTypeVersion="11" ma:contentTypeDescription="Create a new document." ma:contentTypeScope="" ma:versionID="c5470bb80719273c4b6c9bf583d59197">
  <xsd:schema xmlns:xsd="http://www.w3.org/2001/XMLSchema" xmlns:xs="http://www.w3.org/2001/XMLSchema" xmlns:p="http://schemas.microsoft.com/office/2006/metadata/properties" xmlns:ns2="1b2d2776-74e6-4ef5-9e2b-59b13e26f726" xmlns:ns3="e6b52f45-d9d1-481d-9f6d-946f5bfe47ab" targetNamespace="http://schemas.microsoft.com/office/2006/metadata/properties" ma:root="true" ma:fieldsID="5233b84d460fb2e404c666760fa3d2ff" ns2:_="" ns3:_="">
    <xsd:import namespace="1b2d2776-74e6-4ef5-9e2b-59b13e26f726"/>
    <xsd:import namespace="e6b52f45-d9d1-481d-9f6d-946f5bfe47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2d2776-74e6-4ef5-9e2b-59b13e26f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34b2ff0-9c8c-4373-8def-e7939d9089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52f45-d9d1-481d-9f6d-946f5bfe47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56a08f-47ef-4cc4-bebc-01cbdb962191}" ma:internalName="TaxCatchAll" ma:showField="CatchAllData" ma:web="e6b52f45-d9d1-481d-9f6d-946f5bfe47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DD0AC9-5307-47CF-8D34-9D380AEC1A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8D8534-7910-4C2D-9F77-5D794A052AB2}">
  <ds:schemaRefs>
    <ds:schemaRef ds:uri="e6b52f45-d9d1-481d-9f6d-946f5bfe47ab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1b2d2776-74e6-4ef5-9e2b-59b13e26f726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D522CFC-952C-4FBA-9B87-0A8487FED0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2d2776-74e6-4ef5-9e2b-59b13e26f726"/>
    <ds:schemaRef ds:uri="e6b52f45-d9d1-481d-9f6d-946f5bfe47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f8befe7-f9a2-4aa1-ac7b-1e1f1d34c8b4}" enabled="0" method="" siteId="{bf8befe7-f9a2-4aa1-ac7b-1e1f1d34c8b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Blue Ridge Theme</Template>
  <TotalTime>906</TotalTime>
  <Words>1315</Words>
  <Application>Microsoft Office PowerPoint</Application>
  <PresentationFormat>Widescreen</PresentationFormat>
  <Paragraphs>255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Times New Roman</vt:lpstr>
      <vt:lpstr>Blue Ridge Theme</vt:lpstr>
      <vt:lpstr>PowerPoint Presentation</vt:lpstr>
      <vt:lpstr>PowerPoint Presentation</vt:lpstr>
      <vt:lpstr>About Blue Ridge</vt:lpstr>
      <vt:lpstr>Blue Ridge Values</vt:lpstr>
      <vt:lpstr>Blue Ridge Business Units</vt:lpstr>
      <vt:lpstr>Team Contact Information</vt:lpstr>
      <vt:lpstr>PowerPoint Presentation</vt:lpstr>
      <vt:lpstr>Blue Ridge Team Roles</vt:lpstr>
      <vt:lpstr>Kyzer Bowen – Automation</vt:lpstr>
      <vt:lpstr>Matthew Carter – Factory Business Integration</vt:lpstr>
      <vt:lpstr>Michael Fredericks – Electrical and Automation</vt:lpstr>
      <vt:lpstr>William Gibson – Factory Business Integration</vt:lpstr>
      <vt:lpstr>Chad Hanna – Project Manager</vt:lpstr>
      <vt:lpstr>Daniel Hicks – Automation</vt:lpstr>
      <vt:lpstr>Garrett Janes – Automation</vt:lpstr>
      <vt:lpstr>Hunter Kraft – Factory Business Integration</vt:lpstr>
      <vt:lpstr>Rohit Menon – Automation</vt:lpstr>
      <vt:lpstr>Ronald Pulliam – Factory Business Integration</vt:lpstr>
      <vt:lpstr>Joseph Sand – Automation</vt:lpstr>
      <vt:lpstr>Justin Swalls – Automation</vt:lpstr>
      <vt:lpstr>Mark Thompson – Automation</vt:lpstr>
      <vt:lpstr>Lucas Topliff – Project Manager</vt:lpstr>
      <vt:lpstr>Tanuja Upadhyay – Electrical and Automation</vt:lpstr>
      <vt:lpstr>Jessica Vaughn – Factory Business Integration</vt:lpstr>
      <vt:lpstr>Tanner Wood – Automation</vt:lpstr>
      <vt:lpstr>PowerPoint Presentation</vt:lpstr>
      <vt:lpstr>[Subcontractor / Vendor] Contact Information</vt:lpstr>
      <vt:lpstr>[Subcontractor / Vendor] Team Roles</vt:lpstr>
      <vt:lpstr>Scope of Work</vt:lpstr>
      <vt:lpstr>Quoted Options</vt:lpstr>
      <vt:lpstr>[Job Specific Information Space]</vt:lpstr>
      <vt:lpstr>[Gantt Chart Space]</vt:lpstr>
      <vt:lpstr>Assumptions / Opportunities</vt:lpstr>
      <vt:lpstr>Risks / Issues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Brown</dc:creator>
  <cp:lastModifiedBy>Jacob Brown</cp:lastModifiedBy>
  <cp:revision>4</cp:revision>
  <dcterms:created xsi:type="dcterms:W3CDTF">2025-09-15T16:38:43Z</dcterms:created>
  <dcterms:modified xsi:type="dcterms:W3CDTF">2026-04-07T17:31:57Z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0x010100E8FA55DFF5FCAD43ADD09C5D91ED2FC5</vt:lpwstr>
  </property>
  <property fmtid="{D5CDD505-2E9C-101B-9397-08002B2CF9AE}" pid="3" name="MediaServiceImageTags">
    <vt:lpwstr/>
  </property>
</Properties>
</file>